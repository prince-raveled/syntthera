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8"/>
    <p:sldId id="258" r:id="rId9"/>
    <p:sldId id="259" r:id="rId10"/>
    <p:sldId id="260" r:id="rId11"/>
    <p:sldId id="261" r:id="rId12"/>
    <p:sldId id="262" r:id="rId13"/>
    <p:sldId id="263" r:id="rId14"/>
    <p:sldId id="264" r:id="rId15"/>
    <p:sldId id="265" r:id="rId16"/>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2" d="100"/>
          <a:sy n="72" d="100"/>
        </p:scale>
        <p:origin x="660" y="9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notesMaster" Target="notesMasters/notesMaster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Endurance</c:v>
                </c:pt>
              </c:strCache>
            </c:strRef>
          </c:tx>
          <c:spPr>
            <a:solidFill>
              <a:srgbClr val="C2603F"/>
            </a:solidFill>
          </c:spPr>
          <c:cat>
            <c:strRef>
              <c:f>Sheet1!$A$2:$A$6</c:f>
              <c:strCache>
                <c:ptCount val="5"/>
                <c:pt idx="0">
                  <c:v>Muscle 15 min</c:v>
                </c:pt>
                <c:pt idx="1">
                  <c:v>Muscle 3.5 h</c:v>
                </c:pt>
                <c:pt idx="2">
                  <c:v>Muscle 24 h</c:v>
                </c:pt>
                <c:pt idx="3">
                  <c:v>Blood 30 min</c:v>
                </c:pt>
                <c:pt idx="4">
                  <c:v>Blood 3.5 h</c:v>
                </c:pt>
              </c:strCache>
            </c:strRef>
          </c:cat>
          <c:val>
            <c:numRef>
              <c:f>Sheet1!$B$2:$B$6</c:f>
              <c:numCache>
                <c:formatCode>General</c:formatCode>
                <c:ptCount val="5"/>
                <c:pt idx="0">
                  <c:v>0.739</c:v>
                </c:pt>
                <c:pt idx="1">
                  <c:v>0.575</c:v>
                </c:pt>
                <c:pt idx="2">
                  <c:v>0.538</c:v>
                </c:pt>
                <c:pt idx="3">
                  <c:v>0.667</c:v>
                </c:pt>
                <c:pt idx="4">
                  <c:v>0.587</c:v>
                </c:pt>
              </c:numCache>
            </c:numRef>
          </c:val>
        </c:ser>
        <c:ser>
          <c:idx val="1"/>
          <c:order val="1"/>
          <c:tx>
            <c:strRef>
              <c:f>Sheet1!$C$1</c:f>
              <c:strCache>
                <c:ptCount val="1"/>
                <c:pt idx="0">
                  <c:v>Resistance</c:v>
                </c:pt>
              </c:strCache>
            </c:strRef>
          </c:tx>
          <c:spPr>
            <a:solidFill>
              <a:srgbClr val="2D6485"/>
            </a:solidFill>
          </c:spPr>
          <c:cat>
            <c:strRef>
              <c:f>Sheet1!$A$2:$A$6</c:f>
              <c:strCache>
                <c:ptCount val="5"/>
                <c:pt idx="0">
                  <c:v>Muscle 15 min</c:v>
                </c:pt>
                <c:pt idx="1">
                  <c:v>Muscle 3.5 h</c:v>
                </c:pt>
                <c:pt idx="2">
                  <c:v>Muscle 24 h</c:v>
                </c:pt>
                <c:pt idx="3">
                  <c:v>Blood 30 min</c:v>
                </c:pt>
                <c:pt idx="4">
                  <c:v>Blood 3.5 h</c:v>
                </c:pt>
              </c:strCache>
            </c:strRef>
          </c:cat>
          <c:val>
            <c:numRef>
              <c:f>Sheet1!$C$2:$C$6</c:f>
              <c:numCache>
                <c:formatCode>General</c:formatCode>
                <c:ptCount val="5"/>
                <c:pt idx="0">
                  <c:v>0.587</c:v>
                </c:pt>
                <c:pt idx="1">
                  <c:v>0.77</c:v>
                </c:pt>
                <c:pt idx="2">
                  <c:v>0.482</c:v>
                </c:pt>
                <c:pt idx="3">
                  <c:v>0.667</c:v>
                </c:pt>
                <c:pt idx="4">
                  <c:v>0.613</c:v>
                </c:pt>
              </c:numCache>
            </c:numRef>
          </c:val>
        </c:ser>
        <c:dLbls>
          <c:numFmt formatCode="0%" sourceLinked="0"/>
          <c:txPr>
            <a:bodyPr/>
            <a:lstStyle/>
            <a:p>
              <a:pPr>
                <a:defRPr sz="1000" b="1">
                  <a:solidFill>
                    <a:srgbClr val="1F2A36"/>
                  </a:solidFill>
                </a:defRPr>
              </a:pPr>
            </a:p>
          </c:txPr>
          <c:dLblPos val="outEnd"/>
          <c:showLegendKey val="0"/>
          <c:showVal val="1"/>
          <c:showCatName val="0"/>
          <c:showSerName val="0"/>
          <c:showPercent val="0"/>
          <c:showBubbleSize val="0"/>
          <c:showLeaderLines val="1"/>
        </c:dLbls>
        <c:gapWidth val="55"/>
        <c:overlap val="-8"/>
        <c:axId val="-2068027336"/>
        <c:axId val="-2113994440"/>
      </c:barChart>
      <c:catAx>
        <c:axId val="-2068027336"/>
        <c:scaling>
          <c:orientation val="minMax"/>
        </c:scaling>
        <c:delete val="0"/>
        <c:axPos val="b"/>
        <c:majorTickMark val="out"/>
        <c:minorTickMark val="none"/>
        <c:tickLblPos val="nextTo"/>
        <c:spPr>
          <a:ln>
            <a:solidFill>
              <a:srgbClr val="D8E0E7"/>
            </a:solidFill>
          </a:ln>
        </c:spPr>
        <c:txPr>
          <a:bodyPr/>
          <a:lstStyle/>
          <a:p>
            <a:pPr>
              <a:defRPr sz="1050"/>
            </a:pPr>
          </a:p>
        </c:txPr>
        <c:crossAx val="-2113994440"/>
        <c:crosses val="autoZero"/>
        <c:auto val="1"/>
        <c:lblAlgn val="ctr"/>
        <c:lblOffset val="100"/>
        <c:noMultiLvlLbl val="0"/>
      </c:catAx>
      <c:valAx>
        <c:axId val="-2113994440"/>
        <c:scaling>
          <c:max val="1.0"/>
          <c:min val="0.0"/>
        </c:scaling>
        <c:delete/>
        <c:axPos val="l"/>
        <c:majorGridlines>
          <c:spPr>
            <a:ln>
              <a:solidFill>
                <a:srgbClr val="E6ECF1"/>
              </a:solidFill>
            </a:ln>
          </c:spPr>
        </c:majorGridlines>
        <c:numFmt formatCode="0%" sourceLinked="0"/>
        <c:majorTickMark val="out"/>
        <c:minorTickMark val="none"/>
        <c:tickLblPos val="nextTo"/>
        <c:spPr>
          <a:ln>
            <a:noFill/>
          </a:ln>
        </c:spPr>
        <c:crossAx val="-2068027336"/>
        <c:crosses val="autoZero"/>
      </c:valAx>
    </c:plotArea>
    <c:legend>
      <c:legendPos val="t"/>
      <c:overlay val="0"/>
      <c:txPr>
        <a:bodyPr/>
        <a:lstStyle/>
        <a:p>
          <a:pPr>
            <a:defRPr sz="1100"/>
          </a:pPr>
        </a:p>
      </c:txPr>
    </c:legend>
    <c:dispBlanksAs val="gap"/>
  </c:chart>
  <c:txPr>
    <a:bodyPr/>
    <a:lstStyle/>
    <a:p>
      <a:pPr>
        <a:defRPr sz="1100">
          <a:solidFill>
            <a:srgbClr val="5B6B7A"/>
          </a:solidFill>
          <a:latin typeface="Calibr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Jahnavi (about 30 s)</a:t>
            </a:r>
          </a:p>
          <a:p>
            <a:r>
              <a:t>Good morning. We are Team TEJAS019 from SASTRA. Our project, SynThera, finds approved drugs that switch genes on and off the way a workout does, using real human exercise data and an AI model. The image is the DNA helix from our website, with the genes exercise switches on most labelled.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Jahnavi (about 1 min 15 s)</a:t>
            </a:r>
          </a:p>
          <a:p>
            <a:r>
              <a:t>- Exercise protects against heart disease, diabetes, muscle loss and more.</a:t>
            </a:r>
          </a:p>
          <a:p>
            <a:r>
              <a:t>- WHO: 1.8 billion adults (31%) were not active enough in 2022; in South Asia it is 45%.</a:t>
            </a:r>
          </a:p>
          <a:p>
            <a:r>
              <a:t>- And some people cannot exercise at all: spinal cord injury, advanced heart failure, ICU and post-surgery, cancer cachexia, frail elderly.</a:t>
            </a:r>
          </a:p>
          <a:p>
            <a:r>
              <a:t>- Scientists have looked for drugs that copy exercise for about twenty years. Every published computational screen starts from rat or mouse data and assumes it transfers to people. Nobody tested that, because human data did not exist.</a:t>
            </a:r>
          </a:p>
          <a:p>
            <a:r>
              <a:t>- MoTrPAC has now released human exercise data. Our question: which approved drugs copy a workout in humans?</a:t>
            </a:r>
          </a:p>
          <a:p>
            <a:r>
              <a:t>Source: WHO news release, 26 June 2024.</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Prince (about 1 min 15 s)</a:t>
            </a:r>
          </a:p>
          <a:p>
            <a:r>
              <a:t>Walk left to right.</a:t>
            </a:r>
          </a:p>
          <a:p>
            <a:r>
              <a:t>1. Exercise fingerprints: from 175 adults in MoTrPAC; which genes went up or down after one session of endurance exercise (cycling) or resistance exercise (weights), in muscle, blood and fat, at three time points. 2 exercise types x 3 tissues x 3 times = 18 fingerprints.</a:t>
            </a:r>
          </a:p>
          <a:p>
            <a:r>
              <a:t>2. Drug fingerprints: LINCS L1000 tested compounds on human cells; 720,216 profiles collapsed to one per compound.</a:t>
            </a:r>
          </a:p>
          <a:p>
            <a:r>
              <a:t>3. AI scoring: four methods, one of them the GSFM foundation model, merged so no single method decides.</a:t>
            </a:r>
          </a:p>
          <a:p>
            <a:r>
              <a:t>4. Benefit filter: keep drugs that copy exercise's good adaptations, not its stress.</a:t>
            </a:r>
          </a:p>
          <a:p>
            <a:r>
              <a:t>5. Shortlist: 82 approved drugs for endurance training, 77 for resistance (weight) training.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Prince (about 1 min 15 s)</a:t>
            </a:r>
          </a:p>
          <a:p>
            <a:r>
              <a:t>- Left: the scale. 175 people, 18 fingerprints, 720,216 drug profiles from a 33 GB file, 29,680 compounds, 1,595 of them approved. Scoring every compound against every fingerprint, plus 200 random versions each, is about 430 million scores.</a:t>
            </a:r>
          </a:p>
          <a:p>
            <a:r>
              <a:t>- Right: the six datasets. MoTrPAC human and LINCS are the core; the Repurposing Hub tells us which drugs are approved; Hallmark and Reactome define good versus stress genes; rat data is a control arm; GSFM is the pretrained AI model.</a:t>
            </a:r>
          </a:p>
          <a:p>
            <a:r>
              <a:t>- Python pipeline of 10 scripts, fixed random seed 19, so anyone gets identical results. Scoring takes 29 minutes on a laptop.</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Prince (about 1 min 45 s)</a:t>
            </a:r>
          </a:p>
          <a:p>
            <a:r>
              <a:t>- GSFM, the Gene Set Foundation Model from the Ma'ayan Lab (Patterns, 2026), is a neural network called an autoencoder. It was pretrained, without labels, on a large collection of gene lists mined from published papers. It squeezes any gene list (19,589 possible genes) into 256 numbers. Lists about the same biology land close together even if they share few exact genes. We use it as published; we did not retrain it.</a:t>
            </a:r>
          </a:p>
          <a:p>
            <a:r>
              <a:t>- We embed each drug's 100 most-raised and 100 most-lowered genes and each exercise list, and compare by cosine similarity.</a:t>
            </a:r>
          </a:p>
          <a:p>
            <a:r>
              <a:t>- It is one of four scorers. The other three are classic connectivity-map methods. Each score is made fair by comparing every drug with its own scores against 200 random fingerprints, so drugs that change everything do not win everywhere. Robust Rank Aggregation merges the four rankings and permutations give a false discovery rate.</a:t>
            </a:r>
          </a:p>
          <a:p>
            <a:r>
              <a:t>- When we remove GSFM, the top-50 overlap with the full ranking drops by 38%, the biggest change of any method.</a:t>
            </a:r>
          </a:p>
          <a:p>
            <a:r>
              <a:t>If asked: this is not a trained classifier. There are too few known exercise drugs to train one, so it is an unsupervised similarity ranking, validated with controls.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Apurva (about 1 min 45 s)</a:t>
            </a:r>
          </a:p>
          <a:p>
            <a:r>
              <a:t>Three choices at the heart of SynThera, and each one changes the answer.</a:t>
            </a:r>
          </a:p>
          <a:p>
            <a:r>
              <a:t>1. Human data first, and we measured why it matters: running the identical pipeline on rat training data shares 0 of the top 100 drugs with the human result, ranking correlation -0.20, and 36% of the rat signal is lost converting rat genes to human genes. (Caveat if asked: rat data is weeks of training, human is one session.)</a:t>
            </a:r>
          </a:p>
          <a:p>
            <a:r>
              <a:t>2. Benefit, not stress: a plain 'most similar to exercise' search puts cell-killing cancer drugs on top, 8 of the top 15 for endurance, because damage triggers the same alarm genes as a hard workout. Our benefit index scores 701 adaptive genes against 872 stress genes and removes them.</a:t>
            </a:r>
          </a:p>
          <a:p>
            <a:r>
              <a:t>3. Two exercise types: endurance (cycling) and resistance (weights) screened separately, in three tissues at three times. Resistance training, which preserves muscle, gets its own shortlist.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Apurva (about 1 min 30 s)</a:t>
            </a:r>
          </a:p>
          <a:p>
            <a:r>
              <a:t>- Rule: approved drug, top 5% of all 29,680 compounds for exercise match, not a cell-killing mechanism, tested in at least 3 cell lines; then ranked by benefit index.</a:t>
            </a:r>
          </a:p>
          <a:p>
            <a:r>
              <a:t>- Sitagliptin, a diabetes drug, is number 1 for endurance: overall rank 227 of 29,680, tested in 16 cell lines, benefit +0.78.</a:t>
            </a:r>
          </a:p>
          <a:p>
            <a:r>
              <a:t>- 105 different drugs in total; 54 appear on both lists, such as sitagliptin, phenytoin and sumatriptan.</a:t>
            </a:r>
          </a:p>
          <a:p>
            <a:r>
              <a:t>- Because they are already approved, their safety is known, which makes them faster to test.</a:t>
            </a:r>
          </a:p>
          <a:p>
            <a:r>
              <a:t>- These are leads for laboratory testing, not treatments.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Priyanka (about 1 min 30 s)</a:t>
            </a:r>
          </a:p>
          <a:p>
            <a:r>
              <a:t>We asked four questions where we already know what a good answer looks like.</a:t>
            </a:r>
          </a:p>
          <a:p>
            <a:r>
              <a:t>1. Does it spot the opposite of exercise? Weight training builds muscle through a switch called mTOR, so drugs that block mTOR should look like the opposite of a workout. Nobody told SynThera this, yet it ranked all four mTOR blockers in the top 0.4% of drugs most opposite to weight training (muscle, 24 h; p = 5 x 10^-5). Sirolimus is in the top 0.1%. Passed.</a:t>
            </a:r>
          </a:p>
          <a:p>
            <a:r>
              <a:t>2. Does it hold up when the data is messy? We scrambled 20% of the gene data and reran everything 30 times per fingerprint. The top-50 list still overlaps 48 to 77% with the original (Jaccard overlap: drugs in both lists divided by drugs in either); by chance it would be about 2%. That is the chart. Passed.</a:t>
            </a:r>
          </a:p>
          <a:p>
            <a:r>
              <a:t>3. Do the four methods agree? Mostly, correlations 0.46 to 0.65: the same overall picture, but no method is a copy of another, so the vote adds information. Passed.</a:t>
            </a:r>
          </a:p>
          <a:p>
            <a:r>
              <a:t>4. Does it find the known 'exercise pills'? Partly. Beta-2 agonists, which are asthma drugs, come back for weight training, and GW-501516 reaches the top 9 to 12% in muscle. Metformin and AICAR do not. Most of these were discovered in mice, and the drug data comes from cancer cell lines, so a partial match is expected. We say this openly.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Vishnupriya (about 2 min 30 s, including the live demo)</a:t>
            </a:r>
          </a:p>
          <a:p>
            <a:r>
              <a:t>Switch to the browser (http://localhost:8000, started with: py -m http.server 8000 in D:\Tejas\website).</a:t>
            </a:r>
          </a:p>
          <a:p>
            <a:r>
              <a:t>Demo path (the website buttons say Cycling for endurance and Weights for resistance):</a:t>
            </a:r>
          </a:p>
          <a:p>
            <a:r>
              <a:t>1. Candidates: switch Cycling / Weights; sitagliptin is number 1 for endurance.</a:t>
            </a:r>
          </a:p>
          <a:p>
            <a:r>
              <a:t>2. Explorer: Weights &gt; Muscle &gt; 24 h, Approved only on, sort by 'Most opposite to exercise': sirolimus appears near the top, the mTOR control.</a:t>
            </a:r>
          </a:p>
          <a:p>
            <a:r>
              <a:t>3. Explorer: Cycling &gt; Muscle &gt; 3.5 h: the top is cancer drugs tagged 'cell-stress drug', the stress trap our benefit index removes.</a:t>
            </a:r>
          </a:p>
          <a:p>
            <a:r>
              <a:t>4. Press / and search any drug the jury names.</a:t>
            </a:r>
          </a:p>
          <a:p>
            <a:r>
              <a:t>Backup if the laptop fails: the pitch video video/out/TEJAS019.mp4 and the screenshots on this slide.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Vishnupriya (about 1 min 15 s)</a:t>
            </a:r>
          </a:p>
          <a:p>
            <a:r>
              <a:t>- Impact: patients who cannot exercise get candidates that are already approved, with known safety records, so lab and clinical testing can start sooner. Researchers get an open atlas of 29,680 compounds under FAIR principles, and anyone can explore it on the website.</a:t>
            </a:r>
          </a:p>
          <a:p>
            <a:r>
              <a:t>- Scalability: the engine accepts any human gene signature, so new tissues, diseases or the MoTrPAC long-term training data plug straight in. Each fingerprint scores independently, so it parallelises; today it is 29 minutes on a laptop. The website is static and can be hosted anywhere for free.</a:t>
            </a:r>
          </a:p>
          <a:p>
            <a:r>
              <a:t>- Next: test the top candidates in human muscle cells, add protein and metabolite data, and partner with clinicians.</a:t>
            </a:r>
          </a:p>
          <a:p>
            <a:r>
              <a:t>- SDG 9, Industry, Innovation and Infrastructure: an open, reproducible AI pipeline and data atlas that others can build on.</a:t>
            </a:r>
          </a:p>
          <a:p>
            <a:r>
              <a:t>- Limits, said plainly: one exercise session, cancer cell lines, predictions to test.</a:t>
            </a:r>
          </a:p>
          <a:p>
            <a:r>
              <a:t>Close: Thank you. We are happy to take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2CAF50B2-7E84-95AF-4F95-FE330E55169A}"/>
              </a:ext>
            </a:extLst>
          </p:cNvPr>
          <p:cNvSpPr>
            <a:spLocks noGrp="1"/>
          </p:cNvSpPr>
          <p:nvPr>
            <p:ph type="dt" sz="half" idx="10"/>
          </p:nvPr>
        </p:nvSpPr>
        <p:spPr/>
        <p:txBody>
          <a:bodyPr/>
          <a:lstStyle>
            <a:lvl1pPr>
              <a:defRPr/>
            </a:lvl1pPr>
          </a:lstStyle>
          <a:p>
            <a:pPr>
              <a:defRPr/>
            </a:pPr>
            <a:fld id="{13E49627-C67B-438E-986B-33BF0D960DA8}" type="datetimeFigureOut">
              <a:rPr lang="en-IN"/>
              <a:pPr>
                <a:defRPr/>
              </a:pPr>
              <a:t>21-10-2026</a:t>
            </a:fld>
            <a:endParaRPr lang="en-IN"/>
          </a:p>
        </p:txBody>
      </p:sp>
      <p:sp>
        <p:nvSpPr>
          <p:cNvPr id="5" name="Footer Placeholder 4">
            <a:extLst>
              <a:ext uri="{FF2B5EF4-FFF2-40B4-BE49-F238E27FC236}">
                <a16:creationId xmlns:a16="http://schemas.microsoft.com/office/drawing/2014/main" id="{8D4160F0-1588-6139-48B2-336D17B2D1DD}"/>
              </a:ext>
            </a:extLst>
          </p:cNvPr>
          <p:cNvSpPr>
            <a:spLocks noGrp="1"/>
          </p:cNvSpPr>
          <p:nvPr>
            <p:ph type="ftr" sz="quarter" idx="11"/>
          </p:nvPr>
        </p:nvSpPr>
        <p:spPr/>
        <p:txBody>
          <a:bodyPr/>
          <a:lstStyle>
            <a:lvl1pPr>
              <a:defRPr/>
            </a:lvl1pPr>
          </a:lstStyle>
          <a:p>
            <a:pPr>
              <a:defRPr/>
            </a:pPr>
            <a:endParaRPr lang="en-IN"/>
          </a:p>
        </p:txBody>
      </p:sp>
      <p:sp>
        <p:nvSpPr>
          <p:cNvPr id="6" name="Slide Number Placeholder 5">
            <a:extLst>
              <a:ext uri="{FF2B5EF4-FFF2-40B4-BE49-F238E27FC236}">
                <a16:creationId xmlns:a16="http://schemas.microsoft.com/office/drawing/2014/main" id="{4DF31059-0A34-D6DA-83AE-1EAE791FC01B}"/>
              </a:ext>
            </a:extLst>
          </p:cNvPr>
          <p:cNvSpPr>
            <a:spLocks noGrp="1"/>
          </p:cNvSpPr>
          <p:nvPr>
            <p:ph type="sldNum" sz="quarter" idx="12"/>
          </p:nvPr>
        </p:nvSpPr>
        <p:spPr/>
        <p:txBody>
          <a:bodyPr/>
          <a:lstStyle>
            <a:lvl1pPr>
              <a:defRPr/>
            </a:lvl1pPr>
          </a:lstStyle>
          <a:p>
            <a:fld id="{BA9E4411-7599-4D40-BAA7-5A65C2CB23DE}" type="slidenum">
              <a:rPr lang="en-IN" altLang="en-US"/>
              <a:pPr/>
              <a:t>‹#›</a:t>
            </a:fld>
            <a:endParaRPr lang="en-IN" altLang="en-US"/>
          </a:p>
        </p:txBody>
      </p:sp>
    </p:spTree>
    <p:extLst>
      <p:ext uri="{BB962C8B-B14F-4D97-AF65-F5344CB8AC3E}">
        <p14:creationId xmlns:p14="http://schemas.microsoft.com/office/powerpoint/2010/main" val="12767657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EC0FB58-19D1-2EF2-3BCD-92314EE59083}"/>
              </a:ext>
            </a:extLst>
          </p:cNvPr>
          <p:cNvSpPr>
            <a:spLocks noGrp="1"/>
          </p:cNvSpPr>
          <p:nvPr>
            <p:ph type="dt" sz="half" idx="10"/>
          </p:nvPr>
        </p:nvSpPr>
        <p:spPr/>
        <p:txBody>
          <a:bodyPr/>
          <a:lstStyle>
            <a:lvl1pPr>
              <a:defRPr/>
            </a:lvl1pPr>
          </a:lstStyle>
          <a:p>
            <a:pPr>
              <a:defRPr/>
            </a:pPr>
            <a:fld id="{F5502DAD-4574-41E1-BB30-C04AFFD7DB1E}" type="datetimeFigureOut">
              <a:rPr lang="en-IN"/>
              <a:pPr>
                <a:defRPr/>
              </a:pPr>
              <a:t>21-10-2026</a:t>
            </a:fld>
            <a:endParaRPr lang="en-IN"/>
          </a:p>
        </p:txBody>
      </p:sp>
      <p:sp>
        <p:nvSpPr>
          <p:cNvPr id="5" name="Footer Placeholder 4">
            <a:extLst>
              <a:ext uri="{FF2B5EF4-FFF2-40B4-BE49-F238E27FC236}">
                <a16:creationId xmlns:a16="http://schemas.microsoft.com/office/drawing/2014/main" id="{AC02F822-3EBF-9DD5-F52C-DEBF79C397EA}"/>
              </a:ext>
            </a:extLst>
          </p:cNvPr>
          <p:cNvSpPr>
            <a:spLocks noGrp="1"/>
          </p:cNvSpPr>
          <p:nvPr>
            <p:ph type="ftr" sz="quarter" idx="11"/>
          </p:nvPr>
        </p:nvSpPr>
        <p:spPr/>
        <p:txBody>
          <a:bodyPr/>
          <a:lstStyle>
            <a:lvl1pPr>
              <a:defRPr/>
            </a:lvl1pPr>
          </a:lstStyle>
          <a:p>
            <a:pPr>
              <a:defRPr/>
            </a:pPr>
            <a:endParaRPr lang="en-IN"/>
          </a:p>
        </p:txBody>
      </p:sp>
      <p:sp>
        <p:nvSpPr>
          <p:cNvPr id="6" name="Slide Number Placeholder 5">
            <a:extLst>
              <a:ext uri="{FF2B5EF4-FFF2-40B4-BE49-F238E27FC236}">
                <a16:creationId xmlns:a16="http://schemas.microsoft.com/office/drawing/2014/main" id="{395E2C81-AC96-8BBD-3989-2D6620EC23C7}"/>
              </a:ext>
            </a:extLst>
          </p:cNvPr>
          <p:cNvSpPr>
            <a:spLocks noGrp="1"/>
          </p:cNvSpPr>
          <p:nvPr>
            <p:ph type="sldNum" sz="quarter" idx="12"/>
          </p:nvPr>
        </p:nvSpPr>
        <p:spPr/>
        <p:txBody>
          <a:bodyPr/>
          <a:lstStyle>
            <a:lvl1pPr>
              <a:defRPr/>
            </a:lvl1pPr>
          </a:lstStyle>
          <a:p>
            <a:fld id="{2C28655C-655E-42FE-96CB-8BABC4F17785}" type="slidenum">
              <a:rPr lang="en-IN" altLang="en-US"/>
              <a:pPr/>
              <a:t>‹#›</a:t>
            </a:fld>
            <a:endParaRPr lang="en-IN" altLang="en-US"/>
          </a:p>
        </p:txBody>
      </p:sp>
    </p:spTree>
    <p:extLst>
      <p:ext uri="{BB962C8B-B14F-4D97-AF65-F5344CB8AC3E}">
        <p14:creationId xmlns:p14="http://schemas.microsoft.com/office/powerpoint/2010/main" val="39157361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63B7CD5A-4554-0C6A-B53C-068DC65B340A}"/>
              </a:ext>
            </a:extLst>
          </p:cNvPr>
          <p:cNvSpPr>
            <a:spLocks noGrp="1"/>
          </p:cNvSpPr>
          <p:nvPr>
            <p:ph type="dt" sz="half" idx="10"/>
          </p:nvPr>
        </p:nvSpPr>
        <p:spPr/>
        <p:txBody>
          <a:bodyPr/>
          <a:lstStyle>
            <a:lvl1pPr>
              <a:defRPr/>
            </a:lvl1pPr>
          </a:lstStyle>
          <a:p>
            <a:pPr>
              <a:defRPr/>
            </a:pPr>
            <a:fld id="{14186A49-EC20-4FC6-BB61-9A11A7D09049}" type="datetimeFigureOut">
              <a:rPr lang="en-IN"/>
              <a:pPr>
                <a:defRPr/>
              </a:pPr>
              <a:t>21-10-2026</a:t>
            </a:fld>
            <a:endParaRPr lang="en-IN"/>
          </a:p>
        </p:txBody>
      </p:sp>
      <p:sp>
        <p:nvSpPr>
          <p:cNvPr id="5" name="Footer Placeholder 4">
            <a:extLst>
              <a:ext uri="{FF2B5EF4-FFF2-40B4-BE49-F238E27FC236}">
                <a16:creationId xmlns:a16="http://schemas.microsoft.com/office/drawing/2014/main" id="{1296C9A6-C86D-109D-A185-D7338E57CC91}"/>
              </a:ext>
            </a:extLst>
          </p:cNvPr>
          <p:cNvSpPr>
            <a:spLocks noGrp="1"/>
          </p:cNvSpPr>
          <p:nvPr>
            <p:ph type="ftr" sz="quarter" idx="11"/>
          </p:nvPr>
        </p:nvSpPr>
        <p:spPr/>
        <p:txBody>
          <a:bodyPr/>
          <a:lstStyle>
            <a:lvl1pPr>
              <a:defRPr/>
            </a:lvl1pPr>
          </a:lstStyle>
          <a:p>
            <a:pPr>
              <a:defRPr/>
            </a:pPr>
            <a:endParaRPr lang="en-IN"/>
          </a:p>
        </p:txBody>
      </p:sp>
      <p:sp>
        <p:nvSpPr>
          <p:cNvPr id="6" name="Slide Number Placeholder 5">
            <a:extLst>
              <a:ext uri="{FF2B5EF4-FFF2-40B4-BE49-F238E27FC236}">
                <a16:creationId xmlns:a16="http://schemas.microsoft.com/office/drawing/2014/main" id="{52A44ACB-A93C-3745-AE29-1709C0B356DA}"/>
              </a:ext>
            </a:extLst>
          </p:cNvPr>
          <p:cNvSpPr>
            <a:spLocks noGrp="1"/>
          </p:cNvSpPr>
          <p:nvPr>
            <p:ph type="sldNum" sz="quarter" idx="12"/>
          </p:nvPr>
        </p:nvSpPr>
        <p:spPr/>
        <p:txBody>
          <a:bodyPr/>
          <a:lstStyle>
            <a:lvl1pPr>
              <a:defRPr/>
            </a:lvl1pPr>
          </a:lstStyle>
          <a:p>
            <a:fld id="{47FFB887-8ED3-434F-A6AB-70AD97BCC28F}" type="slidenum">
              <a:rPr lang="en-IN" altLang="en-US"/>
              <a:pPr/>
              <a:t>‹#›</a:t>
            </a:fld>
            <a:endParaRPr lang="en-IN" altLang="en-US"/>
          </a:p>
        </p:txBody>
      </p:sp>
    </p:spTree>
    <p:extLst>
      <p:ext uri="{BB962C8B-B14F-4D97-AF65-F5344CB8AC3E}">
        <p14:creationId xmlns:p14="http://schemas.microsoft.com/office/powerpoint/2010/main" val="42540307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3">
            <a:extLst>
              <a:ext uri="{FF2B5EF4-FFF2-40B4-BE49-F238E27FC236}">
                <a16:creationId xmlns:a16="http://schemas.microsoft.com/office/drawing/2014/main" id="{84259AC2-5C6F-F6B3-FED7-5F1602D396EE}"/>
              </a:ext>
            </a:extLst>
          </p:cNvPr>
          <p:cNvSpPr>
            <a:spLocks noGrp="1"/>
          </p:cNvSpPr>
          <p:nvPr>
            <p:ph type="dt" sz="half" idx="10"/>
          </p:nvPr>
        </p:nvSpPr>
        <p:spPr/>
        <p:txBody>
          <a:bodyPr/>
          <a:lstStyle>
            <a:lvl1pPr>
              <a:defRPr/>
            </a:lvl1pPr>
          </a:lstStyle>
          <a:p>
            <a:pPr>
              <a:defRPr/>
            </a:pPr>
            <a:fld id="{65F50A66-CEB6-4791-A72B-A0206D932C14}" type="datetimeFigureOut">
              <a:rPr lang="en-IN"/>
              <a:pPr>
                <a:defRPr/>
              </a:pPr>
              <a:t>21-10-2026</a:t>
            </a:fld>
            <a:endParaRPr lang="en-IN"/>
          </a:p>
        </p:txBody>
      </p:sp>
      <p:sp>
        <p:nvSpPr>
          <p:cNvPr id="6" name="Footer Placeholder 4">
            <a:extLst>
              <a:ext uri="{FF2B5EF4-FFF2-40B4-BE49-F238E27FC236}">
                <a16:creationId xmlns:a16="http://schemas.microsoft.com/office/drawing/2014/main" id="{E7454757-2B3F-74F1-7ADB-1EE32EB8EA50}"/>
              </a:ext>
            </a:extLst>
          </p:cNvPr>
          <p:cNvSpPr>
            <a:spLocks noGrp="1"/>
          </p:cNvSpPr>
          <p:nvPr>
            <p:ph type="ftr" sz="quarter" idx="11"/>
          </p:nvPr>
        </p:nvSpPr>
        <p:spPr/>
        <p:txBody>
          <a:bodyPr/>
          <a:lstStyle>
            <a:lvl1pPr>
              <a:defRPr/>
            </a:lvl1pPr>
          </a:lstStyle>
          <a:p>
            <a:pPr>
              <a:defRPr/>
            </a:pPr>
            <a:endParaRPr lang="en-IN"/>
          </a:p>
        </p:txBody>
      </p:sp>
      <p:sp>
        <p:nvSpPr>
          <p:cNvPr id="7" name="Slide Number Placeholder 5">
            <a:extLst>
              <a:ext uri="{FF2B5EF4-FFF2-40B4-BE49-F238E27FC236}">
                <a16:creationId xmlns:a16="http://schemas.microsoft.com/office/drawing/2014/main" id="{26964D32-A393-86BC-F9A4-C828ED491C08}"/>
              </a:ext>
            </a:extLst>
          </p:cNvPr>
          <p:cNvSpPr>
            <a:spLocks noGrp="1"/>
          </p:cNvSpPr>
          <p:nvPr>
            <p:ph type="sldNum" sz="quarter" idx="12"/>
          </p:nvPr>
        </p:nvSpPr>
        <p:spPr/>
        <p:txBody>
          <a:bodyPr/>
          <a:lstStyle>
            <a:lvl1pPr>
              <a:defRPr/>
            </a:lvl1pPr>
          </a:lstStyle>
          <a:p>
            <a:fld id="{8F9BDE0F-8692-426B-BBCC-5C17EA9255C0}" type="slidenum">
              <a:rPr lang="en-IN" altLang="en-US"/>
              <a:pPr/>
              <a:t>‹#›</a:t>
            </a:fld>
            <a:endParaRPr lang="en-IN" altLang="en-US"/>
          </a:p>
        </p:txBody>
      </p:sp>
    </p:spTree>
    <p:extLst>
      <p:ext uri="{BB962C8B-B14F-4D97-AF65-F5344CB8AC3E}">
        <p14:creationId xmlns:p14="http://schemas.microsoft.com/office/powerpoint/2010/main" val="7593650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3">
            <a:extLst>
              <a:ext uri="{FF2B5EF4-FFF2-40B4-BE49-F238E27FC236}">
                <a16:creationId xmlns:a16="http://schemas.microsoft.com/office/drawing/2014/main" id="{D11D2564-2EF9-8EC0-05F9-71409ADA53B1}"/>
              </a:ext>
            </a:extLst>
          </p:cNvPr>
          <p:cNvSpPr>
            <a:spLocks noGrp="1"/>
          </p:cNvSpPr>
          <p:nvPr>
            <p:ph type="dt" sz="half" idx="10"/>
          </p:nvPr>
        </p:nvSpPr>
        <p:spPr/>
        <p:txBody>
          <a:bodyPr/>
          <a:lstStyle>
            <a:lvl1pPr>
              <a:defRPr/>
            </a:lvl1pPr>
          </a:lstStyle>
          <a:p>
            <a:pPr>
              <a:defRPr/>
            </a:pPr>
            <a:fld id="{5EF39BAB-B9AF-4B6F-B218-6AFE2A6FC85E}" type="datetimeFigureOut">
              <a:rPr lang="en-IN"/>
              <a:pPr>
                <a:defRPr/>
              </a:pPr>
              <a:t>21-10-2026</a:t>
            </a:fld>
            <a:endParaRPr lang="en-IN"/>
          </a:p>
        </p:txBody>
      </p:sp>
      <p:sp>
        <p:nvSpPr>
          <p:cNvPr id="8" name="Footer Placeholder 4">
            <a:extLst>
              <a:ext uri="{FF2B5EF4-FFF2-40B4-BE49-F238E27FC236}">
                <a16:creationId xmlns:a16="http://schemas.microsoft.com/office/drawing/2014/main" id="{FF69AC31-3E70-4563-2DD4-3956CCEAB10B}"/>
              </a:ext>
            </a:extLst>
          </p:cNvPr>
          <p:cNvSpPr>
            <a:spLocks noGrp="1"/>
          </p:cNvSpPr>
          <p:nvPr>
            <p:ph type="ftr" sz="quarter" idx="11"/>
          </p:nvPr>
        </p:nvSpPr>
        <p:spPr/>
        <p:txBody>
          <a:bodyPr/>
          <a:lstStyle>
            <a:lvl1pPr>
              <a:defRPr/>
            </a:lvl1pPr>
          </a:lstStyle>
          <a:p>
            <a:pPr>
              <a:defRPr/>
            </a:pPr>
            <a:endParaRPr lang="en-IN"/>
          </a:p>
        </p:txBody>
      </p:sp>
      <p:sp>
        <p:nvSpPr>
          <p:cNvPr id="9" name="Slide Number Placeholder 5">
            <a:extLst>
              <a:ext uri="{FF2B5EF4-FFF2-40B4-BE49-F238E27FC236}">
                <a16:creationId xmlns:a16="http://schemas.microsoft.com/office/drawing/2014/main" id="{7596BAEA-028D-DD5B-6516-8E17D69C576D}"/>
              </a:ext>
            </a:extLst>
          </p:cNvPr>
          <p:cNvSpPr>
            <a:spLocks noGrp="1"/>
          </p:cNvSpPr>
          <p:nvPr>
            <p:ph type="sldNum" sz="quarter" idx="12"/>
          </p:nvPr>
        </p:nvSpPr>
        <p:spPr/>
        <p:txBody>
          <a:bodyPr/>
          <a:lstStyle>
            <a:lvl1pPr>
              <a:defRPr/>
            </a:lvl1pPr>
          </a:lstStyle>
          <a:p>
            <a:fld id="{8E91FED9-4F29-47C4-9554-701954B1052C}" type="slidenum">
              <a:rPr lang="en-IN" altLang="en-US"/>
              <a:pPr/>
              <a:t>‹#›</a:t>
            </a:fld>
            <a:endParaRPr lang="en-IN" altLang="en-US"/>
          </a:p>
        </p:txBody>
      </p:sp>
    </p:spTree>
    <p:extLst>
      <p:ext uri="{BB962C8B-B14F-4D97-AF65-F5344CB8AC3E}">
        <p14:creationId xmlns:p14="http://schemas.microsoft.com/office/powerpoint/2010/main" val="6780730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3">
            <a:extLst>
              <a:ext uri="{FF2B5EF4-FFF2-40B4-BE49-F238E27FC236}">
                <a16:creationId xmlns:a16="http://schemas.microsoft.com/office/drawing/2014/main" id="{9D07FEB9-D456-22A1-ECC4-EE00A70BC785}"/>
              </a:ext>
            </a:extLst>
          </p:cNvPr>
          <p:cNvSpPr>
            <a:spLocks noGrp="1"/>
          </p:cNvSpPr>
          <p:nvPr>
            <p:ph type="dt" sz="half" idx="10"/>
          </p:nvPr>
        </p:nvSpPr>
        <p:spPr/>
        <p:txBody>
          <a:bodyPr/>
          <a:lstStyle>
            <a:lvl1pPr>
              <a:defRPr/>
            </a:lvl1pPr>
          </a:lstStyle>
          <a:p>
            <a:pPr>
              <a:defRPr/>
            </a:pPr>
            <a:fld id="{EEBFC4D9-A3A6-42ED-9475-EAEA7E5754FF}" type="datetimeFigureOut">
              <a:rPr lang="en-IN"/>
              <a:pPr>
                <a:defRPr/>
              </a:pPr>
              <a:t>21-10-2026</a:t>
            </a:fld>
            <a:endParaRPr lang="en-IN"/>
          </a:p>
        </p:txBody>
      </p:sp>
      <p:sp>
        <p:nvSpPr>
          <p:cNvPr id="4" name="Footer Placeholder 4">
            <a:extLst>
              <a:ext uri="{FF2B5EF4-FFF2-40B4-BE49-F238E27FC236}">
                <a16:creationId xmlns:a16="http://schemas.microsoft.com/office/drawing/2014/main" id="{EB8BB7BB-56BE-76DE-A49C-7534DC69AA41}"/>
              </a:ext>
            </a:extLst>
          </p:cNvPr>
          <p:cNvSpPr>
            <a:spLocks noGrp="1"/>
          </p:cNvSpPr>
          <p:nvPr>
            <p:ph type="ftr" sz="quarter" idx="11"/>
          </p:nvPr>
        </p:nvSpPr>
        <p:spPr/>
        <p:txBody>
          <a:bodyPr/>
          <a:lstStyle>
            <a:lvl1pPr>
              <a:defRPr/>
            </a:lvl1pPr>
          </a:lstStyle>
          <a:p>
            <a:pPr>
              <a:defRPr/>
            </a:pPr>
            <a:endParaRPr lang="en-IN"/>
          </a:p>
        </p:txBody>
      </p:sp>
      <p:sp>
        <p:nvSpPr>
          <p:cNvPr id="5" name="Slide Number Placeholder 5">
            <a:extLst>
              <a:ext uri="{FF2B5EF4-FFF2-40B4-BE49-F238E27FC236}">
                <a16:creationId xmlns:a16="http://schemas.microsoft.com/office/drawing/2014/main" id="{1ECA02A4-059C-B244-B39A-2BB622F4A363}"/>
              </a:ext>
            </a:extLst>
          </p:cNvPr>
          <p:cNvSpPr>
            <a:spLocks noGrp="1"/>
          </p:cNvSpPr>
          <p:nvPr>
            <p:ph type="sldNum" sz="quarter" idx="12"/>
          </p:nvPr>
        </p:nvSpPr>
        <p:spPr/>
        <p:txBody>
          <a:bodyPr/>
          <a:lstStyle>
            <a:lvl1pPr>
              <a:defRPr/>
            </a:lvl1pPr>
          </a:lstStyle>
          <a:p>
            <a:fld id="{367872A3-FB58-4C3A-931D-B04ECED1E1C0}" type="slidenum">
              <a:rPr lang="en-IN" altLang="en-US"/>
              <a:pPr/>
              <a:t>‹#›</a:t>
            </a:fld>
            <a:endParaRPr lang="en-IN" altLang="en-US"/>
          </a:p>
        </p:txBody>
      </p:sp>
    </p:spTree>
    <p:extLst>
      <p:ext uri="{BB962C8B-B14F-4D97-AF65-F5344CB8AC3E}">
        <p14:creationId xmlns:p14="http://schemas.microsoft.com/office/powerpoint/2010/main" val="41761888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3CE52A56-C7B2-FF04-538A-AA7F29880BFB}"/>
              </a:ext>
            </a:extLst>
          </p:cNvPr>
          <p:cNvSpPr>
            <a:spLocks noGrp="1"/>
          </p:cNvSpPr>
          <p:nvPr>
            <p:ph type="dt" sz="half" idx="10"/>
          </p:nvPr>
        </p:nvSpPr>
        <p:spPr/>
        <p:txBody>
          <a:bodyPr/>
          <a:lstStyle>
            <a:lvl1pPr>
              <a:defRPr/>
            </a:lvl1pPr>
          </a:lstStyle>
          <a:p>
            <a:pPr>
              <a:defRPr/>
            </a:pPr>
            <a:fld id="{058569F3-569E-420A-869F-22ABEE3370B9}" type="datetimeFigureOut">
              <a:rPr lang="en-IN"/>
              <a:pPr>
                <a:defRPr/>
              </a:pPr>
              <a:t>21-10-2026</a:t>
            </a:fld>
            <a:endParaRPr lang="en-IN"/>
          </a:p>
        </p:txBody>
      </p:sp>
      <p:sp>
        <p:nvSpPr>
          <p:cNvPr id="3" name="Footer Placeholder 4">
            <a:extLst>
              <a:ext uri="{FF2B5EF4-FFF2-40B4-BE49-F238E27FC236}">
                <a16:creationId xmlns:a16="http://schemas.microsoft.com/office/drawing/2014/main" id="{0C00F03B-AE90-C45D-C43A-AE045B0F9EBC}"/>
              </a:ext>
            </a:extLst>
          </p:cNvPr>
          <p:cNvSpPr>
            <a:spLocks noGrp="1"/>
          </p:cNvSpPr>
          <p:nvPr>
            <p:ph type="ftr" sz="quarter" idx="11"/>
          </p:nvPr>
        </p:nvSpPr>
        <p:spPr/>
        <p:txBody>
          <a:bodyPr/>
          <a:lstStyle>
            <a:lvl1pPr>
              <a:defRPr/>
            </a:lvl1pPr>
          </a:lstStyle>
          <a:p>
            <a:pPr>
              <a:defRPr/>
            </a:pPr>
            <a:endParaRPr lang="en-IN"/>
          </a:p>
        </p:txBody>
      </p:sp>
      <p:sp>
        <p:nvSpPr>
          <p:cNvPr id="4" name="Slide Number Placeholder 5">
            <a:extLst>
              <a:ext uri="{FF2B5EF4-FFF2-40B4-BE49-F238E27FC236}">
                <a16:creationId xmlns:a16="http://schemas.microsoft.com/office/drawing/2014/main" id="{91C1D7E4-AF14-410A-975C-3BA44A6D271C}"/>
              </a:ext>
            </a:extLst>
          </p:cNvPr>
          <p:cNvSpPr>
            <a:spLocks noGrp="1"/>
          </p:cNvSpPr>
          <p:nvPr>
            <p:ph type="sldNum" sz="quarter" idx="12"/>
          </p:nvPr>
        </p:nvSpPr>
        <p:spPr/>
        <p:txBody>
          <a:bodyPr/>
          <a:lstStyle>
            <a:lvl1pPr>
              <a:defRPr/>
            </a:lvl1pPr>
          </a:lstStyle>
          <a:p>
            <a:fld id="{3BC1F32C-F992-4DC8-8F12-B6C8ABE03439}" type="slidenum">
              <a:rPr lang="en-IN" altLang="en-US"/>
              <a:pPr/>
              <a:t>‹#›</a:t>
            </a:fld>
            <a:endParaRPr lang="en-IN" altLang="en-US"/>
          </a:p>
        </p:txBody>
      </p:sp>
    </p:spTree>
    <p:extLst>
      <p:ext uri="{BB962C8B-B14F-4D97-AF65-F5344CB8AC3E}">
        <p14:creationId xmlns:p14="http://schemas.microsoft.com/office/powerpoint/2010/main" val="6047012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3">
            <a:extLst>
              <a:ext uri="{FF2B5EF4-FFF2-40B4-BE49-F238E27FC236}">
                <a16:creationId xmlns:a16="http://schemas.microsoft.com/office/drawing/2014/main" id="{D553AC38-313E-C5D8-B5E5-932B17C174DB}"/>
              </a:ext>
            </a:extLst>
          </p:cNvPr>
          <p:cNvSpPr>
            <a:spLocks noGrp="1"/>
          </p:cNvSpPr>
          <p:nvPr>
            <p:ph type="dt" sz="half" idx="10"/>
          </p:nvPr>
        </p:nvSpPr>
        <p:spPr/>
        <p:txBody>
          <a:bodyPr/>
          <a:lstStyle>
            <a:lvl1pPr>
              <a:defRPr/>
            </a:lvl1pPr>
          </a:lstStyle>
          <a:p>
            <a:pPr>
              <a:defRPr/>
            </a:pPr>
            <a:fld id="{DCDE533F-B22E-47D9-860D-5CBDA43CA0E8}" type="datetimeFigureOut">
              <a:rPr lang="en-IN"/>
              <a:pPr>
                <a:defRPr/>
              </a:pPr>
              <a:t>21-10-2026</a:t>
            </a:fld>
            <a:endParaRPr lang="en-IN"/>
          </a:p>
        </p:txBody>
      </p:sp>
      <p:sp>
        <p:nvSpPr>
          <p:cNvPr id="6" name="Footer Placeholder 4">
            <a:extLst>
              <a:ext uri="{FF2B5EF4-FFF2-40B4-BE49-F238E27FC236}">
                <a16:creationId xmlns:a16="http://schemas.microsoft.com/office/drawing/2014/main" id="{A8E7B89D-BD27-B655-4968-1A19565BD5C2}"/>
              </a:ext>
            </a:extLst>
          </p:cNvPr>
          <p:cNvSpPr>
            <a:spLocks noGrp="1"/>
          </p:cNvSpPr>
          <p:nvPr>
            <p:ph type="ftr" sz="quarter" idx="11"/>
          </p:nvPr>
        </p:nvSpPr>
        <p:spPr/>
        <p:txBody>
          <a:bodyPr/>
          <a:lstStyle>
            <a:lvl1pPr>
              <a:defRPr/>
            </a:lvl1pPr>
          </a:lstStyle>
          <a:p>
            <a:pPr>
              <a:defRPr/>
            </a:pPr>
            <a:endParaRPr lang="en-IN"/>
          </a:p>
        </p:txBody>
      </p:sp>
      <p:sp>
        <p:nvSpPr>
          <p:cNvPr id="7" name="Slide Number Placeholder 5">
            <a:extLst>
              <a:ext uri="{FF2B5EF4-FFF2-40B4-BE49-F238E27FC236}">
                <a16:creationId xmlns:a16="http://schemas.microsoft.com/office/drawing/2014/main" id="{E4CAB583-A14B-EAE5-C1CE-840BBB188CCC}"/>
              </a:ext>
            </a:extLst>
          </p:cNvPr>
          <p:cNvSpPr>
            <a:spLocks noGrp="1"/>
          </p:cNvSpPr>
          <p:nvPr>
            <p:ph type="sldNum" sz="quarter" idx="12"/>
          </p:nvPr>
        </p:nvSpPr>
        <p:spPr/>
        <p:txBody>
          <a:bodyPr/>
          <a:lstStyle>
            <a:lvl1pPr>
              <a:defRPr/>
            </a:lvl1pPr>
          </a:lstStyle>
          <a:p>
            <a:fld id="{47649691-00B8-4C10-9342-545102158FAD}" type="slidenum">
              <a:rPr lang="en-IN" altLang="en-US"/>
              <a:pPr/>
              <a:t>‹#›</a:t>
            </a:fld>
            <a:endParaRPr lang="en-IN" altLang="en-US"/>
          </a:p>
        </p:txBody>
      </p:sp>
    </p:spTree>
    <p:extLst>
      <p:ext uri="{BB962C8B-B14F-4D97-AF65-F5344CB8AC3E}">
        <p14:creationId xmlns:p14="http://schemas.microsoft.com/office/powerpoint/2010/main" val="36696116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IN" noProof="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3">
            <a:extLst>
              <a:ext uri="{FF2B5EF4-FFF2-40B4-BE49-F238E27FC236}">
                <a16:creationId xmlns:a16="http://schemas.microsoft.com/office/drawing/2014/main" id="{62D0792C-24E9-66D0-7D53-EF322890E375}"/>
              </a:ext>
            </a:extLst>
          </p:cNvPr>
          <p:cNvSpPr>
            <a:spLocks noGrp="1"/>
          </p:cNvSpPr>
          <p:nvPr>
            <p:ph type="dt" sz="half" idx="10"/>
          </p:nvPr>
        </p:nvSpPr>
        <p:spPr/>
        <p:txBody>
          <a:bodyPr/>
          <a:lstStyle>
            <a:lvl1pPr>
              <a:defRPr/>
            </a:lvl1pPr>
          </a:lstStyle>
          <a:p>
            <a:pPr>
              <a:defRPr/>
            </a:pPr>
            <a:fld id="{1923F46B-7CD2-496C-9F6C-329274B6F048}" type="datetimeFigureOut">
              <a:rPr lang="en-IN"/>
              <a:pPr>
                <a:defRPr/>
              </a:pPr>
              <a:t>21-10-2026</a:t>
            </a:fld>
            <a:endParaRPr lang="en-IN"/>
          </a:p>
        </p:txBody>
      </p:sp>
      <p:sp>
        <p:nvSpPr>
          <p:cNvPr id="6" name="Footer Placeholder 4">
            <a:extLst>
              <a:ext uri="{FF2B5EF4-FFF2-40B4-BE49-F238E27FC236}">
                <a16:creationId xmlns:a16="http://schemas.microsoft.com/office/drawing/2014/main" id="{41A66292-39E6-E63D-0908-0BC3E74B142E}"/>
              </a:ext>
            </a:extLst>
          </p:cNvPr>
          <p:cNvSpPr>
            <a:spLocks noGrp="1"/>
          </p:cNvSpPr>
          <p:nvPr>
            <p:ph type="ftr" sz="quarter" idx="11"/>
          </p:nvPr>
        </p:nvSpPr>
        <p:spPr/>
        <p:txBody>
          <a:bodyPr/>
          <a:lstStyle>
            <a:lvl1pPr>
              <a:defRPr/>
            </a:lvl1pPr>
          </a:lstStyle>
          <a:p>
            <a:pPr>
              <a:defRPr/>
            </a:pPr>
            <a:endParaRPr lang="en-IN"/>
          </a:p>
        </p:txBody>
      </p:sp>
      <p:sp>
        <p:nvSpPr>
          <p:cNvPr id="7" name="Slide Number Placeholder 5">
            <a:extLst>
              <a:ext uri="{FF2B5EF4-FFF2-40B4-BE49-F238E27FC236}">
                <a16:creationId xmlns:a16="http://schemas.microsoft.com/office/drawing/2014/main" id="{90CE798D-8565-96C4-7426-7338E7864E51}"/>
              </a:ext>
            </a:extLst>
          </p:cNvPr>
          <p:cNvSpPr>
            <a:spLocks noGrp="1"/>
          </p:cNvSpPr>
          <p:nvPr>
            <p:ph type="sldNum" sz="quarter" idx="12"/>
          </p:nvPr>
        </p:nvSpPr>
        <p:spPr/>
        <p:txBody>
          <a:bodyPr/>
          <a:lstStyle>
            <a:lvl1pPr>
              <a:defRPr/>
            </a:lvl1pPr>
          </a:lstStyle>
          <a:p>
            <a:fld id="{820F2012-BD12-4723-B54B-177016E84FC8}" type="slidenum">
              <a:rPr lang="en-IN" altLang="en-US"/>
              <a:pPr/>
              <a:t>‹#›</a:t>
            </a:fld>
            <a:endParaRPr lang="en-IN" altLang="en-US"/>
          </a:p>
        </p:txBody>
      </p:sp>
    </p:spTree>
    <p:extLst>
      <p:ext uri="{BB962C8B-B14F-4D97-AF65-F5344CB8AC3E}">
        <p14:creationId xmlns:p14="http://schemas.microsoft.com/office/powerpoint/2010/main" val="14513231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62E362C-4647-AC61-7C3A-B8941CE281E1}"/>
              </a:ext>
            </a:extLst>
          </p:cNvPr>
          <p:cNvSpPr>
            <a:spLocks noGrp="1"/>
          </p:cNvSpPr>
          <p:nvPr>
            <p:ph type="dt" sz="half" idx="10"/>
          </p:nvPr>
        </p:nvSpPr>
        <p:spPr/>
        <p:txBody>
          <a:bodyPr/>
          <a:lstStyle>
            <a:lvl1pPr>
              <a:defRPr/>
            </a:lvl1pPr>
          </a:lstStyle>
          <a:p>
            <a:pPr>
              <a:defRPr/>
            </a:pPr>
            <a:fld id="{07F5C079-3021-4BD9-87CB-A31AB5E11338}" type="datetimeFigureOut">
              <a:rPr lang="en-IN"/>
              <a:pPr>
                <a:defRPr/>
              </a:pPr>
              <a:t>21-10-2026</a:t>
            </a:fld>
            <a:endParaRPr lang="en-IN"/>
          </a:p>
        </p:txBody>
      </p:sp>
      <p:sp>
        <p:nvSpPr>
          <p:cNvPr id="5" name="Footer Placeholder 4">
            <a:extLst>
              <a:ext uri="{FF2B5EF4-FFF2-40B4-BE49-F238E27FC236}">
                <a16:creationId xmlns:a16="http://schemas.microsoft.com/office/drawing/2014/main" id="{9A2AC066-B068-5149-67D9-B5C9CF34FA2B}"/>
              </a:ext>
            </a:extLst>
          </p:cNvPr>
          <p:cNvSpPr>
            <a:spLocks noGrp="1"/>
          </p:cNvSpPr>
          <p:nvPr>
            <p:ph type="ftr" sz="quarter" idx="11"/>
          </p:nvPr>
        </p:nvSpPr>
        <p:spPr/>
        <p:txBody>
          <a:bodyPr/>
          <a:lstStyle>
            <a:lvl1pPr>
              <a:defRPr/>
            </a:lvl1pPr>
          </a:lstStyle>
          <a:p>
            <a:pPr>
              <a:defRPr/>
            </a:pPr>
            <a:endParaRPr lang="en-IN"/>
          </a:p>
        </p:txBody>
      </p:sp>
      <p:sp>
        <p:nvSpPr>
          <p:cNvPr id="6" name="Slide Number Placeholder 5">
            <a:extLst>
              <a:ext uri="{FF2B5EF4-FFF2-40B4-BE49-F238E27FC236}">
                <a16:creationId xmlns:a16="http://schemas.microsoft.com/office/drawing/2014/main" id="{821D1A9C-7DC7-15DB-CE2D-84346D9A588D}"/>
              </a:ext>
            </a:extLst>
          </p:cNvPr>
          <p:cNvSpPr>
            <a:spLocks noGrp="1"/>
          </p:cNvSpPr>
          <p:nvPr>
            <p:ph type="sldNum" sz="quarter" idx="12"/>
          </p:nvPr>
        </p:nvSpPr>
        <p:spPr/>
        <p:txBody>
          <a:bodyPr/>
          <a:lstStyle>
            <a:lvl1pPr>
              <a:defRPr/>
            </a:lvl1pPr>
          </a:lstStyle>
          <a:p>
            <a:fld id="{83143B53-DECD-418D-9FE7-92E3EB940E17}" type="slidenum">
              <a:rPr lang="en-IN" altLang="en-US"/>
              <a:pPr/>
              <a:t>‹#›</a:t>
            </a:fld>
            <a:endParaRPr lang="en-IN" altLang="en-US"/>
          </a:p>
        </p:txBody>
      </p:sp>
    </p:spTree>
    <p:extLst>
      <p:ext uri="{BB962C8B-B14F-4D97-AF65-F5344CB8AC3E}">
        <p14:creationId xmlns:p14="http://schemas.microsoft.com/office/powerpoint/2010/main" val="12418898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D165632-DF76-EAB3-AB24-AE7017EEB5DF}"/>
              </a:ext>
            </a:extLst>
          </p:cNvPr>
          <p:cNvSpPr>
            <a:spLocks noGrp="1"/>
          </p:cNvSpPr>
          <p:nvPr>
            <p:ph type="dt" sz="half" idx="10"/>
          </p:nvPr>
        </p:nvSpPr>
        <p:spPr/>
        <p:txBody>
          <a:bodyPr/>
          <a:lstStyle>
            <a:lvl1pPr>
              <a:defRPr/>
            </a:lvl1pPr>
          </a:lstStyle>
          <a:p>
            <a:pPr>
              <a:defRPr/>
            </a:pPr>
            <a:fld id="{E35F62B5-2A0D-4188-B663-E93AF18A8FC3}" type="datetimeFigureOut">
              <a:rPr lang="en-IN"/>
              <a:pPr>
                <a:defRPr/>
              </a:pPr>
              <a:t>21-10-2026</a:t>
            </a:fld>
            <a:endParaRPr lang="en-IN"/>
          </a:p>
        </p:txBody>
      </p:sp>
      <p:sp>
        <p:nvSpPr>
          <p:cNvPr id="5" name="Footer Placeholder 4">
            <a:extLst>
              <a:ext uri="{FF2B5EF4-FFF2-40B4-BE49-F238E27FC236}">
                <a16:creationId xmlns:a16="http://schemas.microsoft.com/office/drawing/2014/main" id="{EDAB14AC-A0B3-AEB9-C395-5F43CCEB8342}"/>
              </a:ext>
            </a:extLst>
          </p:cNvPr>
          <p:cNvSpPr>
            <a:spLocks noGrp="1"/>
          </p:cNvSpPr>
          <p:nvPr>
            <p:ph type="ftr" sz="quarter" idx="11"/>
          </p:nvPr>
        </p:nvSpPr>
        <p:spPr/>
        <p:txBody>
          <a:bodyPr/>
          <a:lstStyle>
            <a:lvl1pPr>
              <a:defRPr/>
            </a:lvl1pPr>
          </a:lstStyle>
          <a:p>
            <a:pPr>
              <a:defRPr/>
            </a:pPr>
            <a:endParaRPr lang="en-IN"/>
          </a:p>
        </p:txBody>
      </p:sp>
      <p:sp>
        <p:nvSpPr>
          <p:cNvPr id="6" name="Slide Number Placeholder 5">
            <a:extLst>
              <a:ext uri="{FF2B5EF4-FFF2-40B4-BE49-F238E27FC236}">
                <a16:creationId xmlns:a16="http://schemas.microsoft.com/office/drawing/2014/main" id="{EE9C63B3-D940-C3F4-5131-9619D05F28E2}"/>
              </a:ext>
            </a:extLst>
          </p:cNvPr>
          <p:cNvSpPr>
            <a:spLocks noGrp="1"/>
          </p:cNvSpPr>
          <p:nvPr>
            <p:ph type="sldNum" sz="quarter" idx="12"/>
          </p:nvPr>
        </p:nvSpPr>
        <p:spPr/>
        <p:txBody>
          <a:bodyPr/>
          <a:lstStyle>
            <a:lvl1pPr>
              <a:defRPr/>
            </a:lvl1pPr>
          </a:lstStyle>
          <a:p>
            <a:fld id="{8C0CF4E6-87AA-46CE-88CB-9421D56B77B7}" type="slidenum">
              <a:rPr lang="en-IN" altLang="en-US"/>
              <a:pPr/>
              <a:t>‹#›</a:t>
            </a:fld>
            <a:endParaRPr lang="en-IN" altLang="en-US"/>
          </a:p>
        </p:txBody>
      </p:sp>
    </p:spTree>
    <p:extLst>
      <p:ext uri="{BB962C8B-B14F-4D97-AF65-F5344CB8AC3E}">
        <p14:creationId xmlns:p14="http://schemas.microsoft.com/office/powerpoint/2010/main" val="146091887"/>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926799A9-12FB-5A8F-8276-77B41F74C0EE}"/>
              </a:ext>
            </a:extLst>
          </p:cNvPr>
          <p:cNvSpPr>
            <a:spLocks noGrp="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endParaRPr lang="en-IN" altLang="en-US"/>
          </a:p>
        </p:txBody>
      </p:sp>
      <p:sp>
        <p:nvSpPr>
          <p:cNvPr id="1027" name="Text Placeholder 2">
            <a:extLst>
              <a:ext uri="{FF2B5EF4-FFF2-40B4-BE49-F238E27FC236}">
                <a16:creationId xmlns:a16="http://schemas.microsoft.com/office/drawing/2014/main" id="{D93F6416-74E4-7168-9904-1F7D91EE51DD}"/>
              </a:ext>
            </a:extLst>
          </p:cNvPr>
          <p:cNvSpPr>
            <a:spLocks noGrp="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endParaRPr lang="en-IN" altLang="en-US"/>
          </a:p>
        </p:txBody>
      </p:sp>
      <p:sp>
        <p:nvSpPr>
          <p:cNvPr id="4" name="Date Placeholder 3">
            <a:extLst>
              <a:ext uri="{FF2B5EF4-FFF2-40B4-BE49-F238E27FC236}">
                <a16:creationId xmlns:a16="http://schemas.microsoft.com/office/drawing/2014/main" id="{FB2C7767-4985-C25B-F06A-BDFEB0A5C32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eaLnBrk="1" fontAlgn="auto" hangingPunct="1">
              <a:spcBef>
                <a:spcPts val="0"/>
              </a:spcBef>
              <a:spcAft>
                <a:spcPts val="0"/>
              </a:spcAft>
              <a:defRPr sz="1200" smtClean="0">
                <a:solidFill>
                  <a:schemeClr val="tx1">
                    <a:tint val="75000"/>
                  </a:schemeClr>
                </a:solidFill>
                <a:latin typeface="+mn-lt"/>
              </a:defRPr>
            </a:lvl1pPr>
          </a:lstStyle>
          <a:p>
            <a:pPr>
              <a:defRPr/>
            </a:pPr>
            <a:fld id="{56FC186E-91B7-4406-8DD2-7FA45BC26B8D}" type="datetimeFigureOut">
              <a:rPr lang="en-IN"/>
              <a:pPr>
                <a:defRPr/>
              </a:pPr>
              <a:t>21-10-2026</a:t>
            </a:fld>
            <a:endParaRPr lang="en-IN"/>
          </a:p>
        </p:txBody>
      </p:sp>
      <p:sp>
        <p:nvSpPr>
          <p:cNvPr id="5" name="Footer Placeholder 4">
            <a:extLst>
              <a:ext uri="{FF2B5EF4-FFF2-40B4-BE49-F238E27FC236}">
                <a16:creationId xmlns:a16="http://schemas.microsoft.com/office/drawing/2014/main" id="{E7EC5995-DA19-2581-A97B-D4AF3C1DEBF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eaLnBrk="1" fontAlgn="auto" hangingPunct="1">
              <a:spcBef>
                <a:spcPts val="0"/>
              </a:spcBef>
              <a:spcAft>
                <a:spcPts val="0"/>
              </a:spcAft>
              <a:defRPr sz="1200" smtClean="0">
                <a:solidFill>
                  <a:schemeClr val="tx1">
                    <a:tint val="75000"/>
                  </a:schemeClr>
                </a:solidFill>
                <a:latin typeface="+mn-lt"/>
              </a:defRPr>
            </a:lvl1pPr>
          </a:lstStyle>
          <a:p>
            <a:pPr>
              <a:defRPr/>
            </a:pPr>
            <a:endParaRPr lang="en-IN"/>
          </a:p>
        </p:txBody>
      </p:sp>
      <p:sp>
        <p:nvSpPr>
          <p:cNvPr id="6" name="Slide Number Placeholder 5">
            <a:extLst>
              <a:ext uri="{FF2B5EF4-FFF2-40B4-BE49-F238E27FC236}">
                <a16:creationId xmlns:a16="http://schemas.microsoft.com/office/drawing/2014/main" id="{2301C115-BF44-F06F-0DA9-97C7CB2B4555}"/>
              </a:ext>
            </a:extLst>
          </p:cNvPr>
          <p:cNvSpPr>
            <a:spLocks noGrp="1"/>
          </p:cNvSpPr>
          <p:nvPr>
            <p:ph type="sldNum" sz="quarter" idx="4"/>
          </p:nvPr>
        </p:nvSpPr>
        <p:spPr>
          <a:xfrm>
            <a:off x="8610600" y="6356350"/>
            <a:ext cx="27432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a:solidFill>
                  <a:srgbClr val="898989"/>
                </a:solidFill>
              </a:defRPr>
            </a:lvl1pPr>
          </a:lstStyle>
          <a:p>
            <a:fld id="{8A6B9558-3AD6-4CBA-ADFB-2C5114C02E98}" type="slidenum">
              <a:rPr lang="en-IN" altLang="en-US"/>
              <a:pPr/>
              <a:t>‹#›</a:t>
            </a:fld>
            <a:endParaRPr lang="en-I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rtl="0" fontAlgn="base">
        <a:lnSpc>
          <a:spcPct val="90000"/>
        </a:lnSpc>
        <a:spcBef>
          <a:spcPct val="0"/>
        </a:spcBef>
        <a:spcAft>
          <a:spcPct val="0"/>
        </a:spcAft>
        <a:defRPr sz="4400" kern="1200">
          <a:solidFill>
            <a:schemeClr val="tx1"/>
          </a:solidFill>
          <a:latin typeface="+mj-lt"/>
          <a:ea typeface="+mj-ea"/>
          <a:cs typeface="+mj-cs"/>
        </a:defRPr>
      </a:lvl1pPr>
      <a:lvl2pPr algn="l" rtl="0" fontAlgn="base">
        <a:lnSpc>
          <a:spcPct val="90000"/>
        </a:lnSpc>
        <a:spcBef>
          <a:spcPct val="0"/>
        </a:spcBef>
        <a:spcAft>
          <a:spcPct val="0"/>
        </a:spcAft>
        <a:defRPr sz="4400">
          <a:solidFill>
            <a:schemeClr val="tx1"/>
          </a:solidFill>
          <a:latin typeface="Calibri Light" panose="020F0302020204030204" pitchFamily="34" charset="0"/>
        </a:defRPr>
      </a:lvl2pPr>
      <a:lvl3pPr algn="l" rtl="0" fontAlgn="base">
        <a:lnSpc>
          <a:spcPct val="90000"/>
        </a:lnSpc>
        <a:spcBef>
          <a:spcPct val="0"/>
        </a:spcBef>
        <a:spcAft>
          <a:spcPct val="0"/>
        </a:spcAft>
        <a:defRPr sz="4400">
          <a:solidFill>
            <a:schemeClr val="tx1"/>
          </a:solidFill>
          <a:latin typeface="Calibri Light" panose="020F0302020204030204" pitchFamily="34" charset="0"/>
        </a:defRPr>
      </a:lvl3pPr>
      <a:lvl4pPr algn="l" rtl="0" fontAlgn="base">
        <a:lnSpc>
          <a:spcPct val="90000"/>
        </a:lnSpc>
        <a:spcBef>
          <a:spcPct val="0"/>
        </a:spcBef>
        <a:spcAft>
          <a:spcPct val="0"/>
        </a:spcAft>
        <a:defRPr sz="4400">
          <a:solidFill>
            <a:schemeClr val="tx1"/>
          </a:solidFill>
          <a:latin typeface="Calibri Light" panose="020F0302020204030204" pitchFamily="34" charset="0"/>
        </a:defRPr>
      </a:lvl4pPr>
      <a:lvl5pPr algn="l" rtl="0" fontAlgn="base">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p:titleStyle>
    <p:body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jpg"/><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3.xml"/><Relationship Id="rId6" Type="http://schemas.openxmlformats.org/officeDocument/2006/relationships/image" Target="../media/image6.png"/><Relationship Id="rId7" Type="http://schemas.openxmlformats.org/officeDocument/2006/relationships/image" Target="../media/image7.png"/><Relationship Id="rId8" Type="http://schemas.openxmlformats.org/officeDocument/2006/relationships/image" Target="../media/image8.png"/><Relationship Id="rId9" Type="http://schemas.openxmlformats.org/officeDocument/2006/relationships/image" Target="../media/image9.png"/><Relationship Id="rId10" Type="http://schemas.openxmlformats.org/officeDocument/2006/relationships/image" Target="../media/image1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6.xml"/><Relationship Id="rId6" Type="http://schemas.openxmlformats.org/officeDocument/2006/relationships/image" Target="../media/image11.png"/><Relationship Id="rId7" Type="http://schemas.openxmlformats.org/officeDocument/2006/relationships/image" Target="../media/image9.png"/><Relationship Id="rId8" Type="http://schemas.openxmlformats.org/officeDocument/2006/relationships/image" Target="../media/image1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8.xml"/><Relationship Id="rId6" Type="http://schemas.openxmlformats.org/officeDocument/2006/relationships/image" Target="../media/image13.png"/><Relationship Id="rId7" Type="http://schemas.openxmlformats.org/officeDocument/2006/relationships/image" Target="../media/image14.png"/><Relationship Id="rId8" Type="http://schemas.openxmlformats.org/officeDocument/2006/relationships/chart" Target="../charts/char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9.xml"/><Relationship Id="rId6" Type="http://schemas.openxmlformats.org/officeDocument/2006/relationships/image" Target="../media/image15.png"/><Relationship Id="rId7" Type="http://schemas.openxmlformats.org/officeDocument/2006/relationships/image" Target="../media/image16.png"/><Relationship Id="rId8" Type="http://schemas.openxmlformats.org/officeDocument/2006/relationships/image" Target="../media/image1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10.xml"/><Relationship Id="rId6" Type="http://schemas.openxmlformats.org/officeDocument/2006/relationships/image" Target="../media/image18.png"/><Relationship Id="rId7" Type="http://schemas.openxmlformats.org/officeDocument/2006/relationships/image" Target="../media/image19.png"/><Relationship Id="rId8" Type="http://schemas.openxmlformats.org/officeDocument/2006/relationships/image" Target="../media/image2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itle 1">
            <a:extLst>
              <a:ext uri="{FF2B5EF4-FFF2-40B4-BE49-F238E27FC236}">
                <a16:creationId xmlns:a16="http://schemas.microsoft.com/office/drawing/2014/main" id="{9E7EAE40-3444-456D-AE5B-C4C0487F7B0E}"/>
              </a:ext>
            </a:extLst>
          </p:cNvPr>
          <p:cNvSpPr>
            <a:spLocks noGrp="1"/>
          </p:cNvSpPr>
          <p:nvPr>
            <p:ph type="ctrTitle"/>
          </p:nvPr>
        </p:nvSpPr>
        <p:spPr>
          <a:xfrm>
            <a:off x="508000" y="3124200"/>
            <a:ext cx="6350000" cy="1219200"/>
          </a:xfrm>
        </p:spPr>
        <p:txBody>
          <a:bodyPr lIns="0" rIns="0" tIns="0" bIns="0" wrap="square" anchor="t"/>
          <a:lstStyle/>
          <a:p>
            <a:pPr algn="l"/>
            <a:r>
              <a:rPr sz="3800" b="1" i="0">
                <a:solidFill>
                  <a:srgbClr val="17324D"/>
                </a:solidFill>
                <a:latin typeface="Calibri"/>
              </a:rPr>
              <a:t>Finding approved drugs that copy exercise</a:t>
            </a:r>
          </a:p>
        </p:txBody>
      </p:sp>
      <p:sp>
        <p:nvSpPr>
          <p:cNvPr id="2051" name="Subtitle 2">
            <a:extLst>
              <a:ext uri="{FF2B5EF4-FFF2-40B4-BE49-F238E27FC236}">
                <a16:creationId xmlns:a16="http://schemas.microsoft.com/office/drawing/2014/main" id="{DC5AC661-DEED-D58A-3F98-D3763E7B977B}"/>
              </a:ext>
            </a:extLst>
          </p:cNvPr>
          <p:cNvSpPr>
            <a:spLocks noGrp="1"/>
          </p:cNvSpPr>
          <p:nvPr>
            <p:ph type="subTitle" idx="1"/>
          </p:nvPr>
        </p:nvSpPr>
        <p:spPr>
          <a:xfrm>
            <a:off x="508000" y="4419600"/>
            <a:ext cx="6350000" cy="330200"/>
          </a:xfrm>
        </p:spPr>
        <p:txBody>
          <a:bodyPr lIns="0" rIns="0" tIns="0" bIns="0"/>
          <a:lstStyle/>
          <a:p>
            <a:pPr algn="l"/>
            <a:r>
              <a:rPr sz="1900" b="0" i="0">
                <a:solidFill>
                  <a:srgbClr val="2D6485"/>
                </a:solidFill>
                <a:latin typeface="Calibri"/>
              </a:rPr>
              <a:t>A human-data, AI-powered screen of 29,680 compounds</a:t>
            </a:r>
          </a:p>
        </p:txBody>
      </p:sp>
      <p:pic>
        <p:nvPicPr>
          <p:cNvPr id="2052" name="Picture 3">
            <a:extLst>
              <a:ext uri="{FF2B5EF4-FFF2-40B4-BE49-F238E27FC236}">
                <a16:creationId xmlns:a16="http://schemas.microsoft.com/office/drawing/2014/main" id="{378F6D54-6499-75C5-2592-C5AB0BDD5E46}"/>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8847138" y="-542925"/>
            <a:ext cx="3848100" cy="2165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53" name="Picture 5">
            <a:extLst>
              <a:ext uri="{FF2B5EF4-FFF2-40B4-BE49-F238E27FC236}">
                <a16:creationId xmlns:a16="http://schemas.microsoft.com/office/drawing/2014/main" id="{9A04B610-E394-4B99-2A07-DD2268AD1720}"/>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0975975" y="5761038"/>
            <a:ext cx="1096963" cy="1096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54" name="Picture 6">
            <a:extLst>
              <a:ext uri="{FF2B5EF4-FFF2-40B4-BE49-F238E27FC236}">
                <a16:creationId xmlns:a16="http://schemas.microsoft.com/office/drawing/2014/main" id="{1CDC6573-5491-7E9F-218F-A7B51A6D63C6}"/>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85738" y="211138"/>
            <a:ext cx="2352675" cy="611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55" name="TextBox 2054"/>
          <p:cNvSpPr txBox="1"/>
          <p:nvPr/>
        </p:nvSpPr>
        <p:spPr>
          <a:xfrm>
            <a:off x="508000" y="1422400"/>
            <a:ext cx="6350000" cy="203200"/>
          </a:xfrm>
          <a:prstGeom prst="rect">
            <a:avLst/>
          </a:prstGeom>
          <a:noFill/>
        </p:spPr>
        <p:txBody>
          <a:bodyPr wrap="square" lIns="0" rIns="0" tIns="0" bIns="0" anchor="t">
            <a:spAutoFit/>
          </a:bodyPr>
          <a:lstStyle/>
          <a:p>
            <a:pPr algn="l">
              <a:spcAft>
                <a:spcPts val="0"/>
              </a:spcAft>
            </a:pPr>
            <a:r>
              <a:rPr sz="1100" b="1" i="0">
                <a:solidFill>
                  <a:srgbClr val="C2603F"/>
                </a:solidFill>
                <a:latin typeface="Calibri"/>
              </a:rPr>
              <a:t>TEJAS 2026 GRAND FINALE  ·  AI FOR DRUG DISCOVERY &amp; PERSONALIZED MEDICINE</a:t>
            </a:r>
          </a:p>
        </p:txBody>
      </p:sp>
      <p:pic>
        <p:nvPicPr>
          <p:cNvPr id="2056" name="Picture 2055" descr="synthera-logo-light.png"/>
          <p:cNvPicPr>
            <a:picLocks noChangeAspect="1"/>
          </p:cNvPicPr>
          <p:nvPr/>
        </p:nvPicPr>
        <p:blipFill>
          <a:blip r:embed="rId5"/>
          <a:stretch>
            <a:fillRect/>
          </a:stretch>
        </p:blipFill>
        <p:spPr>
          <a:xfrm>
            <a:off x="279400" y="1676400"/>
            <a:ext cx="4191000" cy="1361543"/>
          </a:xfrm>
          <a:prstGeom prst="rect">
            <a:avLst/>
          </a:prstGeom>
        </p:spPr>
      </p:pic>
      <p:sp>
        <p:nvSpPr>
          <p:cNvPr id="2057" name="TextBox 2056"/>
          <p:cNvSpPr txBox="1"/>
          <p:nvPr/>
        </p:nvSpPr>
        <p:spPr>
          <a:xfrm>
            <a:off x="508000" y="5080000"/>
            <a:ext cx="6604000" cy="1016000"/>
          </a:xfrm>
          <a:prstGeom prst="rect">
            <a:avLst/>
          </a:prstGeom>
          <a:noFill/>
        </p:spPr>
        <p:txBody>
          <a:bodyPr wrap="square" lIns="0" rIns="0" tIns="0" bIns="0" anchor="t">
            <a:spAutoFit/>
          </a:bodyPr>
          <a:lstStyle/>
          <a:p>
            <a:pPr algn="l">
              <a:spcAft>
                <a:spcPts val="600"/>
              </a:spcAft>
            </a:pPr>
            <a:r>
              <a:rPr sz="1500" b="1" i="0">
                <a:solidFill>
                  <a:srgbClr val="17324D"/>
                </a:solidFill>
                <a:latin typeface="Calibri"/>
              </a:rPr>
              <a:t>Team TEJAS019</a:t>
            </a:r>
            <a:r>
              <a:rPr sz="1300" b="0" i="0">
                <a:solidFill>
                  <a:srgbClr val="5B6B7A"/>
                </a:solidFill>
                <a:latin typeface="Calibri"/>
              </a:rPr>
              <a:t>  ·  SASTRA Deemed University, B.Tech Bioinformatics</a:t>
            </a:r>
          </a:p>
          <a:p>
            <a:pPr algn="l">
              <a:spcAft>
                <a:spcPts val="600"/>
              </a:spcAft>
            </a:pPr>
            <a:r>
              <a:rPr sz="1400" b="0" i="0">
                <a:solidFill>
                  <a:srgbClr val="1F2A36"/>
                </a:solidFill>
                <a:latin typeface="Calibri"/>
              </a:rPr>
              <a:t>Jahnavi Sai G (Team Leader)  ·  Prince Kumar  ·  Apurva V  ·  Priyanka G  ·  Vishnupriya K</a:t>
            </a:r>
          </a:p>
        </p:txBody>
      </p:sp>
      <p:pic>
        <p:nvPicPr>
          <p:cNvPr id="2058" name="Picture 2057" descr="hero.jpg"/>
          <p:cNvPicPr>
            <a:picLocks noChangeAspect="1"/>
          </p:cNvPicPr>
          <p:nvPr/>
        </p:nvPicPr>
        <p:blipFill>
          <a:blip r:embed="rId6"/>
          <a:stretch>
            <a:fillRect/>
          </a:stretch>
        </p:blipFill>
        <p:spPr>
          <a:xfrm>
            <a:off x="7188200" y="1092200"/>
            <a:ext cx="3367889" cy="4724400"/>
          </a:xfrm>
          <a:prstGeom prst="roundRect">
            <a:avLst>
              <a:gd name="adj" fmla="val 4000"/>
            </a:avLst>
          </a:prstGeom>
          <a:ln w="12700">
            <a:solidFill>
              <a:srgbClr val="D8E0E7"/>
            </a:solidFill>
          </a:ln>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8000" y="914400"/>
            <a:ext cx="10160000" cy="558800"/>
          </a:xfrm>
        </p:spPr>
        <p:txBody>
          <a:bodyPr lIns="0" rIns="0" tIns="0" bIns="0" anchor="ctr" wrap="square"/>
          <a:lstStyle/>
          <a:p>
            <a:pPr algn="l"/>
            <a:r>
              <a:rPr sz="3000" b="1" i="0">
                <a:solidFill>
                  <a:srgbClr val="17324D"/>
                </a:solidFill>
                <a:latin typeface="Calibri"/>
              </a:rPr>
              <a:t>Exercise is medicine, but millions cannot take it</a:t>
            </a:r>
          </a:p>
        </p:txBody>
      </p:sp>
      <p:pic>
        <p:nvPicPr>
          <p:cNvPr id="2052" name="Picture 3">
            <a:extLst>
              <a:ext uri="{FF2B5EF4-FFF2-40B4-BE49-F238E27FC236}">
                <a16:creationId xmlns:a16="http://schemas.microsoft.com/office/drawing/2014/main" id="{378F6D54-6499-75C5-2592-C5AB0BDD5E46}"/>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8847138" y="-542925"/>
            <a:ext cx="3848100" cy="2165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53" name="Picture 5">
            <a:extLst>
              <a:ext uri="{FF2B5EF4-FFF2-40B4-BE49-F238E27FC236}">
                <a16:creationId xmlns:a16="http://schemas.microsoft.com/office/drawing/2014/main" id="{9A04B610-E394-4B99-2A07-DD2268AD1720}"/>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0975975" y="5761038"/>
            <a:ext cx="1096963" cy="1096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54" name="Picture 6">
            <a:extLst>
              <a:ext uri="{FF2B5EF4-FFF2-40B4-BE49-F238E27FC236}">
                <a16:creationId xmlns:a16="http://schemas.microsoft.com/office/drawing/2014/main" id="{1CDC6573-5491-7E9F-218F-A7B51A6D63C6}"/>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85738" y="211138"/>
            <a:ext cx="2352675" cy="611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55" name="Lead"/>
          <p:cNvSpPr txBox="1"/>
          <p:nvPr/>
        </p:nvSpPr>
        <p:spPr>
          <a:xfrm>
            <a:off x="508000" y="1498600"/>
            <a:ext cx="10160000" cy="279400"/>
          </a:xfrm>
          <a:prstGeom prst="rect">
            <a:avLst/>
          </a:prstGeom>
          <a:noFill/>
        </p:spPr>
        <p:txBody>
          <a:bodyPr wrap="square" lIns="0" rIns="0" tIns="0" bIns="0" anchor="t">
            <a:spAutoFit/>
          </a:bodyPr>
          <a:lstStyle/>
          <a:p>
            <a:pPr algn="l">
              <a:spcAft>
                <a:spcPts val="0"/>
              </a:spcAft>
            </a:pPr>
            <a:r>
              <a:rPr sz="1600" b="0" i="0">
                <a:solidFill>
                  <a:srgbClr val="5B6B7A"/>
                </a:solidFill>
                <a:latin typeface="Calibri"/>
              </a:rPr>
              <a:t>Exercise lowers the risk of almost every chronic disease. For many patients it is impossible.</a:t>
            </a:r>
          </a:p>
        </p:txBody>
      </p:sp>
      <p:sp>
        <p:nvSpPr>
          <p:cNvPr id="2056" name="Footer"/>
          <p:cNvSpPr txBox="1"/>
          <p:nvPr/>
        </p:nvSpPr>
        <p:spPr>
          <a:xfrm>
            <a:off x="508000" y="6515100"/>
            <a:ext cx="3810000" cy="177800"/>
          </a:xfrm>
          <a:prstGeom prst="rect">
            <a:avLst/>
          </a:prstGeom>
          <a:noFill/>
        </p:spPr>
        <p:txBody>
          <a:bodyPr wrap="square" lIns="0" rIns="0" tIns="0" bIns="0" anchor="t">
            <a:spAutoFit/>
          </a:bodyPr>
          <a:lstStyle/>
          <a:p>
            <a:pPr algn="l">
              <a:spcAft>
                <a:spcPts val="0"/>
              </a:spcAft>
            </a:pPr>
            <a:r>
              <a:rPr sz="1000" b="1" i="0">
                <a:solidFill>
                  <a:srgbClr val="17324D"/>
                </a:solidFill>
                <a:latin typeface="Calibri"/>
              </a:rPr>
              <a:t>TEAM TEJAS019 · SynThera</a:t>
            </a:r>
            <a:r>
              <a:rPr sz="1000" b="0" i="0">
                <a:solidFill>
                  <a:srgbClr val="5B6B7A"/>
                </a:solidFill>
                <a:latin typeface="Calibri"/>
              </a:rPr>
              <a:t>    2 / 10</a:t>
            </a:r>
          </a:p>
        </p:txBody>
      </p:sp>
      <p:sp>
        <p:nvSpPr>
          <p:cNvPr id="2057" name="Stat card"/>
          <p:cNvSpPr/>
          <p:nvPr/>
        </p:nvSpPr>
        <p:spPr>
          <a:xfrm>
            <a:off x="508000" y="1930400"/>
            <a:ext cx="5207000" cy="1905000"/>
          </a:xfrm>
          <a:prstGeom prst="roundRect">
            <a:avLst>
              <a:gd name="adj" fmla="val 6000"/>
            </a:avLst>
          </a:prstGeom>
          <a:solidFill>
            <a:srgbClr val="FBE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58" name="TextBox 2057"/>
          <p:cNvSpPr txBox="1"/>
          <p:nvPr/>
        </p:nvSpPr>
        <p:spPr>
          <a:xfrm>
            <a:off x="762000" y="2082800"/>
            <a:ext cx="4826000" cy="762000"/>
          </a:xfrm>
          <a:prstGeom prst="rect">
            <a:avLst/>
          </a:prstGeom>
          <a:noFill/>
        </p:spPr>
        <p:txBody>
          <a:bodyPr wrap="square" lIns="0" rIns="0" tIns="0" bIns="0" anchor="t">
            <a:spAutoFit/>
          </a:bodyPr>
          <a:lstStyle/>
          <a:p>
            <a:pPr algn="l">
              <a:spcAft>
                <a:spcPts val="0"/>
              </a:spcAft>
            </a:pPr>
            <a:r>
              <a:rPr sz="5000" b="1" i="0">
                <a:solidFill>
                  <a:srgbClr val="C2603F"/>
                </a:solidFill>
                <a:latin typeface="Calibri"/>
              </a:rPr>
              <a:t>1.8 billion</a:t>
            </a:r>
          </a:p>
        </p:txBody>
      </p:sp>
      <p:sp>
        <p:nvSpPr>
          <p:cNvPr id="2059" name="TextBox 2058"/>
          <p:cNvSpPr txBox="1"/>
          <p:nvPr/>
        </p:nvSpPr>
        <p:spPr>
          <a:xfrm>
            <a:off x="762000" y="2895600"/>
            <a:ext cx="4762500" cy="558800"/>
          </a:xfrm>
          <a:prstGeom prst="rect">
            <a:avLst/>
          </a:prstGeom>
          <a:noFill/>
        </p:spPr>
        <p:txBody>
          <a:bodyPr wrap="square" lIns="0" rIns="0" tIns="0" bIns="0" anchor="t">
            <a:spAutoFit/>
          </a:bodyPr>
          <a:lstStyle/>
          <a:p>
            <a:pPr algn="l">
              <a:spcAft>
                <a:spcPts val="0"/>
              </a:spcAft>
            </a:pPr>
            <a:r>
              <a:rPr sz="1500" b="0" i="0">
                <a:solidFill>
                  <a:srgbClr val="1F2A36"/>
                </a:solidFill>
                <a:latin typeface="Calibri"/>
              </a:rPr>
              <a:t>adults worldwide (31%) are not active enough. In South Asia it is 45%.</a:t>
            </a:r>
          </a:p>
        </p:txBody>
      </p:sp>
      <p:sp>
        <p:nvSpPr>
          <p:cNvPr id="2060" name="TextBox 2059"/>
          <p:cNvSpPr txBox="1"/>
          <p:nvPr/>
        </p:nvSpPr>
        <p:spPr>
          <a:xfrm>
            <a:off x="762000" y="3530600"/>
            <a:ext cx="4762500" cy="177800"/>
          </a:xfrm>
          <a:prstGeom prst="rect">
            <a:avLst/>
          </a:prstGeom>
          <a:noFill/>
        </p:spPr>
        <p:txBody>
          <a:bodyPr wrap="square" lIns="0" rIns="0" tIns="0" bIns="0" anchor="t">
            <a:spAutoFit/>
          </a:bodyPr>
          <a:lstStyle/>
          <a:p>
            <a:pPr algn="l">
              <a:spcAft>
                <a:spcPts val="0"/>
              </a:spcAft>
            </a:pPr>
            <a:r>
              <a:rPr sz="1000" b="0" i="0">
                <a:solidFill>
                  <a:srgbClr val="5B6B7A"/>
                </a:solidFill>
                <a:latin typeface="Calibri"/>
              </a:rPr>
              <a:t>WHO, 2024 release (2022 data)</a:t>
            </a:r>
          </a:p>
        </p:txBody>
      </p:sp>
      <p:sp>
        <p:nvSpPr>
          <p:cNvPr id="2061" name="TextBox 2060"/>
          <p:cNvSpPr txBox="1"/>
          <p:nvPr/>
        </p:nvSpPr>
        <p:spPr>
          <a:xfrm>
            <a:off x="508000" y="4038600"/>
            <a:ext cx="5207000" cy="254000"/>
          </a:xfrm>
          <a:prstGeom prst="rect">
            <a:avLst/>
          </a:prstGeom>
          <a:noFill/>
        </p:spPr>
        <p:txBody>
          <a:bodyPr wrap="square" lIns="0" rIns="0" tIns="0" bIns="0" anchor="t">
            <a:spAutoFit/>
          </a:bodyPr>
          <a:lstStyle/>
          <a:p>
            <a:pPr algn="l">
              <a:spcAft>
                <a:spcPts val="0"/>
              </a:spcAft>
            </a:pPr>
            <a:r>
              <a:rPr sz="1500" b="1" i="0">
                <a:solidFill>
                  <a:srgbClr val="17324D"/>
                </a:solidFill>
                <a:latin typeface="Calibri"/>
              </a:rPr>
              <a:t>Patients who cannot exercise at all</a:t>
            </a:r>
          </a:p>
        </p:txBody>
      </p:sp>
      <p:sp>
        <p:nvSpPr>
          <p:cNvPr id="2062" name="Rounded Rectangle 2061"/>
          <p:cNvSpPr/>
          <p:nvPr/>
        </p:nvSpPr>
        <p:spPr>
          <a:xfrm>
            <a:off x="508000" y="4394200"/>
            <a:ext cx="2540000" cy="406400"/>
          </a:xfrm>
          <a:prstGeom prst="roundRect">
            <a:avLst>
              <a:gd name="adj" fmla="val 6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63" name="TextBox 2062"/>
          <p:cNvSpPr txBox="1"/>
          <p:nvPr/>
        </p:nvSpPr>
        <p:spPr>
          <a:xfrm>
            <a:off x="660400" y="4394200"/>
            <a:ext cx="2286000" cy="406400"/>
          </a:xfrm>
          <a:prstGeom prst="rect">
            <a:avLst/>
          </a:prstGeom>
          <a:noFill/>
        </p:spPr>
        <p:txBody>
          <a:bodyPr wrap="square" lIns="0" rIns="0" tIns="0" bIns="0" anchor="ctr">
            <a:spAutoFit/>
          </a:bodyPr>
          <a:lstStyle/>
          <a:p>
            <a:pPr algn="l">
              <a:spcAft>
                <a:spcPts val="0"/>
              </a:spcAft>
            </a:pPr>
            <a:r>
              <a:rPr sz="1400" b="0" i="0">
                <a:solidFill>
                  <a:srgbClr val="1F2A36"/>
                </a:solidFill>
                <a:latin typeface="Calibri"/>
              </a:rPr>
              <a:t>Spinal cord injury</a:t>
            </a:r>
          </a:p>
        </p:txBody>
      </p:sp>
      <p:sp>
        <p:nvSpPr>
          <p:cNvPr id="2064" name="Rounded Rectangle 2063"/>
          <p:cNvSpPr/>
          <p:nvPr/>
        </p:nvSpPr>
        <p:spPr>
          <a:xfrm>
            <a:off x="3175000" y="4394200"/>
            <a:ext cx="2540000" cy="406400"/>
          </a:xfrm>
          <a:prstGeom prst="roundRect">
            <a:avLst>
              <a:gd name="adj" fmla="val 6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65" name="TextBox 2064"/>
          <p:cNvSpPr txBox="1"/>
          <p:nvPr/>
        </p:nvSpPr>
        <p:spPr>
          <a:xfrm>
            <a:off x="3327400" y="4394200"/>
            <a:ext cx="2286000" cy="406400"/>
          </a:xfrm>
          <a:prstGeom prst="rect">
            <a:avLst/>
          </a:prstGeom>
          <a:noFill/>
        </p:spPr>
        <p:txBody>
          <a:bodyPr wrap="square" lIns="0" rIns="0" tIns="0" bIns="0" anchor="ctr">
            <a:spAutoFit/>
          </a:bodyPr>
          <a:lstStyle/>
          <a:p>
            <a:pPr algn="l">
              <a:spcAft>
                <a:spcPts val="0"/>
              </a:spcAft>
            </a:pPr>
            <a:r>
              <a:rPr sz="1400" b="0" i="0">
                <a:solidFill>
                  <a:srgbClr val="1F2A36"/>
                </a:solidFill>
                <a:latin typeface="Calibri"/>
              </a:rPr>
              <a:t>Advanced heart failure</a:t>
            </a:r>
          </a:p>
        </p:txBody>
      </p:sp>
      <p:sp>
        <p:nvSpPr>
          <p:cNvPr id="2066" name="Rounded Rectangle 2065"/>
          <p:cNvSpPr/>
          <p:nvPr/>
        </p:nvSpPr>
        <p:spPr>
          <a:xfrm>
            <a:off x="508000" y="4902200"/>
            <a:ext cx="2540000" cy="406400"/>
          </a:xfrm>
          <a:prstGeom prst="roundRect">
            <a:avLst>
              <a:gd name="adj" fmla="val 6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67" name="TextBox 2066"/>
          <p:cNvSpPr txBox="1"/>
          <p:nvPr/>
        </p:nvSpPr>
        <p:spPr>
          <a:xfrm>
            <a:off x="660400" y="4902200"/>
            <a:ext cx="2286000" cy="406400"/>
          </a:xfrm>
          <a:prstGeom prst="rect">
            <a:avLst/>
          </a:prstGeom>
          <a:noFill/>
        </p:spPr>
        <p:txBody>
          <a:bodyPr wrap="square" lIns="0" rIns="0" tIns="0" bIns="0" anchor="ctr">
            <a:spAutoFit/>
          </a:bodyPr>
          <a:lstStyle/>
          <a:p>
            <a:pPr algn="l">
              <a:spcAft>
                <a:spcPts val="0"/>
              </a:spcAft>
            </a:pPr>
            <a:r>
              <a:rPr sz="1400" b="0" i="0">
                <a:solidFill>
                  <a:srgbClr val="1F2A36"/>
                </a:solidFill>
                <a:latin typeface="Calibri"/>
              </a:rPr>
              <a:t>Intensive care &amp; surgery</a:t>
            </a:r>
          </a:p>
        </p:txBody>
      </p:sp>
      <p:sp>
        <p:nvSpPr>
          <p:cNvPr id="2068" name="Rounded Rectangle 2067"/>
          <p:cNvSpPr/>
          <p:nvPr/>
        </p:nvSpPr>
        <p:spPr>
          <a:xfrm>
            <a:off x="3175000" y="4902200"/>
            <a:ext cx="2540000" cy="406400"/>
          </a:xfrm>
          <a:prstGeom prst="roundRect">
            <a:avLst>
              <a:gd name="adj" fmla="val 6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69" name="TextBox 2068"/>
          <p:cNvSpPr txBox="1"/>
          <p:nvPr/>
        </p:nvSpPr>
        <p:spPr>
          <a:xfrm>
            <a:off x="3327400" y="4902200"/>
            <a:ext cx="2286000" cy="406400"/>
          </a:xfrm>
          <a:prstGeom prst="rect">
            <a:avLst/>
          </a:prstGeom>
          <a:noFill/>
        </p:spPr>
        <p:txBody>
          <a:bodyPr wrap="square" lIns="0" rIns="0" tIns="0" bIns="0" anchor="ctr">
            <a:spAutoFit/>
          </a:bodyPr>
          <a:lstStyle/>
          <a:p>
            <a:pPr algn="l">
              <a:spcAft>
                <a:spcPts val="0"/>
              </a:spcAft>
            </a:pPr>
            <a:r>
              <a:rPr sz="1400" b="0" i="0">
                <a:solidFill>
                  <a:srgbClr val="1F2A36"/>
                </a:solidFill>
                <a:latin typeface="Calibri"/>
              </a:rPr>
              <a:t>Cancer cachexia</a:t>
            </a:r>
          </a:p>
        </p:txBody>
      </p:sp>
      <p:sp>
        <p:nvSpPr>
          <p:cNvPr id="2070" name="Rounded Rectangle 2069"/>
          <p:cNvSpPr/>
          <p:nvPr/>
        </p:nvSpPr>
        <p:spPr>
          <a:xfrm>
            <a:off x="508000" y="5410200"/>
            <a:ext cx="2540000" cy="406400"/>
          </a:xfrm>
          <a:prstGeom prst="roundRect">
            <a:avLst>
              <a:gd name="adj" fmla="val 6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71" name="TextBox 2070"/>
          <p:cNvSpPr txBox="1"/>
          <p:nvPr/>
        </p:nvSpPr>
        <p:spPr>
          <a:xfrm>
            <a:off x="660400" y="5410200"/>
            <a:ext cx="2286000" cy="406400"/>
          </a:xfrm>
          <a:prstGeom prst="rect">
            <a:avLst/>
          </a:prstGeom>
          <a:noFill/>
        </p:spPr>
        <p:txBody>
          <a:bodyPr wrap="square" lIns="0" rIns="0" tIns="0" bIns="0" anchor="ctr">
            <a:spAutoFit/>
          </a:bodyPr>
          <a:lstStyle/>
          <a:p>
            <a:pPr algn="l">
              <a:spcAft>
                <a:spcPts val="0"/>
              </a:spcAft>
            </a:pPr>
            <a:r>
              <a:rPr sz="1400" b="0" i="0">
                <a:solidFill>
                  <a:srgbClr val="1F2A36"/>
                </a:solidFill>
                <a:latin typeface="Calibri"/>
              </a:rPr>
              <a:t>Frail elderly</a:t>
            </a:r>
          </a:p>
        </p:txBody>
      </p:sp>
      <p:sp>
        <p:nvSpPr>
          <p:cNvPr id="2072" name="Rounded Rectangle 2071"/>
          <p:cNvSpPr/>
          <p:nvPr/>
        </p:nvSpPr>
        <p:spPr>
          <a:xfrm>
            <a:off x="3175000" y="5410200"/>
            <a:ext cx="2540000" cy="406400"/>
          </a:xfrm>
          <a:prstGeom prst="roundRect">
            <a:avLst>
              <a:gd name="adj" fmla="val 6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73" name="TextBox 2072"/>
          <p:cNvSpPr txBox="1"/>
          <p:nvPr/>
        </p:nvSpPr>
        <p:spPr>
          <a:xfrm>
            <a:off x="3327400" y="5410200"/>
            <a:ext cx="2286000" cy="406400"/>
          </a:xfrm>
          <a:prstGeom prst="rect">
            <a:avLst/>
          </a:prstGeom>
          <a:noFill/>
        </p:spPr>
        <p:txBody>
          <a:bodyPr wrap="square" lIns="0" rIns="0" tIns="0" bIns="0" anchor="ctr">
            <a:spAutoFit/>
          </a:bodyPr>
          <a:lstStyle/>
          <a:p>
            <a:pPr algn="l">
              <a:spcAft>
                <a:spcPts val="0"/>
              </a:spcAft>
            </a:pPr>
            <a:r>
              <a:rPr sz="1400" b="0" i="0">
                <a:solidFill>
                  <a:srgbClr val="1F2A36"/>
                </a:solidFill>
                <a:latin typeface="Calibri"/>
              </a:rPr>
              <a:t>Long bed rest</a:t>
            </a:r>
          </a:p>
        </p:txBody>
      </p:sp>
      <p:sp>
        <p:nvSpPr>
          <p:cNvPr id="2074" name="Gap card"/>
          <p:cNvSpPr/>
          <p:nvPr/>
        </p:nvSpPr>
        <p:spPr>
          <a:xfrm>
            <a:off x="6096000" y="1930400"/>
            <a:ext cx="4699000" cy="3657600"/>
          </a:xfrm>
          <a:prstGeom prst="roundRect">
            <a:avLst>
              <a:gd name="adj" fmla="val 6000"/>
            </a:avLst>
          </a:prstGeom>
          <a:solidFill>
            <a:srgbClr val="173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75" name="TextBox 2074"/>
          <p:cNvSpPr txBox="1"/>
          <p:nvPr/>
        </p:nvSpPr>
        <p:spPr>
          <a:xfrm>
            <a:off x="6400800" y="2184400"/>
            <a:ext cx="4089400" cy="228600"/>
          </a:xfrm>
          <a:prstGeom prst="rect">
            <a:avLst/>
          </a:prstGeom>
          <a:noFill/>
        </p:spPr>
        <p:txBody>
          <a:bodyPr wrap="square" lIns="0" rIns="0" tIns="0" bIns="0" anchor="t">
            <a:spAutoFit/>
          </a:bodyPr>
          <a:lstStyle/>
          <a:p>
            <a:pPr algn="l">
              <a:spcAft>
                <a:spcPts val="0"/>
              </a:spcAft>
            </a:pPr>
            <a:r>
              <a:rPr sz="1200" b="1" i="0">
                <a:solidFill>
                  <a:srgbClr val="F0B49C"/>
                </a:solidFill>
                <a:latin typeface="Calibri"/>
              </a:rPr>
              <a:t>THE GAP</a:t>
            </a:r>
          </a:p>
        </p:txBody>
      </p:sp>
      <p:sp>
        <p:nvSpPr>
          <p:cNvPr id="2076" name="TextBox 2075"/>
          <p:cNvSpPr txBox="1"/>
          <p:nvPr/>
        </p:nvSpPr>
        <p:spPr>
          <a:xfrm>
            <a:off x="6400800" y="2489200"/>
            <a:ext cx="4089400" cy="1524000"/>
          </a:xfrm>
          <a:prstGeom prst="rect">
            <a:avLst/>
          </a:prstGeom>
          <a:noFill/>
        </p:spPr>
        <p:txBody>
          <a:bodyPr wrap="square" lIns="0" rIns="0" tIns="0" bIns="0" anchor="t">
            <a:spAutoFit/>
          </a:bodyPr>
          <a:lstStyle/>
          <a:p>
            <a:pPr algn="l">
              <a:spcAft>
                <a:spcPts val="0"/>
              </a:spcAft>
            </a:pPr>
            <a:r>
              <a:rPr sz="1500" b="0" i="0">
                <a:solidFill>
                  <a:srgbClr val="FFFFFF"/>
                </a:solidFill>
                <a:latin typeface="Calibri"/>
              </a:rPr>
              <a:t>Every published computational exercise-mimetic screen starts from rat or mouse data and assumes it transfers to humans. That assumption was never tested, because comparable human data did not exist.</a:t>
            </a:r>
          </a:p>
        </p:txBody>
      </p:sp>
      <p:sp>
        <p:nvSpPr>
          <p:cNvPr id="2077" name="TextBox 2076"/>
          <p:cNvSpPr txBox="1"/>
          <p:nvPr/>
        </p:nvSpPr>
        <p:spPr>
          <a:xfrm>
            <a:off x="6400800" y="4038600"/>
            <a:ext cx="4089400" cy="228600"/>
          </a:xfrm>
          <a:prstGeom prst="rect">
            <a:avLst/>
          </a:prstGeom>
          <a:noFill/>
        </p:spPr>
        <p:txBody>
          <a:bodyPr wrap="square" lIns="0" rIns="0" tIns="0" bIns="0" anchor="t">
            <a:spAutoFit/>
          </a:bodyPr>
          <a:lstStyle/>
          <a:p>
            <a:pPr algn="l">
              <a:spcAft>
                <a:spcPts val="0"/>
              </a:spcAft>
            </a:pPr>
            <a:r>
              <a:rPr sz="1200" b="1" i="0">
                <a:solidFill>
                  <a:srgbClr val="F0B49C"/>
                </a:solidFill>
                <a:latin typeface="Calibri"/>
              </a:rPr>
              <a:t>OUR QUESTION</a:t>
            </a:r>
          </a:p>
        </p:txBody>
      </p:sp>
      <p:sp>
        <p:nvSpPr>
          <p:cNvPr id="2078" name="TextBox 2077"/>
          <p:cNvSpPr txBox="1"/>
          <p:nvPr/>
        </p:nvSpPr>
        <p:spPr>
          <a:xfrm>
            <a:off x="6400800" y="4343400"/>
            <a:ext cx="4089400" cy="1016000"/>
          </a:xfrm>
          <a:prstGeom prst="rect">
            <a:avLst/>
          </a:prstGeom>
          <a:noFill/>
        </p:spPr>
        <p:txBody>
          <a:bodyPr wrap="square" lIns="0" rIns="0" tIns="0" bIns="0" anchor="t">
            <a:spAutoFit/>
          </a:bodyPr>
          <a:lstStyle/>
          <a:p>
            <a:pPr algn="l">
              <a:spcAft>
                <a:spcPts val="0"/>
              </a:spcAft>
            </a:pPr>
            <a:r>
              <a:rPr sz="1800" b="1" i="0">
                <a:solidFill>
                  <a:srgbClr val="FFFFFF"/>
                </a:solidFill>
                <a:latin typeface="Calibri"/>
              </a:rPr>
              <a:t>Which approved drugs switch genes on and off the way a workout does, in real humans?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8000" y="914400"/>
            <a:ext cx="10160000" cy="558800"/>
          </a:xfrm>
        </p:spPr>
        <p:txBody>
          <a:bodyPr lIns="0" rIns="0" tIns="0" bIns="0" anchor="ctr" wrap="square"/>
          <a:lstStyle/>
          <a:p>
            <a:pPr algn="l"/>
            <a:r>
              <a:rPr sz="3000" b="1" i="0">
                <a:solidFill>
                  <a:srgbClr val="17324D"/>
                </a:solidFill>
                <a:latin typeface="Calibri"/>
              </a:rPr>
              <a:t>SynThera: from a human workout to a drug shortlist</a:t>
            </a:r>
          </a:p>
        </p:txBody>
      </p:sp>
      <p:pic>
        <p:nvPicPr>
          <p:cNvPr id="2052" name="Picture 3">
            <a:extLst>
              <a:ext uri="{FF2B5EF4-FFF2-40B4-BE49-F238E27FC236}">
                <a16:creationId xmlns:a16="http://schemas.microsoft.com/office/drawing/2014/main" id="{378F6D54-6499-75C5-2592-C5AB0BDD5E46}"/>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8847138" y="-542925"/>
            <a:ext cx="3848100" cy="2165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53" name="Picture 5">
            <a:extLst>
              <a:ext uri="{FF2B5EF4-FFF2-40B4-BE49-F238E27FC236}">
                <a16:creationId xmlns:a16="http://schemas.microsoft.com/office/drawing/2014/main" id="{9A04B610-E394-4B99-2A07-DD2268AD1720}"/>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0975975" y="5761038"/>
            <a:ext cx="1096963" cy="1096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54" name="Picture 6">
            <a:extLst>
              <a:ext uri="{FF2B5EF4-FFF2-40B4-BE49-F238E27FC236}">
                <a16:creationId xmlns:a16="http://schemas.microsoft.com/office/drawing/2014/main" id="{1CDC6573-5491-7E9F-218F-A7B51A6D63C6}"/>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85738" y="211138"/>
            <a:ext cx="2352675" cy="611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55" name="Lead"/>
          <p:cNvSpPr txBox="1"/>
          <p:nvPr/>
        </p:nvSpPr>
        <p:spPr>
          <a:xfrm>
            <a:off x="508000" y="1498600"/>
            <a:ext cx="10160000" cy="279400"/>
          </a:xfrm>
          <a:prstGeom prst="rect">
            <a:avLst/>
          </a:prstGeom>
          <a:noFill/>
        </p:spPr>
        <p:txBody>
          <a:bodyPr wrap="square" lIns="0" rIns="0" tIns="0" bIns="0" anchor="t">
            <a:spAutoFit/>
          </a:bodyPr>
          <a:lstStyle/>
          <a:p>
            <a:pPr algn="l">
              <a:spcAft>
                <a:spcPts val="0"/>
              </a:spcAft>
            </a:pPr>
            <a:r>
              <a:rPr sz="1600" b="0" i="0">
                <a:solidFill>
                  <a:srgbClr val="5B6B7A"/>
                </a:solidFill>
                <a:latin typeface="Calibri"/>
              </a:rPr>
              <a:t>One pipeline, five stages, built entirely on open data.</a:t>
            </a:r>
          </a:p>
        </p:txBody>
      </p:sp>
      <p:sp>
        <p:nvSpPr>
          <p:cNvPr id="2056" name="Footer"/>
          <p:cNvSpPr txBox="1"/>
          <p:nvPr/>
        </p:nvSpPr>
        <p:spPr>
          <a:xfrm>
            <a:off x="508000" y="6515100"/>
            <a:ext cx="3810000" cy="177800"/>
          </a:xfrm>
          <a:prstGeom prst="rect">
            <a:avLst/>
          </a:prstGeom>
          <a:noFill/>
        </p:spPr>
        <p:txBody>
          <a:bodyPr wrap="square" lIns="0" rIns="0" tIns="0" bIns="0" anchor="t">
            <a:spAutoFit/>
          </a:bodyPr>
          <a:lstStyle/>
          <a:p>
            <a:pPr algn="l">
              <a:spcAft>
                <a:spcPts val="0"/>
              </a:spcAft>
            </a:pPr>
            <a:r>
              <a:rPr sz="1000" b="1" i="0">
                <a:solidFill>
                  <a:srgbClr val="17324D"/>
                </a:solidFill>
                <a:latin typeface="Calibri"/>
              </a:rPr>
              <a:t>TEAM TEJAS019 · SynThera</a:t>
            </a:r>
            <a:r>
              <a:rPr sz="1000" b="0" i="0">
                <a:solidFill>
                  <a:srgbClr val="5B6B7A"/>
                </a:solidFill>
                <a:latin typeface="Calibri"/>
              </a:rPr>
              <a:t>    3 / 10</a:t>
            </a:r>
          </a:p>
        </p:txBody>
      </p:sp>
      <p:sp>
        <p:nvSpPr>
          <p:cNvPr id="2057" name="Rounded Rectangle 2056"/>
          <p:cNvSpPr/>
          <p:nvPr/>
        </p:nvSpPr>
        <p:spPr>
          <a:xfrm>
            <a:off x="508000" y="2032000"/>
            <a:ext cx="1981200" cy="2844800"/>
          </a:xfrm>
          <a:prstGeom prst="roundRect">
            <a:avLst>
              <a:gd name="adj" fmla="val 6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58" name="Oval 2057"/>
          <p:cNvSpPr/>
          <p:nvPr/>
        </p:nvSpPr>
        <p:spPr>
          <a:xfrm>
            <a:off x="685800" y="2209800"/>
            <a:ext cx="457200" cy="457200"/>
          </a:xfrm>
          <a:prstGeom prst="ellipse">
            <a:avLst/>
          </a:prstGeom>
          <a:solidFill>
            <a:srgbClr val="2D64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59" name="Picture 2058" descr="activity.png"/>
          <p:cNvPicPr>
            <a:picLocks noChangeAspect="1"/>
          </p:cNvPicPr>
          <p:nvPr/>
        </p:nvPicPr>
        <p:blipFill>
          <a:blip r:embed="rId6"/>
          <a:stretch>
            <a:fillRect/>
          </a:stretch>
        </p:blipFill>
        <p:spPr>
          <a:xfrm>
            <a:off x="786384" y="2310384"/>
            <a:ext cx="256032" cy="256032"/>
          </a:xfrm>
          <a:prstGeom prst="rect">
            <a:avLst/>
          </a:prstGeom>
        </p:spPr>
      </p:pic>
      <p:sp>
        <p:nvSpPr>
          <p:cNvPr id="2060" name="TextBox 2059"/>
          <p:cNvSpPr txBox="1"/>
          <p:nvPr/>
        </p:nvSpPr>
        <p:spPr>
          <a:xfrm>
            <a:off x="1244600" y="2209800"/>
            <a:ext cx="1016000" cy="457200"/>
          </a:xfrm>
          <a:prstGeom prst="rect">
            <a:avLst/>
          </a:prstGeom>
          <a:noFill/>
        </p:spPr>
        <p:txBody>
          <a:bodyPr wrap="square" lIns="0" rIns="0" tIns="0" bIns="0" anchor="ctr">
            <a:spAutoFit/>
          </a:bodyPr>
          <a:lstStyle/>
          <a:p>
            <a:pPr algn="l">
              <a:spcAft>
                <a:spcPts val="0"/>
              </a:spcAft>
            </a:pPr>
            <a:r>
              <a:rPr sz="1100" b="1" i="0">
                <a:solidFill>
                  <a:srgbClr val="2D6485"/>
                </a:solidFill>
                <a:latin typeface="Calibri"/>
              </a:rPr>
              <a:t>STEP 1</a:t>
            </a:r>
          </a:p>
        </p:txBody>
      </p:sp>
      <p:sp>
        <p:nvSpPr>
          <p:cNvPr id="2061" name="TextBox 2060"/>
          <p:cNvSpPr txBox="1"/>
          <p:nvPr/>
        </p:nvSpPr>
        <p:spPr>
          <a:xfrm>
            <a:off x="685800" y="2794000"/>
            <a:ext cx="1625600" cy="558800"/>
          </a:xfrm>
          <a:prstGeom prst="rect">
            <a:avLst/>
          </a:prstGeom>
          <a:noFill/>
        </p:spPr>
        <p:txBody>
          <a:bodyPr wrap="square" lIns="0" rIns="0" tIns="0" bIns="0" anchor="t">
            <a:spAutoFit/>
          </a:bodyPr>
          <a:lstStyle/>
          <a:p>
            <a:pPr algn="l">
              <a:spcAft>
                <a:spcPts val="0"/>
              </a:spcAft>
            </a:pPr>
            <a:r>
              <a:rPr sz="1700" b="1" i="0">
                <a:solidFill>
                  <a:srgbClr val="17324D"/>
                </a:solidFill>
                <a:latin typeface="Calibri"/>
              </a:rPr>
              <a:t>Exercise fingerprints</a:t>
            </a:r>
          </a:p>
        </p:txBody>
      </p:sp>
      <p:sp>
        <p:nvSpPr>
          <p:cNvPr id="2062" name="TextBox 2061"/>
          <p:cNvSpPr txBox="1"/>
          <p:nvPr/>
        </p:nvSpPr>
        <p:spPr>
          <a:xfrm>
            <a:off x="685800" y="3403600"/>
            <a:ext cx="1676400" cy="1422400"/>
          </a:xfrm>
          <a:prstGeom prst="rect">
            <a:avLst/>
          </a:prstGeom>
          <a:noFill/>
        </p:spPr>
        <p:txBody>
          <a:bodyPr wrap="square" lIns="0" rIns="0" tIns="0" bIns="0" anchor="t">
            <a:spAutoFit/>
          </a:bodyPr>
          <a:lstStyle/>
          <a:p>
            <a:pPr algn="l">
              <a:spcAft>
                <a:spcPts val="0"/>
              </a:spcAft>
            </a:pPr>
            <a:r>
              <a:rPr sz="1400" b="0" i="0">
                <a:solidFill>
                  <a:srgbClr val="1F2A36"/>
                </a:solidFill>
                <a:latin typeface="Calibri"/>
              </a:rPr>
              <a:t>MoTrPAC: 175 adults, endurance and resistance, 3 tissues, 3 time points. 18 fingerprints.</a:t>
            </a:r>
          </a:p>
        </p:txBody>
      </p:sp>
      <p:sp>
        <p:nvSpPr>
          <p:cNvPr id="2063" name="Right Arrow 2062"/>
          <p:cNvSpPr/>
          <p:nvPr/>
        </p:nvSpPr>
        <p:spPr>
          <a:xfrm>
            <a:off x="2552700" y="3352800"/>
            <a:ext cx="190500" cy="203200"/>
          </a:xfrm>
          <a:prstGeom prst="rightArrow">
            <a:avLst/>
          </a:prstGeom>
          <a:solidFill>
            <a:srgbClr val="5B6B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64" name="Rounded Rectangle 2063"/>
          <p:cNvSpPr/>
          <p:nvPr/>
        </p:nvSpPr>
        <p:spPr>
          <a:xfrm>
            <a:off x="2806700" y="2032000"/>
            <a:ext cx="1981200" cy="2844800"/>
          </a:xfrm>
          <a:prstGeom prst="roundRect">
            <a:avLst>
              <a:gd name="adj" fmla="val 6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65" name="Oval 2064"/>
          <p:cNvSpPr/>
          <p:nvPr/>
        </p:nvSpPr>
        <p:spPr>
          <a:xfrm>
            <a:off x="2984500" y="2209800"/>
            <a:ext cx="457200" cy="457200"/>
          </a:xfrm>
          <a:prstGeom prst="ellipse">
            <a:avLst/>
          </a:prstGeom>
          <a:solidFill>
            <a:srgbClr val="2D64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66" name="Picture 2065" descr="flask.png"/>
          <p:cNvPicPr>
            <a:picLocks noChangeAspect="1"/>
          </p:cNvPicPr>
          <p:nvPr/>
        </p:nvPicPr>
        <p:blipFill>
          <a:blip r:embed="rId7"/>
          <a:stretch>
            <a:fillRect/>
          </a:stretch>
        </p:blipFill>
        <p:spPr>
          <a:xfrm>
            <a:off x="3085084" y="2310384"/>
            <a:ext cx="256032" cy="256032"/>
          </a:xfrm>
          <a:prstGeom prst="rect">
            <a:avLst/>
          </a:prstGeom>
        </p:spPr>
      </p:pic>
      <p:sp>
        <p:nvSpPr>
          <p:cNvPr id="2067" name="TextBox 2066"/>
          <p:cNvSpPr txBox="1"/>
          <p:nvPr/>
        </p:nvSpPr>
        <p:spPr>
          <a:xfrm>
            <a:off x="3543300" y="2209800"/>
            <a:ext cx="1016000" cy="457200"/>
          </a:xfrm>
          <a:prstGeom prst="rect">
            <a:avLst/>
          </a:prstGeom>
          <a:noFill/>
        </p:spPr>
        <p:txBody>
          <a:bodyPr wrap="square" lIns="0" rIns="0" tIns="0" bIns="0" anchor="ctr">
            <a:spAutoFit/>
          </a:bodyPr>
          <a:lstStyle/>
          <a:p>
            <a:pPr algn="l">
              <a:spcAft>
                <a:spcPts val="0"/>
              </a:spcAft>
            </a:pPr>
            <a:r>
              <a:rPr sz="1100" b="1" i="0">
                <a:solidFill>
                  <a:srgbClr val="2D6485"/>
                </a:solidFill>
                <a:latin typeface="Calibri"/>
              </a:rPr>
              <a:t>STEP 2</a:t>
            </a:r>
          </a:p>
        </p:txBody>
      </p:sp>
      <p:sp>
        <p:nvSpPr>
          <p:cNvPr id="2068" name="TextBox 2067"/>
          <p:cNvSpPr txBox="1"/>
          <p:nvPr/>
        </p:nvSpPr>
        <p:spPr>
          <a:xfrm>
            <a:off x="2984500" y="2794000"/>
            <a:ext cx="1625600" cy="558800"/>
          </a:xfrm>
          <a:prstGeom prst="rect">
            <a:avLst/>
          </a:prstGeom>
          <a:noFill/>
        </p:spPr>
        <p:txBody>
          <a:bodyPr wrap="square" lIns="0" rIns="0" tIns="0" bIns="0" anchor="t">
            <a:spAutoFit/>
          </a:bodyPr>
          <a:lstStyle/>
          <a:p>
            <a:pPr algn="l">
              <a:spcAft>
                <a:spcPts val="0"/>
              </a:spcAft>
            </a:pPr>
            <a:r>
              <a:rPr sz="1700" b="1" i="0">
                <a:solidFill>
                  <a:srgbClr val="17324D"/>
                </a:solidFill>
                <a:latin typeface="Calibri"/>
              </a:rPr>
              <a:t>Drug fingerprints</a:t>
            </a:r>
          </a:p>
        </p:txBody>
      </p:sp>
      <p:sp>
        <p:nvSpPr>
          <p:cNvPr id="2069" name="TextBox 2068"/>
          <p:cNvSpPr txBox="1"/>
          <p:nvPr/>
        </p:nvSpPr>
        <p:spPr>
          <a:xfrm>
            <a:off x="2984500" y="3403600"/>
            <a:ext cx="1676400" cy="1422400"/>
          </a:xfrm>
          <a:prstGeom prst="rect">
            <a:avLst/>
          </a:prstGeom>
          <a:noFill/>
        </p:spPr>
        <p:txBody>
          <a:bodyPr wrap="square" lIns="0" rIns="0" tIns="0" bIns="0" anchor="t">
            <a:spAutoFit/>
          </a:bodyPr>
          <a:lstStyle/>
          <a:p>
            <a:pPr algn="l">
              <a:spcAft>
                <a:spcPts val="0"/>
              </a:spcAft>
            </a:pPr>
            <a:r>
              <a:rPr sz="1400" b="0" i="0">
                <a:solidFill>
                  <a:srgbClr val="1F2A36"/>
                </a:solidFill>
                <a:latin typeface="Calibri"/>
              </a:rPr>
              <a:t>LINCS L1000: 720,216 lab profiles, one per compound. 29,680 compounds.</a:t>
            </a:r>
          </a:p>
        </p:txBody>
      </p:sp>
      <p:sp>
        <p:nvSpPr>
          <p:cNvPr id="2070" name="Right Arrow 2069"/>
          <p:cNvSpPr/>
          <p:nvPr/>
        </p:nvSpPr>
        <p:spPr>
          <a:xfrm>
            <a:off x="4851400" y="3352800"/>
            <a:ext cx="190500" cy="203200"/>
          </a:xfrm>
          <a:prstGeom prst="rightArrow">
            <a:avLst/>
          </a:prstGeom>
          <a:solidFill>
            <a:srgbClr val="5B6B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71" name="Rounded Rectangle 2070"/>
          <p:cNvSpPr/>
          <p:nvPr/>
        </p:nvSpPr>
        <p:spPr>
          <a:xfrm>
            <a:off x="5105400" y="2032000"/>
            <a:ext cx="1981200" cy="2844800"/>
          </a:xfrm>
          <a:prstGeom prst="roundRect">
            <a:avLst>
              <a:gd name="adj" fmla="val 6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72" name="Oval 2071"/>
          <p:cNvSpPr/>
          <p:nvPr/>
        </p:nvSpPr>
        <p:spPr>
          <a:xfrm>
            <a:off x="5283200" y="2209800"/>
            <a:ext cx="457200" cy="457200"/>
          </a:xfrm>
          <a:prstGeom prst="ellipse">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73" name="Picture 2072" descr="cpu.png"/>
          <p:cNvPicPr>
            <a:picLocks noChangeAspect="1"/>
          </p:cNvPicPr>
          <p:nvPr/>
        </p:nvPicPr>
        <p:blipFill>
          <a:blip r:embed="rId8"/>
          <a:stretch>
            <a:fillRect/>
          </a:stretch>
        </p:blipFill>
        <p:spPr>
          <a:xfrm>
            <a:off x="5383784" y="2310384"/>
            <a:ext cx="256032" cy="256032"/>
          </a:xfrm>
          <a:prstGeom prst="rect">
            <a:avLst/>
          </a:prstGeom>
        </p:spPr>
      </p:pic>
      <p:sp>
        <p:nvSpPr>
          <p:cNvPr id="2074" name="TextBox 2073"/>
          <p:cNvSpPr txBox="1"/>
          <p:nvPr/>
        </p:nvSpPr>
        <p:spPr>
          <a:xfrm>
            <a:off x="5842000" y="2209800"/>
            <a:ext cx="1016000" cy="457200"/>
          </a:xfrm>
          <a:prstGeom prst="rect">
            <a:avLst/>
          </a:prstGeom>
          <a:noFill/>
        </p:spPr>
        <p:txBody>
          <a:bodyPr wrap="square" lIns="0" rIns="0" tIns="0" bIns="0" anchor="ctr">
            <a:spAutoFit/>
          </a:bodyPr>
          <a:lstStyle/>
          <a:p>
            <a:pPr algn="l">
              <a:spcAft>
                <a:spcPts val="0"/>
              </a:spcAft>
            </a:pPr>
            <a:r>
              <a:rPr sz="1100" b="1" i="0">
                <a:solidFill>
                  <a:srgbClr val="C2603F"/>
                </a:solidFill>
                <a:latin typeface="Calibri"/>
              </a:rPr>
              <a:t>STEP 3</a:t>
            </a:r>
          </a:p>
        </p:txBody>
      </p:sp>
      <p:sp>
        <p:nvSpPr>
          <p:cNvPr id="2075" name="TextBox 2074"/>
          <p:cNvSpPr txBox="1"/>
          <p:nvPr/>
        </p:nvSpPr>
        <p:spPr>
          <a:xfrm>
            <a:off x="5283200" y="2794000"/>
            <a:ext cx="1625600" cy="558800"/>
          </a:xfrm>
          <a:prstGeom prst="rect">
            <a:avLst/>
          </a:prstGeom>
          <a:noFill/>
        </p:spPr>
        <p:txBody>
          <a:bodyPr wrap="square" lIns="0" rIns="0" tIns="0" bIns="0" anchor="t">
            <a:spAutoFit/>
          </a:bodyPr>
          <a:lstStyle/>
          <a:p>
            <a:pPr algn="l">
              <a:spcAft>
                <a:spcPts val="0"/>
              </a:spcAft>
            </a:pPr>
            <a:r>
              <a:rPr sz="1700" b="1" i="0">
                <a:solidFill>
                  <a:srgbClr val="17324D"/>
                </a:solidFill>
                <a:latin typeface="Calibri"/>
              </a:rPr>
              <a:t>AI scoring</a:t>
            </a:r>
          </a:p>
        </p:txBody>
      </p:sp>
      <p:sp>
        <p:nvSpPr>
          <p:cNvPr id="2076" name="TextBox 2075"/>
          <p:cNvSpPr txBox="1"/>
          <p:nvPr/>
        </p:nvSpPr>
        <p:spPr>
          <a:xfrm>
            <a:off x="5283200" y="3403600"/>
            <a:ext cx="1676400" cy="1422400"/>
          </a:xfrm>
          <a:prstGeom prst="rect">
            <a:avLst/>
          </a:prstGeom>
          <a:noFill/>
        </p:spPr>
        <p:txBody>
          <a:bodyPr wrap="square" lIns="0" rIns="0" tIns="0" bIns="0" anchor="t">
            <a:spAutoFit/>
          </a:bodyPr>
          <a:lstStyle/>
          <a:p>
            <a:pPr algn="l">
              <a:spcAft>
                <a:spcPts val="0"/>
              </a:spcAft>
            </a:pPr>
            <a:r>
              <a:rPr sz="1400" b="0" i="0">
                <a:solidFill>
                  <a:srgbClr val="1F2A36"/>
                </a:solidFill>
                <a:latin typeface="Calibri"/>
              </a:rPr>
              <a:t>4 methods incl. the GSFM foundation model, merged by Robust Rank Aggregation.</a:t>
            </a:r>
          </a:p>
        </p:txBody>
      </p:sp>
      <p:sp>
        <p:nvSpPr>
          <p:cNvPr id="2077" name="Right Arrow 2076"/>
          <p:cNvSpPr/>
          <p:nvPr/>
        </p:nvSpPr>
        <p:spPr>
          <a:xfrm>
            <a:off x="7150100" y="3352800"/>
            <a:ext cx="190500" cy="203200"/>
          </a:xfrm>
          <a:prstGeom prst="rightArrow">
            <a:avLst/>
          </a:prstGeom>
          <a:solidFill>
            <a:srgbClr val="5B6B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78" name="Rounded Rectangle 2077"/>
          <p:cNvSpPr/>
          <p:nvPr/>
        </p:nvSpPr>
        <p:spPr>
          <a:xfrm>
            <a:off x="7404100" y="2032000"/>
            <a:ext cx="1981200" cy="2844800"/>
          </a:xfrm>
          <a:prstGeom prst="roundRect">
            <a:avLst>
              <a:gd name="adj" fmla="val 6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79" name="Oval 2078"/>
          <p:cNvSpPr/>
          <p:nvPr/>
        </p:nvSpPr>
        <p:spPr>
          <a:xfrm>
            <a:off x="7581900" y="2209800"/>
            <a:ext cx="457200" cy="457200"/>
          </a:xfrm>
          <a:prstGeom prst="ellipse">
            <a:avLst/>
          </a:prstGeom>
          <a:solidFill>
            <a:srgbClr val="2D64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80" name="Picture 2079" descr="filter.png"/>
          <p:cNvPicPr>
            <a:picLocks noChangeAspect="1"/>
          </p:cNvPicPr>
          <p:nvPr/>
        </p:nvPicPr>
        <p:blipFill>
          <a:blip r:embed="rId9"/>
          <a:stretch>
            <a:fillRect/>
          </a:stretch>
        </p:blipFill>
        <p:spPr>
          <a:xfrm>
            <a:off x="7682483" y="2310384"/>
            <a:ext cx="256032" cy="256032"/>
          </a:xfrm>
          <a:prstGeom prst="rect">
            <a:avLst/>
          </a:prstGeom>
        </p:spPr>
      </p:pic>
      <p:sp>
        <p:nvSpPr>
          <p:cNvPr id="2081" name="TextBox 2080"/>
          <p:cNvSpPr txBox="1"/>
          <p:nvPr/>
        </p:nvSpPr>
        <p:spPr>
          <a:xfrm>
            <a:off x="8140700" y="2209800"/>
            <a:ext cx="1016000" cy="457200"/>
          </a:xfrm>
          <a:prstGeom prst="rect">
            <a:avLst/>
          </a:prstGeom>
          <a:noFill/>
        </p:spPr>
        <p:txBody>
          <a:bodyPr wrap="square" lIns="0" rIns="0" tIns="0" bIns="0" anchor="ctr">
            <a:spAutoFit/>
          </a:bodyPr>
          <a:lstStyle/>
          <a:p>
            <a:pPr algn="l">
              <a:spcAft>
                <a:spcPts val="0"/>
              </a:spcAft>
            </a:pPr>
            <a:r>
              <a:rPr sz="1100" b="1" i="0">
                <a:solidFill>
                  <a:srgbClr val="2D6485"/>
                </a:solidFill>
                <a:latin typeface="Calibri"/>
              </a:rPr>
              <a:t>STEP 4</a:t>
            </a:r>
          </a:p>
        </p:txBody>
      </p:sp>
      <p:sp>
        <p:nvSpPr>
          <p:cNvPr id="2082" name="TextBox 2081"/>
          <p:cNvSpPr txBox="1"/>
          <p:nvPr/>
        </p:nvSpPr>
        <p:spPr>
          <a:xfrm>
            <a:off x="7581900" y="2794000"/>
            <a:ext cx="1625600" cy="558800"/>
          </a:xfrm>
          <a:prstGeom prst="rect">
            <a:avLst/>
          </a:prstGeom>
          <a:noFill/>
        </p:spPr>
        <p:txBody>
          <a:bodyPr wrap="square" lIns="0" rIns="0" tIns="0" bIns="0" anchor="t">
            <a:spAutoFit/>
          </a:bodyPr>
          <a:lstStyle/>
          <a:p>
            <a:pPr algn="l">
              <a:spcAft>
                <a:spcPts val="0"/>
              </a:spcAft>
            </a:pPr>
            <a:r>
              <a:rPr sz="1700" b="1" i="0">
                <a:solidFill>
                  <a:srgbClr val="17324D"/>
                </a:solidFill>
                <a:latin typeface="Calibri"/>
              </a:rPr>
              <a:t>Benefit filter</a:t>
            </a:r>
          </a:p>
        </p:txBody>
      </p:sp>
      <p:sp>
        <p:nvSpPr>
          <p:cNvPr id="2083" name="TextBox 2082"/>
          <p:cNvSpPr txBox="1"/>
          <p:nvPr/>
        </p:nvSpPr>
        <p:spPr>
          <a:xfrm>
            <a:off x="7581900" y="3403600"/>
            <a:ext cx="1676400" cy="1422400"/>
          </a:xfrm>
          <a:prstGeom prst="rect">
            <a:avLst/>
          </a:prstGeom>
          <a:noFill/>
        </p:spPr>
        <p:txBody>
          <a:bodyPr wrap="square" lIns="0" rIns="0" tIns="0" bIns="0" anchor="t">
            <a:spAutoFit/>
          </a:bodyPr>
          <a:lstStyle/>
          <a:p>
            <a:pPr algn="l">
              <a:spcAft>
                <a:spcPts val="0"/>
              </a:spcAft>
            </a:pPr>
            <a:r>
              <a:rPr sz="1400" b="0" i="0">
                <a:solidFill>
                  <a:srgbClr val="1F2A36"/>
                </a:solidFill>
                <a:latin typeface="Calibri"/>
              </a:rPr>
              <a:t>Keep exercise's adaptations, reject its stress. Cell-killing drugs removed.</a:t>
            </a:r>
          </a:p>
        </p:txBody>
      </p:sp>
      <p:sp>
        <p:nvSpPr>
          <p:cNvPr id="2084" name="Right Arrow 2083"/>
          <p:cNvSpPr/>
          <p:nvPr/>
        </p:nvSpPr>
        <p:spPr>
          <a:xfrm>
            <a:off x="9448800" y="3352800"/>
            <a:ext cx="190500" cy="203200"/>
          </a:xfrm>
          <a:prstGeom prst="rightArrow">
            <a:avLst/>
          </a:prstGeom>
          <a:solidFill>
            <a:srgbClr val="5B6B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85" name="Rounded Rectangle 2084"/>
          <p:cNvSpPr/>
          <p:nvPr/>
        </p:nvSpPr>
        <p:spPr>
          <a:xfrm>
            <a:off x="9702800" y="2032000"/>
            <a:ext cx="1981200" cy="2844800"/>
          </a:xfrm>
          <a:prstGeom prst="roundRect">
            <a:avLst>
              <a:gd name="adj" fmla="val 6000"/>
            </a:avLst>
          </a:prstGeom>
          <a:solidFill>
            <a:srgbClr val="FBEEE8"/>
          </a:solidFill>
          <a:ln w="15875">
            <a:solidFill>
              <a:srgbClr val="C2603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86" name="Oval 2085"/>
          <p:cNvSpPr/>
          <p:nvPr/>
        </p:nvSpPr>
        <p:spPr>
          <a:xfrm>
            <a:off x="9880600" y="2209800"/>
            <a:ext cx="457200" cy="457200"/>
          </a:xfrm>
          <a:prstGeom prst="ellipse">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87" name="Picture 2086" descr="listcheck.png"/>
          <p:cNvPicPr>
            <a:picLocks noChangeAspect="1"/>
          </p:cNvPicPr>
          <p:nvPr/>
        </p:nvPicPr>
        <p:blipFill>
          <a:blip r:embed="rId10"/>
          <a:stretch>
            <a:fillRect/>
          </a:stretch>
        </p:blipFill>
        <p:spPr>
          <a:xfrm>
            <a:off x="9981184" y="2310384"/>
            <a:ext cx="256032" cy="256032"/>
          </a:xfrm>
          <a:prstGeom prst="rect">
            <a:avLst/>
          </a:prstGeom>
        </p:spPr>
      </p:pic>
      <p:sp>
        <p:nvSpPr>
          <p:cNvPr id="2088" name="TextBox 2087"/>
          <p:cNvSpPr txBox="1"/>
          <p:nvPr/>
        </p:nvSpPr>
        <p:spPr>
          <a:xfrm>
            <a:off x="10439400" y="2209800"/>
            <a:ext cx="1016000" cy="457200"/>
          </a:xfrm>
          <a:prstGeom prst="rect">
            <a:avLst/>
          </a:prstGeom>
          <a:noFill/>
        </p:spPr>
        <p:txBody>
          <a:bodyPr wrap="square" lIns="0" rIns="0" tIns="0" bIns="0" anchor="ctr">
            <a:spAutoFit/>
          </a:bodyPr>
          <a:lstStyle/>
          <a:p>
            <a:pPr algn="l">
              <a:spcAft>
                <a:spcPts val="0"/>
              </a:spcAft>
            </a:pPr>
            <a:r>
              <a:rPr sz="1100" b="1" i="0">
                <a:solidFill>
                  <a:srgbClr val="C2603F"/>
                </a:solidFill>
                <a:latin typeface="Calibri"/>
              </a:rPr>
              <a:t>STEP 5</a:t>
            </a:r>
          </a:p>
        </p:txBody>
      </p:sp>
      <p:sp>
        <p:nvSpPr>
          <p:cNvPr id="2089" name="TextBox 2088"/>
          <p:cNvSpPr txBox="1"/>
          <p:nvPr/>
        </p:nvSpPr>
        <p:spPr>
          <a:xfrm>
            <a:off x="9880600" y="2794000"/>
            <a:ext cx="1625600" cy="558800"/>
          </a:xfrm>
          <a:prstGeom prst="rect">
            <a:avLst/>
          </a:prstGeom>
          <a:noFill/>
        </p:spPr>
        <p:txBody>
          <a:bodyPr wrap="square" lIns="0" rIns="0" tIns="0" bIns="0" anchor="t">
            <a:spAutoFit/>
          </a:bodyPr>
          <a:lstStyle/>
          <a:p>
            <a:pPr algn="l">
              <a:spcAft>
                <a:spcPts val="0"/>
              </a:spcAft>
            </a:pPr>
            <a:r>
              <a:rPr sz="1700" b="1" i="0">
                <a:solidFill>
                  <a:srgbClr val="17324D"/>
                </a:solidFill>
                <a:latin typeface="Calibri"/>
              </a:rPr>
              <a:t>Shortlist</a:t>
            </a:r>
          </a:p>
        </p:txBody>
      </p:sp>
      <p:sp>
        <p:nvSpPr>
          <p:cNvPr id="2090" name="TextBox 2089"/>
          <p:cNvSpPr txBox="1"/>
          <p:nvPr/>
        </p:nvSpPr>
        <p:spPr>
          <a:xfrm>
            <a:off x="9880600" y="3403600"/>
            <a:ext cx="1676400" cy="1422400"/>
          </a:xfrm>
          <a:prstGeom prst="rect">
            <a:avLst/>
          </a:prstGeom>
          <a:noFill/>
        </p:spPr>
        <p:txBody>
          <a:bodyPr wrap="square" lIns="0" rIns="0" tIns="0" bIns="0" anchor="t">
            <a:spAutoFit/>
          </a:bodyPr>
          <a:lstStyle/>
          <a:p>
            <a:pPr algn="l">
              <a:spcAft>
                <a:spcPts val="0"/>
              </a:spcAft>
            </a:pPr>
            <a:r>
              <a:rPr sz="1400" b="0" i="0">
                <a:solidFill>
                  <a:srgbClr val="1F2A36"/>
                </a:solidFill>
                <a:latin typeface="Calibri"/>
              </a:rPr>
              <a:t>Approved drugs for lab testing: 82 for endurance, 77 for resistance (weight) training.</a:t>
            </a:r>
          </a:p>
        </p:txBody>
      </p:sp>
      <p:sp>
        <p:nvSpPr>
          <p:cNvPr id="2091" name="Rounded Rectangle 2090"/>
          <p:cNvSpPr/>
          <p:nvPr/>
        </p:nvSpPr>
        <p:spPr>
          <a:xfrm>
            <a:off x="508000" y="5130800"/>
            <a:ext cx="10160000" cy="635000"/>
          </a:xfrm>
          <a:prstGeom prst="roundRect">
            <a:avLst>
              <a:gd name="adj" fmla="val 6000"/>
            </a:avLst>
          </a:prstGeom>
          <a:solidFill>
            <a:srgbClr val="FFFFFF"/>
          </a:solidFill>
          <a:ln w="15875">
            <a:solidFill>
              <a:srgbClr val="D8E0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92" name="TextBox 2091"/>
          <p:cNvSpPr txBox="1"/>
          <p:nvPr/>
        </p:nvSpPr>
        <p:spPr>
          <a:xfrm>
            <a:off x="736600" y="5130800"/>
            <a:ext cx="9779000" cy="635000"/>
          </a:xfrm>
          <a:prstGeom prst="rect">
            <a:avLst/>
          </a:prstGeom>
          <a:noFill/>
        </p:spPr>
        <p:txBody>
          <a:bodyPr wrap="square" lIns="0" rIns="0" tIns="0" bIns="0" anchor="ctr">
            <a:spAutoFit/>
          </a:bodyPr>
          <a:lstStyle/>
          <a:p>
            <a:pPr algn="l">
              <a:spcAft>
                <a:spcPts val="0"/>
              </a:spcAft>
            </a:pPr>
            <a:r>
              <a:rPr sz="1400" b="1" i="0">
                <a:solidFill>
                  <a:srgbClr val="C2603F"/>
                </a:solidFill>
                <a:latin typeface="Calibri"/>
              </a:rPr>
              <a:t>Outputs  </a:t>
            </a:r>
            <a:r>
              <a:rPr sz="1400" b="0" i="0">
                <a:solidFill>
                  <a:srgbClr val="1F2A36"/>
                </a:solidFill>
                <a:latin typeface="Calibri"/>
              </a:rPr>
              <a:t>ranked atlas of 29,680 compounds × 18 fingerprints  ·  interactive website  ·  FAIR open data (JSON-LD)  ·  rat comparison arm</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8000" y="914400"/>
            <a:ext cx="10160000" cy="558800"/>
          </a:xfrm>
        </p:spPr>
        <p:txBody>
          <a:bodyPr lIns="0" rIns="0" tIns="0" bIns="0" anchor="ctr" wrap="square"/>
          <a:lstStyle/>
          <a:p>
            <a:pPr algn="l"/>
            <a:r>
              <a:rPr sz="3000" b="1" i="0">
                <a:solidFill>
                  <a:srgbClr val="17324D"/>
                </a:solidFill>
                <a:latin typeface="Calibri"/>
              </a:rPr>
              <a:t>Six open datasets, one reproducible 10-step pipeline</a:t>
            </a:r>
          </a:p>
        </p:txBody>
      </p:sp>
      <p:pic>
        <p:nvPicPr>
          <p:cNvPr id="2052" name="Picture 3">
            <a:extLst>
              <a:ext uri="{FF2B5EF4-FFF2-40B4-BE49-F238E27FC236}">
                <a16:creationId xmlns:a16="http://schemas.microsoft.com/office/drawing/2014/main" id="{378F6D54-6499-75C5-2592-C5AB0BDD5E46}"/>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8847138" y="-542925"/>
            <a:ext cx="3848100" cy="2165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53" name="Picture 5">
            <a:extLst>
              <a:ext uri="{FF2B5EF4-FFF2-40B4-BE49-F238E27FC236}">
                <a16:creationId xmlns:a16="http://schemas.microsoft.com/office/drawing/2014/main" id="{9A04B610-E394-4B99-2A07-DD2268AD1720}"/>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0975975" y="5761038"/>
            <a:ext cx="1096963" cy="1096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54" name="Picture 6">
            <a:extLst>
              <a:ext uri="{FF2B5EF4-FFF2-40B4-BE49-F238E27FC236}">
                <a16:creationId xmlns:a16="http://schemas.microsoft.com/office/drawing/2014/main" id="{1CDC6573-5491-7E9F-218F-A7B51A6D63C6}"/>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85738" y="211138"/>
            <a:ext cx="2352675" cy="611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55" name="Lead"/>
          <p:cNvSpPr txBox="1"/>
          <p:nvPr/>
        </p:nvSpPr>
        <p:spPr>
          <a:xfrm>
            <a:off x="508000" y="1498600"/>
            <a:ext cx="10160000" cy="279400"/>
          </a:xfrm>
          <a:prstGeom prst="rect">
            <a:avLst/>
          </a:prstGeom>
          <a:noFill/>
        </p:spPr>
        <p:txBody>
          <a:bodyPr wrap="square" lIns="0" rIns="0" tIns="0" bIns="0" anchor="t">
            <a:spAutoFit/>
          </a:bodyPr>
          <a:lstStyle/>
          <a:p>
            <a:pPr algn="l">
              <a:spcAft>
                <a:spcPts val="0"/>
              </a:spcAft>
            </a:pPr>
            <a:r>
              <a:rPr sz="1600" b="0" i="0">
                <a:solidFill>
                  <a:srgbClr val="5B6B7A"/>
                </a:solidFill>
                <a:latin typeface="Calibri"/>
              </a:rPr>
              <a:t>Heavy computation runs once; every result is saved, versioned and traceable.</a:t>
            </a:r>
          </a:p>
        </p:txBody>
      </p:sp>
      <p:sp>
        <p:nvSpPr>
          <p:cNvPr id="2056" name="Footer"/>
          <p:cNvSpPr txBox="1"/>
          <p:nvPr/>
        </p:nvSpPr>
        <p:spPr>
          <a:xfrm>
            <a:off x="508000" y="6515100"/>
            <a:ext cx="3810000" cy="177800"/>
          </a:xfrm>
          <a:prstGeom prst="rect">
            <a:avLst/>
          </a:prstGeom>
          <a:noFill/>
        </p:spPr>
        <p:txBody>
          <a:bodyPr wrap="square" lIns="0" rIns="0" tIns="0" bIns="0" anchor="t">
            <a:spAutoFit/>
          </a:bodyPr>
          <a:lstStyle/>
          <a:p>
            <a:pPr algn="l">
              <a:spcAft>
                <a:spcPts val="0"/>
              </a:spcAft>
            </a:pPr>
            <a:r>
              <a:rPr sz="1000" b="1" i="0">
                <a:solidFill>
                  <a:srgbClr val="17324D"/>
                </a:solidFill>
                <a:latin typeface="Calibri"/>
              </a:rPr>
              <a:t>TEAM TEJAS019 · SynThera</a:t>
            </a:r>
            <a:r>
              <a:rPr sz="1000" b="0" i="0">
                <a:solidFill>
                  <a:srgbClr val="5B6B7A"/>
                </a:solidFill>
                <a:latin typeface="Calibri"/>
              </a:rPr>
              <a:t>    4 / 10</a:t>
            </a:r>
          </a:p>
        </p:txBody>
      </p:sp>
      <p:sp>
        <p:nvSpPr>
          <p:cNvPr id="2057" name="Rounded Rectangle 2056"/>
          <p:cNvSpPr/>
          <p:nvPr/>
        </p:nvSpPr>
        <p:spPr>
          <a:xfrm>
            <a:off x="508000" y="1930400"/>
            <a:ext cx="2413000" cy="1041400"/>
          </a:xfrm>
          <a:prstGeom prst="roundRect">
            <a:avLst>
              <a:gd name="adj" fmla="val 6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58" name="TextBox 2057"/>
          <p:cNvSpPr txBox="1"/>
          <p:nvPr/>
        </p:nvSpPr>
        <p:spPr>
          <a:xfrm>
            <a:off x="711200" y="2057400"/>
            <a:ext cx="2095500" cy="482600"/>
          </a:xfrm>
          <a:prstGeom prst="rect">
            <a:avLst/>
          </a:prstGeom>
          <a:noFill/>
        </p:spPr>
        <p:txBody>
          <a:bodyPr wrap="square" lIns="0" rIns="0" tIns="0" bIns="0" anchor="t">
            <a:spAutoFit/>
          </a:bodyPr>
          <a:lstStyle/>
          <a:p>
            <a:pPr algn="l">
              <a:spcAft>
                <a:spcPts val="0"/>
              </a:spcAft>
            </a:pPr>
            <a:r>
              <a:rPr sz="3000" b="1" i="0">
                <a:solidFill>
                  <a:srgbClr val="C2603F"/>
                </a:solidFill>
                <a:latin typeface="Calibri"/>
              </a:rPr>
              <a:t>175</a:t>
            </a:r>
          </a:p>
        </p:txBody>
      </p:sp>
      <p:sp>
        <p:nvSpPr>
          <p:cNvPr id="2059" name="TextBox 2058"/>
          <p:cNvSpPr txBox="1"/>
          <p:nvPr/>
        </p:nvSpPr>
        <p:spPr>
          <a:xfrm>
            <a:off x="711200" y="2565400"/>
            <a:ext cx="2095500" cy="304800"/>
          </a:xfrm>
          <a:prstGeom prst="rect">
            <a:avLst/>
          </a:prstGeom>
          <a:noFill/>
        </p:spPr>
        <p:txBody>
          <a:bodyPr wrap="square" lIns="0" rIns="0" tIns="0" bIns="0" anchor="t">
            <a:spAutoFit/>
          </a:bodyPr>
          <a:lstStyle/>
          <a:p>
            <a:pPr algn="l">
              <a:spcAft>
                <a:spcPts val="0"/>
              </a:spcAft>
            </a:pPr>
            <a:r>
              <a:rPr sz="1300" b="0" i="0">
                <a:solidFill>
                  <a:srgbClr val="5B6B7A"/>
                </a:solidFill>
                <a:latin typeface="Calibri"/>
              </a:rPr>
              <a:t>adults, vs a rested group</a:t>
            </a:r>
          </a:p>
        </p:txBody>
      </p:sp>
      <p:sp>
        <p:nvSpPr>
          <p:cNvPr id="2060" name="Rounded Rectangle 2059"/>
          <p:cNvSpPr/>
          <p:nvPr/>
        </p:nvSpPr>
        <p:spPr>
          <a:xfrm>
            <a:off x="3048000" y="1930400"/>
            <a:ext cx="2413000" cy="1041400"/>
          </a:xfrm>
          <a:prstGeom prst="roundRect">
            <a:avLst>
              <a:gd name="adj" fmla="val 6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61" name="TextBox 2060"/>
          <p:cNvSpPr txBox="1"/>
          <p:nvPr/>
        </p:nvSpPr>
        <p:spPr>
          <a:xfrm>
            <a:off x="3251200" y="2057400"/>
            <a:ext cx="2095500" cy="482600"/>
          </a:xfrm>
          <a:prstGeom prst="rect">
            <a:avLst/>
          </a:prstGeom>
          <a:noFill/>
        </p:spPr>
        <p:txBody>
          <a:bodyPr wrap="square" lIns="0" rIns="0" tIns="0" bIns="0" anchor="t">
            <a:spAutoFit/>
          </a:bodyPr>
          <a:lstStyle/>
          <a:p>
            <a:pPr algn="l">
              <a:spcAft>
                <a:spcPts val="0"/>
              </a:spcAft>
            </a:pPr>
            <a:r>
              <a:rPr sz="3000" b="1" i="0">
                <a:solidFill>
                  <a:srgbClr val="17324D"/>
                </a:solidFill>
                <a:latin typeface="Calibri"/>
              </a:rPr>
              <a:t>18</a:t>
            </a:r>
          </a:p>
        </p:txBody>
      </p:sp>
      <p:sp>
        <p:nvSpPr>
          <p:cNvPr id="2062" name="TextBox 2061"/>
          <p:cNvSpPr txBox="1"/>
          <p:nvPr/>
        </p:nvSpPr>
        <p:spPr>
          <a:xfrm>
            <a:off x="3251200" y="2565400"/>
            <a:ext cx="2095500" cy="304800"/>
          </a:xfrm>
          <a:prstGeom prst="rect">
            <a:avLst/>
          </a:prstGeom>
          <a:noFill/>
        </p:spPr>
        <p:txBody>
          <a:bodyPr wrap="square" lIns="0" rIns="0" tIns="0" bIns="0" anchor="t">
            <a:spAutoFit/>
          </a:bodyPr>
          <a:lstStyle/>
          <a:p>
            <a:pPr algn="l">
              <a:spcAft>
                <a:spcPts val="0"/>
              </a:spcAft>
            </a:pPr>
            <a:r>
              <a:rPr sz="1300" b="0" i="0">
                <a:solidFill>
                  <a:srgbClr val="5B6B7A"/>
                </a:solidFill>
                <a:latin typeface="Calibri"/>
              </a:rPr>
              <a:t>exercise fingerprints</a:t>
            </a:r>
          </a:p>
        </p:txBody>
      </p:sp>
      <p:sp>
        <p:nvSpPr>
          <p:cNvPr id="2063" name="Rounded Rectangle 2062"/>
          <p:cNvSpPr/>
          <p:nvPr/>
        </p:nvSpPr>
        <p:spPr>
          <a:xfrm>
            <a:off x="508000" y="3098800"/>
            <a:ext cx="2413000" cy="1041400"/>
          </a:xfrm>
          <a:prstGeom prst="roundRect">
            <a:avLst>
              <a:gd name="adj" fmla="val 6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64" name="TextBox 2063"/>
          <p:cNvSpPr txBox="1"/>
          <p:nvPr/>
        </p:nvSpPr>
        <p:spPr>
          <a:xfrm>
            <a:off x="711200" y="3225800"/>
            <a:ext cx="2095500" cy="482600"/>
          </a:xfrm>
          <a:prstGeom prst="rect">
            <a:avLst/>
          </a:prstGeom>
          <a:noFill/>
        </p:spPr>
        <p:txBody>
          <a:bodyPr wrap="square" lIns="0" rIns="0" tIns="0" bIns="0" anchor="t">
            <a:spAutoFit/>
          </a:bodyPr>
          <a:lstStyle/>
          <a:p>
            <a:pPr algn="l">
              <a:spcAft>
                <a:spcPts val="0"/>
              </a:spcAft>
            </a:pPr>
            <a:r>
              <a:rPr sz="3000" b="1" i="0">
                <a:solidFill>
                  <a:srgbClr val="17324D"/>
                </a:solidFill>
                <a:latin typeface="Calibri"/>
              </a:rPr>
              <a:t>720,216</a:t>
            </a:r>
          </a:p>
        </p:txBody>
      </p:sp>
      <p:sp>
        <p:nvSpPr>
          <p:cNvPr id="2065" name="TextBox 2064"/>
          <p:cNvSpPr txBox="1"/>
          <p:nvPr/>
        </p:nvSpPr>
        <p:spPr>
          <a:xfrm>
            <a:off x="711200" y="3733800"/>
            <a:ext cx="2095500" cy="304800"/>
          </a:xfrm>
          <a:prstGeom prst="rect">
            <a:avLst/>
          </a:prstGeom>
          <a:noFill/>
        </p:spPr>
        <p:txBody>
          <a:bodyPr wrap="square" lIns="0" rIns="0" tIns="0" bIns="0" anchor="t">
            <a:spAutoFit/>
          </a:bodyPr>
          <a:lstStyle/>
          <a:p>
            <a:pPr algn="l">
              <a:spcAft>
                <a:spcPts val="0"/>
              </a:spcAft>
            </a:pPr>
            <a:r>
              <a:rPr sz="1300" b="0" i="0">
                <a:solidFill>
                  <a:srgbClr val="5B6B7A"/>
                </a:solidFill>
                <a:latin typeface="Calibri"/>
              </a:rPr>
              <a:t>drug profiles read (33 GB)</a:t>
            </a:r>
          </a:p>
        </p:txBody>
      </p:sp>
      <p:sp>
        <p:nvSpPr>
          <p:cNvPr id="2066" name="Rounded Rectangle 2065"/>
          <p:cNvSpPr/>
          <p:nvPr/>
        </p:nvSpPr>
        <p:spPr>
          <a:xfrm>
            <a:off x="3048000" y="3098800"/>
            <a:ext cx="2413000" cy="1041400"/>
          </a:xfrm>
          <a:prstGeom prst="roundRect">
            <a:avLst>
              <a:gd name="adj" fmla="val 6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67" name="TextBox 2066"/>
          <p:cNvSpPr txBox="1"/>
          <p:nvPr/>
        </p:nvSpPr>
        <p:spPr>
          <a:xfrm>
            <a:off x="3251200" y="3225800"/>
            <a:ext cx="2095500" cy="482600"/>
          </a:xfrm>
          <a:prstGeom prst="rect">
            <a:avLst/>
          </a:prstGeom>
          <a:noFill/>
        </p:spPr>
        <p:txBody>
          <a:bodyPr wrap="square" lIns="0" rIns="0" tIns="0" bIns="0" anchor="t">
            <a:spAutoFit/>
          </a:bodyPr>
          <a:lstStyle/>
          <a:p>
            <a:pPr algn="l">
              <a:spcAft>
                <a:spcPts val="0"/>
              </a:spcAft>
            </a:pPr>
            <a:r>
              <a:rPr sz="3000" b="1" i="0">
                <a:solidFill>
                  <a:srgbClr val="C2603F"/>
                </a:solidFill>
                <a:latin typeface="Calibri"/>
              </a:rPr>
              <a:t>29,680</a:t>
            </a:r>
          </a:p>
        </p:txBody>
      </p:sp>
      <p:sp>
        <p:nvSpPr>
          <p:cNvPr id="2068" name="TextBox 2067"/>
          <p:cNvSpPr txBox="1"/>
          <p:nvPr/>
        </p:nvSpPr>
        <p:spPr>
          <a:xfrm>
            <a:off x="3251200" y="3733800"/>
            <a:ext cx="2095500" cy="304800"/>
          </a:xfrm>
          <a:prstGeom prst="rect">
            <a:avLst/>
          </a:prstGeom>
          <a:noFill/>
        </p:spPr>
        <p:txBody>
          <a:bodyPr wrap="square" lIns="0" rIns="0" tIns="0" bIns="0" anchor="t">
            <a:spAutoFit/>
          </a:bodyPr>
          <a:lstStyle/>
          <a:p>
            <a:pPr algn="l">
              <a:spcAft>
                <a:spcPts val="0"/>
              </a:spcAft>
            </a:pPr>
            <a:r>
              <a:rPr sz="1300" b="0" i="0">
                <a:solidFill>
                  <a:srgbClr val="5B6B7A"/>
                </a:solidFill>
                <a:latin typeface="Calibri"/>
              </a:rPr>
              <a:t>compounds scored</a:t>
            </a:r>
          </a:p>
        </p:txBody>
      </p:sp>
      <p:sp>
        <p:nvSpPr>
          <p:cNvPr id="2069" name="Rounded Rectangle 2068"/>
          <p:cNvSpPr/>
          <p:nvPr/>
        </p:nvSpPr>
        <p:spPr>
          <a:xfrm>
            <a:off x="508000" y="4267200"/>
            <a:ext cx="2413000" cy="1041400"/>
          </a:xfrm>
          <a:prstGeom prst="roundRect">
            <a:avLst>
              <a:gd name="adj" fmla="val 6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70" name="TextBox 2069"/>
          <p:cNvSpPr txBox="1"/>
          <p:nvPr/>
        </p:nvSpPr>
        <p:spPr>
          <a:xfrm>
            <a:off x="711200" y="4394200"/>
            <a:ext cx="2095500" cy="482600"/>
          </a:xfrm>
          <a:prstGeom prst="rect">
            <a:avLst/>
          </a:prstGeom>
          <a:noFill/>
        </p:spPr>
        <p:txBody>
          <a:bodyPr wrap="square" lIns="0" rIns="0" tIns="0" bIns="0" anchor="t">
            <a:spAutoFit/>
          </a:bodyPr>
          <a:lstStyle/>
          <a:p>
            <a:pPr algn="l">
              <a:spcAft>
                <a:spcPts val="0"/>
              </a:spcAft>
            </a:pPr>
            <a:r>
              <a:rPr sz="3000" b="1" i="0">
                <a:solidFill>
                  <a:srgbClr val="17324D"/>
                </a:solidFill>
                <a:latin typeface="Calibri"/>
              </a:rPr>
              <a:t>1,595</a:t>
            </a:r>
          </a:p>
        </p:txBody>
      </p:sp>
      <p:sp>
        <p:nvSpPr>
          <p:cNvPr id="2071" name="TextBox 2070"/>
          <p:cNvSpPr txBox="1"/>
          <p:nvPr/>
        </p:nvSpPr>
        <p:spPr>
          <a:xfrm>
            <a:off x="711200" y="4902200"/>
            <a:ext cx="2095500" cy="304800"/>
          </a:xfrm>
          <a:prstGeom prst="rect">
            <a:avLst/>
          </a:prstGeom>
          <a:noFill/>
        </p:spPr>
        <p:txBody>
          <a:bodyPr wrap="square" lIns="0" rIns="0" tIns="0" bIns="0" anchor="t">
            <a:spAutoFit/>
          </a:bodyPr>
          <a:lstStyle/>
          <a:p>
            <a:pPr algn="l">
              <a:spcAft>
                <a:spcPts val="0"/>
              </a:spcAft>
            </a:pPr>
            <a:r>
              <a:rPr sz="1300" b="0" i="0">
                <a:solidFill>
                  <a:srgbClr val="5B6B7A"/>
                </a:solidFill>
                <a:latin typeface="Calibri"/>
              </a:rPr>
              <a:t>approved drugs among them</a:t>
            </a:r>
          </a:p>
        </p:txBody>
      </p:sp>
      <p:sp>
        <p:nvSpPr>
          <p:cNvPr id="2072" name="Rounded Rectangle 2071"/>
          <p:cNvSpPr/>
          <p:nvPr/>
        </p:nvSpPr>
        <p:spPr>
          <a:xfrm>
            <a:off x="3048000" y="4267200"/>
            <a:ext cx="2413000" cy="1041400"/>
          </a:xfrm>
          <a:prstGeom prst="roundRect">
            <a:avLst>
              <a:gd name="adj" fmla="val 6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73" name="TextBox 2072"/>
          <p:cNvSpPr txBox="1"/>
          <p:nvPr/>
        </p:nvSpPr>
        <p:spPr>
          <a:xfrm>
            <a:off x="3251200" y="4394200"/>
            <a:ext cx="2095500" cy="482600"/>
          </a:xfrm>
          <a:prstGeom prst="rect">
            <a:avLst/>
          </a:prstGeom>
          <a:noFill/>
        </p:spPr>
        <p:txBody>
          <a:bodyPr wrap="square" lIns="0" rIns="0" tIns="0" bIns="0" anchor="t">
            <a:spAutoFit/>
          </a:bodyPr>
          <a:lstStyle/>
          <a:p>
            <a:pPr algn="l">
              <a:spcAft>
                <a:spcPts val="0"/>
              </a:spcAft>
            </a:pPr>
            <a:r>
              <a:rPr sz="3000" b="1" i="0">
                <a:solidFill>
                  <a:srgbClr val="17324D"/>
                </a:solidFill>
                <a:latin typeface="Calibri"/>
              </a:rPr>
              <a:t>~430 M</a:t>
            </a:r>
          </a:p>
        </p:txBody>
      </p:sp>
      <p:sp>
        <p:nvSpPr>
          <p:cNvPr id="2074" name="TextBox 2073"/>
          <p:cNvSpPr txBox="1"/>
          <p:nvPr/>
        </p:nvSpPr>
        <p:spPr>
          <a:xfrm>
            <a:off x="3251200" y="4902200"/>
            <a:ext cx="2095500" cy="304800"/>
          </a:xfrm>
          <a:prstGeom prst="rect">
            <a:avLst/>
          </a:prstGeom>
          <a:noFill/>
        </p:spPr>
        <p:txBody>
          <a:bodyPr wrap="square" lIns="0" rIns="0" tIns="0" bIns="0" anchor="t">
            <a:spAutoFit/>
          </a:bodyPr>
          <a:lstStyle/>
          <a:p>
            <a:pPr algn="l">
              <a:spcAft>
                <a:spcPts val="0"/>
              </a:spcAft>
            </a:pPr>
            <a:r>
              <a:rPr sz="1300" b="0" i="0">
                <a:solidFill>
                  <a:srgbClr val="5B6B7A"/>
                </a:solidFill>
                <a:latin typeface="Calibri"/>
              </a:rPr>
              <a:t>scores computed</a:t>
            </a:r>
          </a:p>
        </p:txBody>
      </p:sp>
      <p:graphicFrame>
        <p:nvGraphicFramePr>
          <p:cNvPr id="2075" name="Datasets"/>
          <p:cNvGraphicFramePr>
            <a:graphicFrameLocks noGrp="1"/>
          </p:cNvGraphicFramePr>
          <p:nvPr/>
        </p:nvGraphicFramePr>
        <p:xfrm>
          <a:off x="5715000" y="1930400"/>
          <a:ext cx="5080000" cy="2933700"/>
        </p:xfrm>
        <a:graphic>
          <a:graphicData uri="http://schemas.openxmlformats.org/drawingml/2006/table">
            <a:tbl>
              <a:tblPr firstRow="1" bandRow="1">
                <a:tableStyleId>{5940675A-B579-460E-94D1-54222C63F5DA}</a:tableStyleId>
              </a:tblPr>
              <a:tblGrid>
                <a:gridCol w="2603500"/>
                <a:gridCol w="2476500"/>
              </a:tblGrid>
              <a:tr h="419100">
                <a:tc>
                  <a:txBody>
                    <a:bodyPr wrap="square"/>
                    <a:lstStyle/>
                    <a:p>
                      <a:r>
                        <a:rPr sz="1300" b="1">
                          <a:solidFill>
                            <a:srgbClr val="FFFFFF"/>
                          </a:solidFill>
                          <a:latin typeface="Calibri"/>
                        </a:rPr>
                        <a:t>Dataset</a:t>
                      </a:r>
                    </a:p>
                  </a:txBody>
                  <a:tcPr marL="101600" marR="101600" marT="38100" marB="38100" anchor="ctr">
                    <a:solidFill>
                      <a:srgbClr val="17324D"/>
                    </a:solidFill>
                    <a:lnL w="9525">
                      <a:solidFill>
                        <a:srgbClr val="D8E0E7"/>
                      </a:solidFill>
                    </a:lnL>
                    <a:lnR w="9525">
                      <a:solidFill>
                        <a:srgbClr val="D8E0E7"/>
                      </a:solidFill>
                    </a:lnR>
                    <a:lnT w="9525">
                      <a:solidFill>
                        <a:srgbClr val="D8E0E7"/>
                      </a:solidFill>
                    </a:lnT>
                    <a:lnB w="9525">
                      <a:solidFill>
                        <a:srgbClr val="D8E0E7"/>
                      </a:solidFill>
                    </a:lnB>
                  </a:tcPr>
                </a:tc>
                <a:tc>
                  <a:txBody>
                    <a:bodyPr wrap="square"/>
                    <a:lstStyle/>
                    <a:p>
                      <a:r>
                        <a:rPr sz="1300" b="1">
                          <a:solidFill>
                            <a:srgbClr val="FFFFFF"/>
                          </a:solidFill>
                          <a:latin typeface="Calibri"/>
                        </a:rPr>
                        <a:t>What it gives us</a:t>
                      </a:r>
                    </a:p>
                  </a:txBody>
                  <a:tcPr marL="101600" marR="101600" marT="38100" marB="38100" anchor="ctr">
                    <a:solidFill>
                      <a:srgbClr val="17324D"/>
                    </a:solidFill>
                    <a:lnL w="9525">
                      <a:solidFill>
                        <a:srgbClr val="D8E0E7"/>
                      </a:solidFill>
                    </a:lnL>
                    <a:lnR w="9525">
                      <a:solidFill>
                        <a:srgbClr val="D8E0E7"/>
                      </a:solidFill>
                    </a:lnR>
                    <a:lnT w="9525">
                      <a:solidFill>
                        <a:srgbClr val="D8E0E7"/>
                      </a:solidFill>
                    </a:lnT>
                    <a:lnB w="9525">
                      <a:solidFill>
                        <a:srgbClr val="D8E0E7"/>
                      </a:solidFill>
                    </a:lnB>
                  </a:tcPr>
                </a:tc>
              </a:tr>
              <a:tr h="419100">
                <a:tc>
                  <a:txBody>
                    <a:bodyPr wrap="square"/>
                    <a:lstStyle/>
                    <a:p>
                      <a:r>
                        <a:rPr sz="1400" b="0">
                          <a:solidFill>
                            <a:srgbClr val="1F2A36"/>
                          </a:solidFill>
                          <a:latin typeface="Calibri"/>
                        </a:rPr>
                        <a:t>MoTrPAC human (c2.0)</a:t>
                      </a:r>
                    </a:p>
                  </a:txBody>
                  <a:tcPr marL="101600" marR="101600" marT="38100" marB="38100" anchor="ctr">
                    <a:solidFill>
                      <a:srgbClr val="FFFFFF"/>
                    </a:solidFill>
                    <a:lnL w="9525">
                      <a:solidFill>
                        <a:srgbClr val="D8E0E7"/>
                      </a:solidFill>
                    </a:lnL>
                    <a:lnR w="9525">
                      <a:solidFill>
                        <a:srgbClr val="D8E0E7"/>
                      </a:solidFill>
                    </a:lnR>
                    <a:lnT w="9525">
                      <a:solidFill>
                        <a:srgbClr val="D8E0E7"/>
                      </a:solidFill>
                    </a:lnT>
                    <a:lnB w="9525">
                      <a:solidFill>
                        <a:srgbClr val="D8E0E7"/>
                      </a:solidFill>
                    </a:lnB>
                  </a:tcPr>
                </a:tc>
                <a:tc>
                  <a:txBody>
                    <a:bodyPr wrap="square"/>
                    <a:lstStyle/>
                    <a:p>
                      <a:r>
                        <a:rPr sz="1400" b="1">
                          <a:solidFill>
                            <a:srgbClr val="17324D"/>
                          </a:solidFill>
                          <a:latin typeface="Calibri"/>
                        </a:rPr>
                        <a:t>Exercise fingerprints</a:t>
                      </a:r>
                    </a:p>
                  </a:txBody>
                  <a:tcPr marL="101600" marR="101600" marT="38100" marB="38100" anchor="ctr">
                    <a:solidFill>
                      <a:srgbClr val="FFFFFF"/>
                    </a:solidFill>
                    <a:lnL w="9525">
                      <a:solidFill>
                        <a:srgbClr val="D8E0E7"/>
                      </a:solidFill>
                    </a:lnL>
                    <a:lnR w="9525">
                      <a:solidFill>
                        <a:srgbClr val="D8E0E7"/>
                      </a:solidFill>
                    </a:lnR>
                    <a:lnT w="9525">
                      <a:solidFill>
                        <a:srgbClr val="D8E0E7"/>
                      </a:solidFill>
                    </a:lnT>
                    <a:lnB w="9525">
                      <a:solidFill>
                        <a:srgbClr val="D8E0E7"/>
                      </a:solidFill>
                    </a:lnB>
                  </a:tcPr>
                </a:tc>
              </a:tr>
              <a:tr h="419100">
                <a:tc>
                  <a:txBody>
                    <a:bodyPr wrap="square"/>
                    <a:lstStyle/>
                    <a:p>
                      <a:r>
                        <a:rPr sz="1400" b="0">
                          <a:solidFill>
                            <a:srgbClr val="1F2A36"/>
                          </a:solidFill>
                          <a:latin typeface="Calibri"/>
                        </a:rPr>
                        <a:t>CMap LINCS 2020 L1000</a:t>
                      </a:r>
                    </a:p>
                  </a:txBody>
                  <a:tcPr marL="101600" marR="101600" marT="38100" marB="38100" anchor="ctr">
                    <a:solidFill>
                      <a:srgbClr val="F1F5F8"/>
                    </a:solidFill>
                    <a:lnL w="9525">
                      <a:solidFill>
                        <a:srgbClr val="D8E0E7"/>
                      </a:solidFill>
                    </a:lnL>
                    <a:lnR w="9525">
                      <a:solidFill>
                        <a:srgbClr val="D8E0E7"/>
                      </a:solidFill>
                    </a:lnR>
                    <a:lnT w="9525">
                      <a:solidFill>
                        <a:srgbClr val="D8E0E7"/>
                      </a:solidFill>
                    </a:lnT>
                    <a:lnB w="9525">
                      <a:solidFill>
                        <a:srgbClr val="D8E0E7"/>
                      </a:solidFill>
                    </a:lnB>
                  </a:tcPr>
                </a:tc>
                <a:tc>
                  <a:txBody>
                    <a:bodyPr wrap="square"/>
                    <a:lstStyle/>
                    <a:p>
                      <a:r>
                        <a:rPr sz="1400" b="1">
                          <a:solidFill>
                            <a:srgbClr val="17324D"/>
                          </a:solidFill>
                          <a:latin typeface="Calibri"/>
                        </a:rPr>
                        <a:t>Drug fingerprints</a:t>
                      </a:r>
                    </a:p>
                  </a:txBody>
                  <a:tcPr marL="101600" marR="101600" marT="38100" marB="38100" anchor="ctr">
                    <a:solidFill>
                      <a:srgbClr val="F1F5F8"/>
                    </a:solidFill>
                    <a:lnL w="9525">
                      <a:solidFill>
                        <a:srgbClr val="D8E0E7"/>
                      </a:solidFill>
                    </a:lnL>
                    <a:lnR w="9525">
                      <a:solidFill>
                        <a:srgbClr val="D8E0E7"/>
                      </a:solidFill>
                    </a:lnR>
                    <a:lnT w="9525">
                      <a:solidFill>
                        <a:srgbClr val="D8E0E7"/>
                      </a:solidFill>
                    </a:lnT>
                    <a:lnB w="9525">
                      <a:solidFill>
                        <a:srgbClr val="D8E0E7"/>
                      </a:solidFill>
                    </a:lnB>
                  </a:tcPr>
                </a:tc>
              </a:tr>
              <a:tr h="419100">
                <a:tc>
                  <a:txBody>
                    <a:bodyPr wrap="square"/>
                    <a:lstStyle/>
                    <a:p>
                      <a:r>
                        <a:rPr sz="1400" b="0">
                          <a:solidFill>
                            <a:srgbClr val="1F2A36"/>
                          </a:solidFill>
                          <a:latin typeface="Calibri"/>
                        </a:rPr>
                        <a:t>Drug Repurposing Hub</a:t>
                      </a:r>
                    </a:p>
                  </a:txBody>
                  <a:tcPr marL="101600" marR="101600" marT="38100" marB="38100" anchor="ctr">
                    <a:solidFill>
                      <a:srgbClr val="FFFFFF"/>
                    </a:solidFill>
                    <a:lnL w="9525">
                      <a:solidFill>
                        <a:srgbClr val="D8E0E7"/>
                      </a:solidFill>
                    </a:lnL>
                    <a:lnR w="9525">
                      <a:solidFill>
                        <a:srgbClr val="D8E0E7"/>
                      </a:solidFill>
                    </a:lnR>
                    <a:lnT w="9525">
                      <a:solidFill>
                        <a:srgbClr val="D8E0E7"/>
                      </a:solidFill>
                    </a:lnT>
                    <a:lnB w="9525">
                      <a:solidFill>
                        <a:srgbClr val="D8E0E7"/>
                      </a:solidFill>
                    </a:lnB>
                  </a:tcPr>
                </a:tc>
                <a:tc>
                  <a:txBody>
                    <a:bodyPr wrap="square"/>
                    <a:lstStyle/>
                    <a:p>
                      <a:r>
                        <a:rPr sz="1400" b="1">
                          <a:solidFill>
                            <a:srgbClr val="17324D"/>
                          </a:solidFill>
                          <a:latin typeface="Calibri"/>
                        </a:rPr>
                        <a:t>Approval status, mechanism</a:t>
                      </a:r>
                    </a:p>
                  </a:txBody>
                  <a:tcPr marL="101600" marR="101600" marT="38100" marB="38100" anchor="ctr">
                    <a:solidFill>
                      <a:srgbClr val="FFFFFF"/>
                    </a:solidFill>
                    <a:lnL w="9525">
                      <a:solidFill>
                        <a:srgbClr val="D8E0E7"/>
                      </a:solidFill>
                    </a:lnL>
                    <a:lnR w="9525">
                      <a:solidFill>
                        <a:srgbClr val="D8E0E7"/>
                      </a:solidFill>
                    </a:lnR>
                    <a:lnT w="9525">
                      <a:solidFill>
                        <a:srgbClr val="D8E0E7"/>
                      </a:solidFill>
                    </a:lnT>
                    <a:lnB w="9525">
                      <a:solidFill>
                        <a:srgbClr val="D8E0E7"/>
                      </a:solidFill>
                    </a:lnB>
                  </a:tcPr>
                </a:tc>
              </a:tr>
              <a:tr h="419100">
                <a:tc>
                  <a:txBody>
                    <a:bodyPr wrap="square"/>
                    <a:lstStyle/>
                    <a:p>
                      <a:r>
                        <a:rPr sz="1400" b="0">
                          <a:solidFill>
                            <a:srgbClr val="1F2A36"/>
                          </a:solidFill>
                          <a:latin typeface="Calibri"/>
                        </a:rPr>
                        <a:t>MSigDB Hallmark + Reactome</a:t>
                      </a:r>
                    </a:p>
                  </a:txBody>
                  <a:tcPr marL="101600" marR="101600" marT="38100" marB="38100" anchor="ctr">
                    <a:solidFill>
                      <a:srgbClr val="F1F5F8"/>
                    </a:solidFill>
                    <a:lnL w="9525">
                      <a:solidFill>
                        <a:srgbClr val="D8E0E7"/>
                      </a:solidFill>
                    </a:lnL>
                    <a:lnR w="9525">
                      <a:solidFill>
                        <a:srgbClr val="D8E0E7"/>
                      </a:solidFill>
                    </a:lnR>
                    <a:lnT w="9525">
                      <a:solidFill>
                        <a:srgbClr val="D8E0E7"/>
                      </a:solidFill>
                    </a:lnT>
                    <a:lnB w="9525">
                      <a:solidFill>
                        <a:srgbClr val="D8E0E7"/>
                      </a:solidFill>
                    </a:lnB>
                  </a:tcPr>
                </a:tc>
                <a:tc>
                  <a:txBody>
                    <a:bodyPr wrap="square"/>
                    <a:lstStyle/>
                    <a:p>
                      <a:r>
                        <a:rPr sz="1400" b="1">
                          <a:solidFill>
                            <a:srgbClr val="17324D"/>
                          </a:solidFill>
                          <a:latin typeface="Calibri"/>
                        </a:rPr>
                        <a:t>Adaptive vs stress genes</a:t>
                      </a:r>
                    </a:p>
                  </a:txBody>
                  <a:tcPr marL="101600" marR="101600" marT="38100" marB="38100" anchor="ctr">
                    <a:solidFill>
                      <a:srgbClr val="F1F5F8"/>
                    </a:solidFill>
                    <a:lnL w="9525">
                      <a:solidFill>
                        <a:srgbClr val="D8E0E7"/>
                      </a:solidFill>
                    </a:lnL>
                    <a:lnR w="9525">
                      <a:solidFill>
                        <a:srgbClr val="D8E0E7"/>
                      </a:solidFill>
                    </a:lnR>
                    <a:lnT w="9525">
                      <a:solidFill>
                        <a:srgbClr val="D8E0E7"/>
                      </a:solidFill>
                    </a:lnT>
                    <a:lnB w="9525">
                      <a:solidFill>
                        <a:srgbClr val="D8E0E7"/>
                      </a:solidFill>
                    </a:lnB>
                  </a:tcPr>
                </a:tc>
              </a:tr>
              <a:tr h="419100">
                <a:tc>
                  <a:txBody>
                    <a:bodyPr wrap="square"/>
                    <a:lstStyle/>
                    <a:p>
                      <a:r>
                        <a:rPr sz="1400" b="0">
                          <a:solidFill>
                            <a:srgbClr val="1F2A36"/>
                          </a:solidFill>
                          <a:latin typeface="Calibri"/>
                        </a:rPr>
                        <a:t>MoTrPAC rat (PASS1B)</a:t>
                      </a:r>
                    </a:p>
                  </a:txBody>
                  <a:tcPr marL="101600" marR="101600" marT="38100" marB="38100" anchor="ctr">
                    <a:solidFill>
                      <a:srgbClr val="FFFFFF"/>
                    </a:solidFill>
                    <a:lnL w="9525">
                      <a:solidFill>
                        <a:srgbClr val="D8E0E7"/>
                      </a:solidFill>
                    </a:lnL>
                    <a:lnR w="9525">
                      <a:solidFill>
                        <a:srgbClr val="D8E0E7"/>
                      </a:solidFill>
                    </a:lnR>
                    <a:lnT w="9525">
                      <a:solidFill>
                        <a:srgbClr val="D8E0E7"/>
                      </a:solidFill>
                    </a:lnT>
                    <a:lnB w="9525">
                      <a:solidFill>
                        <a:srgbClr val="D8E0E7"/>
                      </a:solidFill>
                    </a:lnB>
                  </a:tcPr>
                </a:tc>
                <a:tc>
                  <a:txBody>
                    <a:bodyPr wrap="square"/>
                    <a:lstStyle/>
                    <a:p>
                      <a:r>
                        <a:rPr sz="1400" b="1">
                          <a:solidFill>
                            <a:srgbClr val="17324D"/>
                          </a:solidFill>
                          <a:latin typeface="Calibri"/>
                        </a:rPr>
                        <a:t>Comparison arm</a:t>
                      </a:r>
                    </a:p>
                  </a:txBody>
                  <a:tcPr marL="101600" marR="101600" marT="38100" marB="38100" anchor="ctr">
                    <a:solidFill>
                      <a:srgbClr val="FFFFFF"/>
                    </a:solidFill>
                    <a:lnL w="9525">
                      <a:solidFill>
                        <a:srgbClr val="D8E0E7"/>
                      </a:solidFill>
                    </a:lnL>
                    <a:lnR w="9525">
                      <a:solidFill>
                        <a:srgbClr val="D8E0E7"/>
                      </a:solidFill>
                    </a:lnR>
                    <a:lnT w="9525">
                      <a:solidFill>
                        <a:srgbClr val="D8E0E7"/>
                      </a:solidFill>
                    </a:lnT>
                    <a:lnB w="9525">
                      <a:solidFill>
                        <a:srgbClr val="D8E0E7"/>
                      </a:solidFill>
                    </a:lnB>
                  </a:tcPr>
                </a:tc>
              </a:tr>
              <a:tr h="419100">
                <a:tc>
                  <a:txBody>
                    <a:bodyPr wrap="square"/>
                    <a:lstStyle/>
                    <a:p>
                      <a:r>
                        <a:rPr sz="1400" b="0">
                          <a:solidFill>
                            <a:srgbClr val="1F2A36"/>
                          </a:solidFill>
                          <a:latin typeface="Calibri"/>
                        </a:rPr>
                        <a:t>GSFM, Hugging Face</a:t>
                      </a:r>
                    </a:p>
                  </a:txBody>
                  <a:tcPr marL="101600" marR="101600" marT="38100" marB="38100" anchor="ctr">
                    <a:solidFill>
                      <a:srgbClr val="F1F5F8"/>
                    </a:solidFill>
                    <a:lnL w="9525">
                      <a:solidFill>
                        <a:srgbClr val="D8E0E7"/>
                      </a:solidFill>
                    </a:lnL>
                    <a:lnR w="9525">
                      <a:solidFill>
                        <a:srgbClr val="D8E0E7"/>
                      </a:solidFill>
                    </a:lnR>
                    <a:lnT w="9525">
                      <a:solidFill>
                        <a:srgbClr val="D8E0E7"/>
                      </a:solidFill>
                    </a:lnT>
                    <a:lnB w="9525">
                      <a:solidFill>
                        <a:srgbClr val="D8E0E7"/>
                      </a:solidFill>
                    </a:lnB>
                  </a:tcPr>
                </a:tc>
                <a:tc>
                  <a:txBody>
                    <a:bodyPr wrap="square"/>
                    <a:lstStyle/>
                    <a:p>
                      <a:r>
                        <a:rPr sz="1400" b="1">
                          <a:solidFill>
                            <a:srgbClr val="17324D"/>
                          </a:solidFill>
                          <a:latin typeface="Calibri"/>
                        </a:rPr>
                        <a:t>Pretrained AI model</a:t>
                      </a:r>
                    </a:p>
                  </a:txBody>
                  <a:tcPr marL="101600" marR="101600" marT="38100" marB="38100" anchor="ctr">
                    <a:solidFill>
                      <a:srgbClr val="F1F5F8"/>
                    </a:solidFill>
                    <a:lnL w="9525">
                      <a:solidFill>
                        <a:srgbClr val="D8E0E7"/>
                      </a:solidFill>
                    </a:lnL>
                    <a:lnR w="9525">
                      <a:solidFill>
                        <a:srgbClr val="D8E0E7"/>
                      </a:solidFill>
                    </a:lnR>
                    <a:lnT w="9525">
                      <a:solidFill>
                        <a:srgbClr val="D8E0E7"/>
                      </a:solidFill>
                    </a:lnT>
                    <a:lnB w="9525">
                      <a:solidFill>
                        <a:srgbClr val="D8E0E7"/>
                      </a:solidFill>
                    </a:lnB>
                  </a:tcPr>
                </a:tc>
              </a:tr>
            </a:tbl>
          </a:graphicData>
        </a:graphic>
      </p:graphicFrame>
      <p:sp>
        <p:nvSpPr>
          <p:cNvPr id="2076" name="TextBox 2075"/>
          <p:cNvSpPr txBox="1"/>
          <p:nvPr/>
        </p:nvSpPr>
        <p:spPr>
          <a:xfrm>
            <a:off x="5715000" y="4978400"/>
            <a:ext cx="5080000" cy="762000"/>
          </a:xfrm>
          <a:prstGeom prst="rect">
            <a:avLst/>
          </a:prstGeom>
          <a:noFill/>
        </p:spPr>
        <p:txBody>
          <a:bodyPr wrap="square" lIns="0" rIns="0" tIns="0" bIns="0" anchor="t">
            <a:spAutoFit/>
          </a:bodyPr>
          <a:lstStyle/>
          <a:p>
            <a:pPr algn="l">
              <a:spcAft>
                <a:spcPts val="400"/>
              </a:spcAft>
            </a:pPr>
            <a:r>
              <a:rPr sz="1300" b="1" i="0">
                <a:solidFill>
                  <a:srgbClr val="C2603F"/>
                </a:solidFill>
                <a:latin typeface="Calibri"/>
              </a:rPr>
              <a:t>Stack  </a:t>
            </a:r>
            <a:r>
              <a:rPr sz="1300" b="0" i="0">
                <a:solidFill>
                  <a:srgbClr val="1F2A36"/>
                </a:solidFill>
                <a:latin typeface="Calibri"/>
              </a:rPr>
              <a:t>Python 3.12 · NumPy · SciPy · pandas · PyTorch · UMAP · HTML/JS</a:t>
            </a:r>
          </a:p>
          <a:p>
            <a:pPr algn="l">
              <a:spcAft>
                <a:spcPts val="400"/>
              </a:spcAft>
            </a:pPr>
            <a:r>
              <a:rPr sz="1300" b="1" i="0">
                <a:solidFill>
                  <a:srgbClr val="C2603F"/>
                </a:solidFill>
                <a:latin typeface="Calibri"/>
              </a:rPr>
              <a:t>Speed  </a:t>
            </a:r>
            <a:r>
              <a:rPr sz="1300" b="0" i="0">
                <a:solidFill>
                  <a:srgbClr val="1F2A36"/>
                </a:solidFill>
                <a:latin typeface="Calibri"/>
              </a:rPr>
              <a:t>29 min on a 6-core laptop; seed 19 gives identical runs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8000" y="914400"/>
            <a:ext cx="10160000" cy="558800"/>
          </a:xfrm>
        </p:spPr>
        <p:txBody>
          <a:bodyPr lIns="0" rIns="0" tIns="0" bIns="0" anchor="ctr" wrap="square"/>
          <a:lstStyle/>
          <a:p>
            <a:pPr algn="l"/>
            <a:r>
              <a:rPr sz="3000" b="1" i="0">
                <a:solidFill>
                  <a:srgbClr val="17324D"/>
                </a:solidFill>
                <a:latin typeface="Calibri"/>
              </a:rPr>
              <a:t>AI reads gene lists by meaning, and four methods vote</a:t>
            </a:r>
          </a:p>
        </p:txBody>
      </p:sp>
      <p:pic>
        <p:nvPicPr>
          <p:cNvPr id="2052" name="Picture 3">
            <a:extLst>
              <a:ext uri="{FF2B5EF4-FFF2-40B4-BE49-F238E27FC236}">
                <a16:creationId xmlns:a16="http://schemas.microsoft.com/office/drawing/2014/main" id="{378F6D54-6499-75C5-2592-C5AB0BDD5E46}"/>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8847138" y="-542925"/>
            <a:ext cx="3848100" cy="2165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53" name="Picture 5">
            <a:extLst>
              <a:ext uri="{FF2B5EF4-FFF2-40B4-BE49-F238E27FC236}">
                <a16:creationId xmlns:a16="http://schemas.microsoft.com/office/drawing/2014/main" id="{9A04B610-E394-4B99-2A07-DD2268AD1720}"/>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0975975" y="5761038"/>
            <a:ext cx="1096963" cy="1096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54" name="Picture 6">
            <a:extLst>
              <a:ext uri="{FF2B5EF4-FFF2-40B4-BE49-F238E27FC236}">
                <a16:creationId xmlns:a16="http://schemas.microsoft.com/office/drawing/2014/main" id="{1CDC6573-5491-7E9F-218F-A7B51A6D63C6}"/>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85738" y="211138"/>
            <a:ext cx="2352675" cy="611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55" name="Footer"/>
          <p:cNvSpPr txBox="1"/>
          <p:nvPr/>
        </p:nvSpPr>
        <p:spPr>
          <a:xfrm>
            <a:off x="508000" y="6515100"/>
            <a:ext cx="3810000" cy="177800"/>
          </a:xfrm>
          <a:prstGeom prst="rect">
            <a:avLst/>
          </a:prstGeom>
          <a:noFill/>
        </p:spPr>
        <p:txBody>
          <a:bodyPr wrap="square" lIns="0" rIns="0" tIns="0" bIns="0" anchor="t">
            <a:spAutoFit/>
          </a:bodyPr>
          <a:lstStyle/>
          <a:p>
            <a:pPr algn="l">
              <a:spcAft>
                <a:spcPts val="0"/>
              </a:spcAft>
            </a:pPr>
            <a:r>
              <a:rPr sz="1000" b="1" i="0">
                <a:solidFill>
                  <a:srgbClr val="17324D"/>
                </a:solidFill>
                <a:latin typeface="Calibri"/>
              </a:rPr>
              <a:t>TEAM TEJAS019 · SynThera</a:t>
            </a:r>
            <a:r>
              <a:rPr sz="1000" b="0" i="0">
                <a:solidFill>
                  <a:srgbClr val="5B6B7A"/>
                </a:solidFill>
                <a:latin typeface="Calibri"/>
              </a:rPr>
              <a:t>    5 / 10</a:t>
            </a:r>
          </a:p>
        </p:txBody>
      </p:sp>
      <p:sp>
        <p:nvSpPr>
          <p:cNvPr id="2056" name="GSFM panel"/>
          <p:cNvSpPr/>
          <p:nvPr/>
        </p:nvSpPr>
        <p:spPr>
          <a:xfrm>
            <a:off x="508000" y="1625600"/>
            <a:ext cx="5080000" cy="4191000"/>
          </a:xfrm>
          <a:prstGeom prst="roundRect">
            <a:avLst>
              <a:gd name="adj" fmla="val 6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57" name="TextBox 2056"/>
          <p:cNvSpPr txBox="1"/>
          <p:nvPr/>
        </p:nvSpPr>
        <p:spPr>
          <a:xfrm>
            <a:off x="762000" y="1828800"/>
            <a:ext cx="4572000" cy="279400"/>
          </a:xfrm>
          <a:prstGeom prst="rect">
            <a:avLst/>
          </a:prstGeom>
          <a:noFill/>
        </p:spPr>
        <p:txBody>
          <a:bodyPr wrap="square" lIns="0" rIns="0" tIns="0" bIns="0" anchor="t">
            <a:spAutoFit/>
          </a:bodyPr>
          <a:lstStyle/>
          <a:p>
            <a:pPr algn="l">
              <a:spcAft>
                <a:spcPts val="0"/>
              </a:spcAft>
            </a:pPr>
            <a:r>
              <a:rPr sz="1700" b="1" i="0">
                <a:solidFill>
                  <a:srgbClr val="17324D"/>
                </a:solidFill>
                <a:latin typeface="Calibri"/>
              </a:rPr>
              <a:t>GSFM · Gene Set Foundation Model</a:t>
            </a:r>
          </a:p>
        </p:txBody>
      </p:sp>
      <p:sp>
        <p:nvSpPr>
          <p:cNvPr id="2058" name="TextBox 2057"/>
          <p:cNvSpPr txBox="1"/>
          <p:nvPr/>
        </p:nvSpPr>
        <p:spPr>
          <a:xfrm>
            <a:off x="762000" y="2133600"/>
            <a:ext cx="4572000" cy="228600"/>
          </a:xfrm>
          <a:prstGeom prst="rect">
            <a:avLst/>
          </a:prstGeom>
          <a:noFill/>
        </p:spPr>
        <p:txBody>
          <a:bodyPr wrap="square" lIns="0" rIns="0" tIns="0" bIns="0" anchor="t">
            <a:spAutoFit/>
          </a:bodyPr>
          <a:lstStyle/>
          <a:p>
            <a:pPr algn="l">
              <a:spcAft>
                <a:spcPts val="0"/>
              </a:spcAft>
            </a:pPr>
            <a:r>
              <a:rPr sz="1200" b="0" i="0">
                <a:solidFill>
                  <a:srgbClr val="5B6B7A"/>
                </a:solidFill>
                <a:latin typeface="Calibri"/>
              </a:rPr>
              <a:t>Ma'ayan Lab, Patterns 2026  ·  autoencoder  ·  15.3 M parameters</a:t>
            </a:r>
          </a:p>
        </p:txBody>
      </p:sp>
      <p:sp>
        <p:nvSpPr>
          <p:cNvPr id="2059" name="Rounded Rectangle 2058"/>
          <p:cNvSpPr/>
          <p:nvPr/>
        </p:nvSpPr>
        <p:spPr>
          <a:xfrm>
            <a:off x="889000" y="2565400"/>
            <a:ext cx="381000" cy="1524000"/>
          </a:xfrm>
          <a:prstGeom prst="roundRect">
            <a:avLst>
              <a:gd name="adj" fmla="val 25000"/>
            </a:avLst>
          </a:prstGeom>
          <a:solidFill>
            <a:srgbClr val="2D64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60" name="TextBox 2059"/>
          <p:cNvSpPr txBox="1"/>
          <p:nvPr/>
        </p:nvSpPr>
        <p:spPr>
          <a:xfrm>
            <a:off x="571500" y="4165600"/>
            <a:ext cx="1016000" cy="203200"/>
          </a:xfrm>
          <a:prstGeom prst="rect">
            <a:avLst/>
          </a:prstGeom>
          <a:noFill/>
        </p:spPr>
        <p:txBody>
          <a:bodyPr wrap="square" lIns="0" rIns="0" tIns="0" bIns="0" anchor="t">
            <a:spAutoFit/>
          </a:bodyPr>
          <a:lstStyle/>
          <a:p>
            <a:pPr algn="ctr">
              <a:spcAft>
                <a:spcPts val="0"/>
              </a:spcAft>
            </a:pPr>
            <a:r>
              <a:rPr sz="1300" b="1" i="0">
                <a:solidFill>
                  <a:srgbClr val="17324D"/>
                </a:solidFill>
                <a:latin typeface="Calibri"/>
              </a:rPr>
              <a:t>19,589</a:t>
            </a:r>
          </a:p>
        </p:txBody>
      </p:sp>
      <p:sp>
        <p:nvSpPr>
          <p:cNvPr id="2061" name="TextBox 2060"/>
          <p:cNvSpPr txBox="1"/>
          <p:nvPr/>
        </p:nvSpPr>
        <p:spPr>
          <a:xfrm>
            <a:off x="571500" y="4368800"/>
            <a:ext cx="1016000" cy="177800"/>
          </a:xfrm>
          <a:prstGeom prst="rect">
            <a:avLst/>
          </a:prstGeom>
          <a:noFill/>
        </p:spPr>
        <p:txBody>
          <a:bodyPr wrap="square" lIns="0" rIns="0" tIns="0" bIns="0" anchor="t">
            <a:spAutoFit/>
          </a:bodyPr>
          <a:lstStyle/>
          <a:p>
            <a:pPr algn="ctr">
              <a:spcAft>
                <a:spcPts val="0"/>
              </a:spcAft>
            </a:pPr>
            <a:r>
              <a:rPr sz="1100" b="0" i="0">
                <a:solidFill>
                  <a:srgbClr val="5B6B7A"/>
                </a:solidFill>
                <a:latin typeface="Calibri"/>
              </a:rPr>
              <a:t>genes in</a:t>
            </a:r>
          </a:p>
        </p:txBody>
      </p:sp>
      <p:sp>
        <p:nvSpPr>
          <p:cNvPr id="3" name="Freeform 2"/>
          <p:cNvSpPr/>
          <p:nvPr/>
        </p:nvSpPr>
        <p:spPr>
          <a:xfrm>
            <a:off x="1270000" y="2565400"/>
            <a:ext cx="1016000" cy="1524000"/>
          </a:xfrm>
          <a:custGeom>
            <a:avLst/>
            <a:gdLst/>
            <a:ahLst/>
            <a:cxnLst/>
            <a:rect l="l" t="t" r="r" b="b"/>
            <a:pathLst>
              <a:path w="1016000" h="1524000">
                <a:moveTo>
                  <a:pt x="0" y="0"/>
                </a:moveTo>
                <a:lnTo>
                  <a:pt x="1016000" y="317500"/>
                </a:lnTo>
                <a:lnTo>
                  <a:pt x="1016000" y="1206500"/>
                </a:lnTo>
                <a:lnTo>
                  <a:pt x="0" y="1524000"/>
                </a:lnTo>
                <a:close/>
              </a:path>
            </a:pathLst>
          </a:custGeom>
          <a:solidFill>
            <a:srgbClr val="D3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2" name="Rounded Rectangle 2061"/>
          <p:cNvSpPr/>
          <p:nvPr/>
        </p:nvSpPr>
        <p:spPr>
          <a:xfrm>
            <a:off x="2286000" y="2882900"/>
            <a:ext cx="381000" cy="889000"/>
          </a:xfrm>
          <a:prstGeom prst="roundRect">
            <a:avLst>
              <a:gd name="adj" fmla="val 25000"/>
            </a:avLst>
          </a:prstGeom>
          <a:solidFill>
            <a:srgbClr val="2D64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63" name="TextBox 2062"/>
          <p:cNvSpPr txBox="1"/>
          <p:nvPr/>
        </p:nvSpPr>
        <p:spPr>
          <a:xfrm>
            <a:off x="1968500" y="4165600"/>
            <a:ext cx="1016000" cy="203200"/>
          </a:xfrm>
          <a:prstGeom prst="rect">
            <a:avLst/>
          </a:prstGeom>
          <a:noFill/>
        </p:spPr>
        <p:txBody>
          <a:bodyPr wrap="square" lIns="0" rIns="0" tIns="0" bIns="0" anchor="t">
            <a:spAutoFit/>
          </a:bodyPr>
          <a:lstStyle/>
          <a:p>
            <a:pPr algn="ctr">
              <a:spcAft>
                <a:spcPts val="0"/>
              </a:spcAft>
            </a:pPr>
            <a:r>
              <a:rPr sz="1300" b="1" i="0">
                <a:solidFill>
                  <a:srgbClr val="17324D"/>
                </a:solidFill>
                <a:latin typeface="Calibri"/>
              </a:rPr>
              <a:t>512</a:t>
            </a:r>
          </a:p>
        </p:txBody>
      </p:sp>
      <p:sp>
        <p:nvSpPr>
          <p:cNvPr id="2064" name="TextBox 2063"/>
          <p:cNvSpPr txBox="1"/>
          <p:nvPr/>
        </p:nvSpPr>
        <p:spPr>
          <a:xfrm>
            <a:off x="1968500" y="4368800"/>
            <a:ext cx="1016000" cy="177800"/>
          </a:xfrm>
          <a:prstGeom prst="rect">
            <a:avLst/>
          </a:prstGeom>
          <a:noFill/>
        </p:spPr>
        <p:txBody>
          <a:bodyPr wrap="square" lIns="0" rIns="0" tIns="0" bIns="0" anchor="t">
            <a:spAutoFit/>
          </a:bodyPr>
          <a:lstStyle/>
          <a:p>
            <a:pPr algn="ctr">
              <a:spcAft>
                <a:spcPts val="0"/>
              </a:spcAft>
            </a:pPr>
            <a:r>
              <a:rPr sz="1100" b="0" i="0">
                <a:solidFill>
                  <a:srgbClr val="5B6B7A"/>
                </a:solidFill>
                <a:latin typeface="Calibri"/>
              </a:rPr>
              <a:t>hidden</a:t>
            </a:r>
          </a:p>
        </p:txBody>
      </p:sp>
      <p:sp>
        <p:nvSpPr>
          <p:cNvPr id="4" name="Freeform 3"/>
          <p:cNvSpPr/>
          <p:nvPr/>
        </p:nvSpPr>
        <p:spPr>
          <a:xfrm>
            <a:off x="2667000" y="2882900"/>
            <a:ext cx="914400" cy="889000"/>
          </a:xfrm>
          <a:custGeom>
            <a:avLst/>
            <a:gdLst/>
            <a:ahLst/>
            <a:cxnLst/>
            <a:rect l="l" t="t" r="r" b="b"/>
            <a:pathLst>
              <a:path w="914400" h="889000">
                <a:moveTo>
                  <a:pt x="0" y="0"/>
                </a:moveTo>
                <a:lnTo>
                  <a:pt x="914400" y="165100"/>
                </a:lnTo>
                <a:lnTo>
                  <a:pt x="914400" y="723900"/>
                </a:lnTo>
                <a:lnTo>
                  <a:pt x="0" y="889000"/>
                </a:lnTo>
                <a:close/>
              </a:path>
            </a:pathLst>
          </a:custGeom>
          <a:solidFill>
            <a:srgbClr val="D3E0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5" name="Rounded Rectangle 2064"/>
          <p:cNvSpPr/>
          <p:nvPr/>
        </p:nvSpPr>
        <p:spPr>
          <a:xfrm>
            <a:off x="3581400" y="3048000"/>
            <a:ext cx="381000" cy="558800"/>
          </a:xfrm>
          <a:prstGeom prst="roundRect">
            <a:avLst>
              <a:gd name="adj" fmla="val 25000"/>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66" name="TextBox 2065"/>
          <p:cNvSpPr txBox="1"/>
          <p:nvPr/>
        </p:nvSpPr>
        <p:spPr>
          <a:xfrm>
            <a:off x="3263900" y="4165600"/>
            <a:ext cx="1016000" cy="203200"/>
          </a:xfrm>
          <a:prstGeom prst="rect">
            <a:avLst/>
          </a:prstGeom>
          <a:noFill/>
        </p:spPr>
        <p:txBody>
          <a:bodyPr wrap="square" lIns="0" rIns="0" tIns="0" bIns="0" anchor="t">
            <a:spAutoFit/>
          </a:bodyPr>
          <a:lstStyle/>
          <a:p>
            <a:pPr algn="ctr">
              <a:spcAft>
                <a:spcPts val="0"/>
              </a:spcAft>
            </a:pPr>
            <a:r>
              <a:rPr sz="1300" b="1" i="0">
                <a:solidFill>
                  <a:srgbClr val="17324D"/>
                </a:solidFill>
                <a:latin typeface="Calibri"/>
              </a:rPr>
              <a:t>256</a:t>
            </a:r>
          </a:p>
        </p:txBody>
      </p:sp>
      <p:sp>
        <p:nvSpPr>
          <p:cNvPr id="2067" name="TextBox 2066"/>
          <p:cNvSpPr txBox="1"/>
          <p:nvPr/>
        </p:nvSpPr>
        <p:spPr>
          <a:xfrm>
            <a:off x="3263900" y="4368800"/>
            <a:ext cx="1016000" cy="177800"/>
          </a:xfrm>
          <a:prstGeom prst="rect">
            <a:avLst/>
          </a:prstGeom>
          <a:noFill/>
        </p:spPr>
        <p:txBody>
          <a:bodyPr wrap="square" lIns="0" rIns="0" tIns="0" bIns="0" anchor="t">
            <a:spAutoFit/>
          </a:bodyPr>
          <a:lstStyle/>
          <a:p>
            <a:pPr algn="ctr">
              <a:spcAft>
                <a:spcPts val="0"/>
              </a:spcAft>
            </a:pPr>
            <a:r>
              <a:rPr sz="1100" b="0" i="0">
                <a:solidFill>
                  <a:srgbClr val="C2603F"/>
                </a:solidFill>
                <a:latin typeface="Calibri"/>
              </a:rPr>
              <a:t>embedding</a:t>
            </a:r>
          </a:p>
        </p:txBody>
      </p:sp>
      <p:sp>
        <p:nvSpPr>
          <p:cNvPr id="2068" name="TextBox 2067"/>
          <p:cNvSpPr txBox="1"/>
          <p:nvPr/>
        </p:nvSpPr>
        <p:spPr>
          <a:xfrm>
            <a:off x="4267200" y="3022600"/>
            <a:ext cx="1168400" cy="609600"/>
          </a:xfrm>
          <a:prstGeom prst="rect">
            <a:avLst/>
          </a:prstGeom>
          <a:noFill/>
        </p:spPr>
        <p:txBody>
          <a:bodyPr wrap="square" lIns="0" rIns="0" tIns="0" bIns="0" anchor="t">
            <a:spAutoFit/>
          </a:bodyPr>
          <a:lstStyle/>
          <a:p>
            <a:pPr algn="l">
              <a:spcAft>
                <a:spcPts val="0"/>
              </a:spcAft>
            </a:pPr>
            <a:r>
              <a:rPr sz="1200" b="1" i="0">
                <a:solidFill>
                  <a:srgbClr val="C2603F"/>
                </a:solidFill>
                <a:latin typeface="Calibri"/>
              </a:rPr>
              <a:t>compared by cosine similarity</a:t>
            </a:r>
          </a:p>
        </p:txBody>
      </p:sp>
      <p:sp>
        <p:nvSpPr>
          <p:cNvPr id="2069" name="TextBox 2068"/>
          <p:cNvSpPr txBox="1"/>
          <p:nvPr/>
        </p:nvSpPr>
        <p:spPr>
          <a:xfrm>
            <a:off x="762000" y="4724400"/>
            <a:ext cx="4597400" cy="1016000"/>
          </a:xfrm>
          <a:prstGeom prst="rect">
            <a:avLst/>
          </a:prstGeom>
          <a:noFill/>
        </p:spPr>
        <p:txBody>
          <a:bodyPr wrap="square" lIns="0" rIns="0" tIns="0" bIns="0" anchor="t">
            <a:spAutoFit/>
          </a:bodyPr>
          <a:lstStyle/>
          <a:p>
            <a:pPr algn="l">
              <a:spcAft>
                <a:spcPts val="0"/>
              </a:spcAft>
            </a:pPr>
            <a:r>
              <a:rPr sz="1300" b="0" i="0">
                <a:solidFill>
                  <a:srgbClr val="1F2A36"/>
                </a:solidFill>
                <a:latin typeface="Calibri"/>
              </a:rPr>
              <a:t>Turns any gene list into 256 numbers. Lists about the same biology land close together, even with few genes in common. Used as published: transfer learning, no retraining.</a:t>
            </a:r>
          </a:p>
        </p:txBody>
      </p:sp>
      <p:sp>
        <p:nvSpPr>
          <p:cNvPr id="2070" name="TextBox 2069"/>
          <p:cNvSpPr txBox="1"/>
          <p:nvPr/>
        </p:nvSpPr>
        <p:spPr>
          <a:xfrm>
            <a:off x="5969000" y="1651000"/>
            <a:ext cx="4826000" cy="254000"/>
          </a:xfrm>
          <a:prstGeom prst="rect">
            <a:avLst/>
          </a:prstGeom>
          <a:noFill/>
        </p:spPr>
        <p:txBody>
          <a:bodyPr wrap="square" lIns="0" rIns="0" tIns="0" bIns="0" anchor="t">
            <a:spAutoFit/>
          </a:bodyPr>
          <a:lstStyle/>
          <a:p>
            <a:pPr algn="l">
              <a:spcAft>
                <a:spcPts val="0"/>
              </a:spcAft>
            </a:pPr>
            <a:r>
              <a:rPr sz="1700" b="1" i="0">
                <a:solidFill>
                  <a:srgbClr val="17324D"/>
                </a:solidFill>
                <a:latin typeface="Calibri"/>
              </a:rPr>
              <a:t>Four scorers, one fair vote</a:t>
            </a:r>
          </a:p>
        </p:txBody>
      </p:sp>
      <p:sp>
        <p:nvSpPr>
          <p:cNvPr id="2071" name="Rounded Rectangle 2070"/>
          <p:cNvSpPr/>
          <p:nvPr/>
        </p:nvSpPr>
        <p:spPr>
          <a:xfrm>
            <a:off x="5969000" y="2006600"/>
            <a:ext cx="2311400" cy="609600"/>
          </a:xfrm>
          <a:prstGeom prst="roundRect">
            <a:avLst>
              <a:gd name="adj" fmla="val 6000"/>
            </a:avLst>
          </a:prstGeom>
          <a:solidFill>
            <a:srgbClr val="FFFFFF"/>
          </a:solidFill>
          <a:ln w="15875">
            <a:solidFill>
              <a:srgbClr val="D8E0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72" name="TextBox 2071"/>
          <p:cNvSpPr txBox="1"/>
          <p:nvPr/>
        </p:nvSpPr>
        <p:spPr>
          <a:xfrm>
            <a:off x="6121400" y="2082800"/>
            <a:ext cx="2032000" cy="228600"/>
          </a:xfrm>
          <a:prstGeom prst="rect">
            <a:avLst/>
          </a:prstGeom>
          <a:noFill/>
        </p:spPr>
        <p:txBody>
          <a:bodyPr wrap="square" lIns="0" rIns="0" tIns="0" bIns="0" anchor="t">
            <a:spAutoFit/>
          </a:bodyPr>
          <a:lstStyle/>
          <a:p>
            <a:pPr algn="l">
              <a:spcAft>
                <a:spcPts val="0"/>
              </a:spcAft>
            </a:pPr>
            <a:r>
              <a:rPr sz="1400" b="1" i="0">
                <a:solidFill>
                  <a:srgbClr val="17324D"/>
                </a:solidFill>
                <a:latin typeface="Calibri"/>
              </a:rPr>
              <a:t>Classic CMap</a:t>
            </a:r>
          </a:p>
        </p:txBody>
      </p:sp>
      <p:sp>
        <p:nvSpPr>
          <p:cNvPr id="2073" name="TextBox 2072"/>
          <p:cNvSpPr txBox="1"/>
          <p:nvPr/>
        </p:nvSpPr>
        <p:spPr>
          <a:xfrm>
            <a:off x="6121400" y="2336800"/>
            <a:ext cx="2032000" cy="203200"/>
          </a:xfrm>
          <a:prstGeom prst="rect">
            <a:avLst/>
          </a:prstGeom>
          <a:noFill/>
        </p:spPr>
        <p:txBody>
          <a:bodyPr wrap="square" lIns="0" rIns="0" tIns="0" bIns="0" anchor="t">
            <a:spAutoFit/>
          </a:bodyPr>
          <a:lstStyle/>
          <a:p>
            <a:pPr algn="l">
              <a:spcAft>
                <a:spcPts val="0"/>
              </a:spcAft>
            </a:pPr>
            <a:r>
              <a:rPr sz="1200" b="0" i="0">
                <a:solidFill>
                  <a:srgbClr val="5B6B7A"/>
                </a:solidFill>
                <a:latin typeface="Calibri"/>
              </a:rPr>
              <a:t>WTCS</a:t>
            </a:r>
          </a:p>
        </p:txBody>
      </p:sp>
      <p:sp>
        <p:nvSpPr>
          <p:cNvPr id="2074" name="Rounded Rectangle 2073"/>
          <p:cNvSpPr/>
          <p:nvPr/>
        </p:nvSpPr>
        <p:spPr>
          <a:xfrm>
            <a:off x="8407400" y="2006600"/>
            <a:ext cx="2311400" cy="609600"/>
          </a:xfrm>
          <a:prstGeom prst="roundRect">
            <a:avLst>
              <a:gd name="adj" fmla="val 6000"/>
            </a:avLst>
          </a:prstGeom>
          <a:solidFill>
            <a:srgbClr val="FFFFFF"/>
          </a:solidFill>
          <a:ln w="15875">
            <a:solidFill>
              <a:srgbClr val="D8E0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75" name="TextBox 2074"/>
          <p:cNvSpPr txBox="1"/>
          <p:nvPr/>
        </p:nvSpPr>
        <p:spPr>
          <a:xfrm>
            <a:off x="8559800" y="2082800"/>
            <a:ext cx="2032000" cy="228600"/>
          </a:xfrm>
          <a:prstGeom prst="rect">
            <a:avLst/>
          </a:prstGeom>
          <a:noFill/>
        </p:spPr>
        <p:txBody>
          <a:bodyPr wrap="square" lIns="0" rIns="0" tIns="0" bIns="0" anchor="t">
            <a:spAutoFit/>
          </a:bodyPr>
          <a:lstStyle/>
          <a:p>
            <a:pPr algn="l">
              <a:spcAft>
                <a:spcPts val="0"/>
              </a:spcAft>
            </a:pPr>
            <a:r>
              <a:rPr sz="1400" b="1" i="0">
                <a:solidFill>
                  <a:srgbClr val="17324D"/>
                </a:solidFill>
                <a:latin typeface="Calibri"/>
              </a:rPr>
              <a:t>Rank correlation</a:t>
            </a:r>
          </a:p>
        </p:txBody>
      </p:sp>
      <p:sp>
        <p:nvSpPr>
          <p:cNvPr id="2076" name="TextBox 2075"/>
          <p:cNvSpPr txBox="1"/>
          <p:nvPr/>
        </p:nvSpPr>
        <p:spPr>
          <a:xfrm>
            <a:off x="8559800" y="2336800"/>
            <a:ext cx="2032000" cy="203200"/>
          </a:xfrm>
          <a:prstGeom prst="rect">
            <a:avLst/>
          </a:prstGeom>
          <a:noFill/>
        </p:spPr>
        <p:txBody>
          <a:bodyPr wrap="square" lIns="0" rIns="0" tIns="0" bIns="0" anchor="t">
            <a:spAutoFit/>
          </a:bodyPr>
          <a:lstStyle/>
          <a:p>
            <a:pPr algn="l">
              <a:spcAft>
                <a:spcPts val="0"/>
              </a:spcAft>
            </a:pPr>
            <a:r>
              <a:rPr sz="1200" b="0" i="0">
                <a:solidFill>
                  <a:srgbClr val="5B6B7A"/>
                </a:solidFill>
                <a:latin typeface="Calibri"/>
              </a:rPr>
              <a:t>Spearman</a:t>
            </a:r>
          </a:p>
        </p:txBody>
      </p:sp>
      <p:sp>
        <p:nvSpPr>
          <p:cNvPr id="2077" name="Rounded Rectangle 2076"/>
          <p:cNvSpPr/>
          <p:nvPr/>
        </p:nvSpPr>
        <p:spPr>
          <a:xfrm>
            <a:off x="5969000" y="2717800"/>
            <a:ext cx="2311400" cy="609600"/>
          </a:xfrm>
          <a:prstGeom prst="roundRect">
            <a:avLst>
              <a:gd name="adj" fmla="val 6000"/>
            </a:avLst>
          </a:prstGeom>
          <a:solidFill>
            <a:srgbClr val="FFFFFF"/>
          </a:solidFill>
          <a:ln w="15875">
            <a:solidFill>
              <a:srgbClr val="D8E0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78" name="TextBox 2077"/>
          <p:cNvSpPr txBox="1"/>
          <p:nvPr/>
        </p:nvSpPr>
        <p:spPr>
          <a:xfrm>
            <a:off x="6121400" y="2794000"/>
            <a:ext cx="2032000" cy="228600"/>
          </a:xfrm>
          <a:prstGeom prst="rect">
            <a:avLst/>
          </a:prstGeom>
          <a:noFill/>
        </p:spPr>
        <p:txBody>
          <a:bodyPr wrap="square" lIns="0" rIns="0" tIns="0" bIns="0" anchor="t">
            <a:spAutoFit/>
          </a:bodyPr>
          <a:lstStyle/>
          <a:p>
            <a:pPr algn="l">
              <a:spcAft>
                <a:spcPts val="0"/>
              </a:spcAft>
            </a:pPr>
            <a:r>
              <a:rPr sz="1400" b="1" i="0">
                <a:solidFill>
                  <a:srgbClr val="17324D"/>
                </a:solidFill>
                <a:latin typeface="Calibri"/>
              </a:rPr>
              <a:t>Extreme genes</a:t>
            </a:r>
          </a:p>
        </p:txBody>
      </p:sp>
      <p:sp>
        <p:nvSpPr>
          <p:cNvPr id="2079" name="TextBox 2078"/>
          <p:cNvSpPr txBox="1"/>
          <p:nvPr/>
        </p:nvSpPr>
        <p:spPr>
          <a:xfrm>
            <a:off x="6121400" y="3048000"/>
            <a:ext cx="2032000" cy="203200"/>
          </a:xfrm>
          <a:prstGeom prst="rect">
            <a:avLst/>
          </a:prstGeom>
          <a:noFill/>
        </p:spPr>
        <p:txBody>
          <a:bodyPr wrap="square" lIns="0" rIns="0" tIns="0" bIns="0" anchor="t">
            <a:spAutoFit/>
          </a:bodyPr>
          <a:lstStyle/>
          <a:p>
            <a:pPr algn="l">
              <a:spcAft>
                <a:spcPts val="0"/>
              </a:spcAft>
            </a:pPr>
            <a:r>
              <a:rPr sz="1200" b="0" i="0">
                <a:solidFill>
                  <a:srgbClr val="5B6B7A"/>
                </a:solidFill>
                <a:latin typeface="Calibri"/>
              </a:rPr>
              <a:t>XSum</a:t>
            </a:r>
          </a:p>
        </p:txBody>
      </p:sp>
      <p:sp>
        <p:nvSpPr>
          <p:cNvPr id="2080" name="Rounded Rectangle 2079"/>
          <p:cNvSpPr/>
          <p:nvPr/>
        </p:nvSpPr>
        <p:spPr>
          <a:xfrm>
            <a:off x="8407400" y="2717800"/>
            <a:ext cx="2311400" cy="609600"/>
          </a:xfrm>
          <a:prstGeom prst="roundRect">
            <a:avLst>
              <a:gd name="adj" fmla="val 6000"/>
            </a:avLst>
          </a:prstGeom>
          <a:solidFill>
            <a:srgbClr val="FBEEE8"/>
          </a:solidFill>
          <a:ln w="15875">
            <a:solidFill>
              <a:srgbClr val="C2603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81" name="TextBox 2080"/>
          <p:cNvSpPr txBox="1"/>
          <p:nvPr/>
        </p:nvSpPr>
        <p:spPr>
          <a:xfrm>
            <a:off x="8559800" y="2794000"/>
            <a:ext cx="2032000" cy="228600"/>
          </a:xfrm>
          <a:prstGeom prst="rect">
            <a:avLst/>
          </a:prstGeom>
          <a:noFill/>
        </p:spPr>
        <p:txBody>
          <a:bodyPr wrap="square" lIns="0" rIns="0" tIns="0" bIns="0" anchor="t">
            <a:spAutoFit/>
          </a:bodyPr>
          <a:lstStyle/>
          <a:p>
            <a:pPr algn="l">
              <a:spcAft>
                <a:spcPts val="0"/>
              </a:spcAft>
            </a:pPr>
            <a:r>
              <a:rPr sz="1400" b="1" i="0">
                <a:solidFill>
                  <a:srgbClr val="17324D"/>
                </a:solidFill>
                <a:latin typeface="Calibri"/>
              </a:rPr>
              <a:t>AI model</a:t>
            </a:r>
          </a:p>
        </p:txBody>
      </p:sp>
      <p:sp>
        <p:nvSpPr>
          <p:cNvPr id="2082" name="TextBox 2081"/>
          <p:cNvSpPr txBox="1"/>
          <p:nvPr/>
        </p:nvSpPr>
        <p:spPr>
          <a:xfrm>
            <a:off x="8559800" y="3048000"/>
            <a:ext cx="2032000" cy="203200"/>
          </a:xfrm>
          <a:prstGeom prst="rect">
            <a:avLst/>
          </a:prstGeom>
          <a:noFill/>
        </p:spPr>
        <p:txBody>
          <a:bodyPr wrap="square" lIns="0" rIns="0" tIns="0" bIns="0" anchor="t">
            <a:spAutoFit/>
          </a:bodyPr>
          <a:lstStyle/>
          <a:p>
            <a:pPr algn="l">
              <a:spcAft>
                <a:spcPts val="0"/>
              </a:spcAft>
            </a:pPr>
            <a:r>
              <a:rPr sz="1200" b="0" i="0">
                <a:solidFill>
                  <a:srgbClr val="C2603F"/>
                </a:solidFill>
                <a:latin typeface="Calibri"/>
              </a:rPr>
              <a:t>GSFM</a:t>
            </a:r>
          </a:p>
        </p:txBody>
      </p:sp>
      <p:sp>
        <p:nvSpPr>
          <p:cNvPr id="2083" name="Down Arrow 2082"/>
          <p:cNvSpPr/>
          <p:nvPr/>
        </p:nvSpPr>
        <p:spPr>
          <a:xfrm>
            <a:off x="8280400" y="3429000"/>
            <a:ext cx="177800" cy="177800"/>
          </a:xfrm>
          <a:prstGeom prst="downArrow">
            <a:avLst/>
          </a:prstGeom>
          <a:solidFill>
            <a:srgbClr val="5B6B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84" name="Rounded Rectangle 2083"/>
          <p:cNvSpPr/>
          <p:nvPr/>
        </p:nvSpPr>
        <p:spPr>
          <a:xfrm>
            <a:off x="5969000" y="3632200"/>
            <a:ext cx="4749800" cy="558800"/>
          </a:xfrm>
          <a:prstGeom prst="roundRect">
            <a:avLst>
              <a:gd name="adj" fmla="val 6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85" name="TextBox 2084"/>
          <p:cNvSpPr txBox="1"/>
          <p:nvPr/>
        </p:nvSpPr>
        <p:spPr>
          <a:xfrm>
            <a:off x="6146800" y="3683000"/>
            <a:ext cx="4445000" cy="457200"/>
          </a:xfrm>
          <a:prstGeom prst="rect">
            <a:avLst/>
          </a:prstGeom>
          <a:noFill/>
        </p:spPr>
        <p:txBody>
          <a:bodyPr wrap="square" lIns="0" rIns="0" tIns="0" bIns="0" anchor="ctr">
            <a:spAutoFit/>
          </a:bodyPr>
          <a:lstStyle/>
          <a:p>
            <a:pPr algn="l">
              <a:spcAft>
                <a:spcPts val="0"/>
              </a:spcAft>
            </a:pPr>
            <a:r>
              <a:rPr sz="1300" b="1" i="0">
                <a:solidFill>
                  <a:srgbClr val="17324D"/>
                </a:solidFill>
                <a:latin typeface="Calibri"/>
              </a:rPr>
              <a:t>Fair scoring  </a:t>
            </a:r>
            <a:r>
              <a:rPr sz="1300" b="0" i="0">
                <a:solidFill>
                  <a:srgbClr val="1F2A36"/>
                </a:solidFill>
                <a:latin typeface="Calibri"/>
              </a:rPr>
              <a:t>each drug vs its own 200 random fingerprints</a:t>
            </a:r>
          </a:p>
        </p:txBody>
      </p:sp>
      <p:sp>
        <p:nvSpPr>
          <p:cNvPr id="2086" name="Down Arrow 2085"/>
          <p:cNvSpPr/>
          <p:nvPr/>
        </p:nvSpPr>
        <p:spPr>
          <a:xfrm>
            <a:off x="8280400" y="4216400"/>
            <a:ext cx="177800" cy="177800"/>
          </a:xfrm>
          <a:prstGeom prst="downArrow">
            <a:avLst/>
          </a:prstGeom>
          <a:solidFill>
            <a:srgbClr val="5B6B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87" name="Rounded Rectangle 2086"/>
          <p:cNvSpPr/>
          <p:nvPr/>
        </p:nvSpPr>
        <p:spPr>
          <a:xfrm>
            <a:off x="5969000" y="4419600"/>
            <a:ext cx="4749800" cy="558800"/>
          </a:xfrm>
          <a:prstGeom prst="roundRect">
            <a:avLst>
              <a:gd name="adj" fmla="val 6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88" name="TextBox 2087"/>
          <p:cNvSpPr txBox="1"/>
          <p:nvPr/>
        </p:nvSpPr>
        <p:spPr>
          <a:xfrm>
            <a:off x="6146800" y="4470400"/>
            <a:ext cx="4445000" cy="457200"/>
          </a:xfrm>
          <a:prstGeom prst="rect">
            <a:avLst/>
          </a:prstGeom>
          <a:noFill/>
        </p:spPr>
        <p:txBody>
          <a:bodyPr wrap="square" lIns="0" rIns="0" tIns="0" bIns="0" anchor="ctr">
            <a:spAutoFit/>
          </a:bodyPr>
          <a:lstStyle/>
          <a:p>
            <a:pPr algn="l">
              <a:spcAft>
                <a:spcPts val="0"/>
              </a:spcAft>
            </a:pPr>
            <a:r>
              <a:rPr sz="1300" b="1" i="0">
                <a:solidFill>
                  <a:srgbClr val="17324D"/>
                </a:solidFill>
                <a:latin typeface="Calibri"/>
              </a:rPr>
              <a:t>Robust Rank Aggregation  </a:t>
            </a:r>
            <a:r>
              <a:rPr sz="1300" b="0" i="0">
                <a:solidFill>
                  <a:srgbClr val="1F2A36"/>
                </a:solidFill>
                <a:latin typeface="Calibri"/>
              </a:rPr>
              <a:t>merges the 4 ranks, then FDR</a:t>
            </a:r>
          </a:p>
        </p:txBody>
      </p:sp>
      <p:sp>
        <p:nvSpPr>
          <p:cNvPr id="2089" name="Rounded Rectangle 2088"/>
          <p:cNvSpPr/>
          <p:nvPr/>
        </p:nvSpPr>
        <p:spPr>
          <a:xfrm>
            <a:off x="5969000" y="5207000"/>
            <a:ext cx="4749800" cy="609600"/>
          </a:xfrm>
          <a:prstGeom prst="roundRect">
            <a:avLst>
              <a:gd name="adj" fmla="val 6000"/>
            </a:avLst>
          </a:prstGeom>
          <a:solidFill>
            <a:srgbClr val="173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90" name="TextBox 2089"/>
          <p:cNvSpPr txBox="1"/>
          <p:nvPr/>
        </p:nvSpPr>
        <p:spPr>
          <a:xfrm>
            <a:off x="6172200" y="5207000"/>
            <a:ext cx="4445000" cy="609600"/>
          </a:xfrm>
          <a:prstGeom prst="rect">
            <a:avLst/>
          </a:prstGeom>
          <a:noFill/>
        </p:spPr>
        <p:txBody>
          <a:bodyPr wrap="square" lIns="0" rIns="0" tIns="0" bIns="0" anchor="ctr">
            <a:spAutoFit/>
          </a:bodyPr>
          <a:lstStyle/>
          <a:p>
            <a:pPr algn="l">
              <a:spcAft>
                <a:spcPts val="0"/>
              </a:spcAft>
            </a:pPr>
            <a:r>
              <a:rPr sz="2000" b="1" i="0">
                <a:solidFill>
                  <a:srgbClr val="F0B49C"/>
                </a:solidFill>
                <a:latin typeface="Calibri"/>
              </a:rPr>
              <a:t>−38%  </a:t>
            </a:r>
            <a:r>
              <a:rPr sz="1300" b="0" i="0">
                <a:solidFill>
                  <a:srgbClr val="FFFFFF"/>
                </a:solidFill>
                <a:latin typeface="Calibri"/>
              </a:rPr>
              <a:t>top-50 overlap without GSFM: biggest drop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8000" y="914400"/>
            <a:ext cx="10160000" cy="558800"/>
          </a:xfrm>
        </p:spPr>
        <p:txBody>
          <a:bodyPr lIns="0" rIns="0" tIns="0" bIns="0" anchor="ctr" wrap="square"/>
          <a:lstStyle/>
          <a:p>
            <a:pPr algn="l"/>
            <a:r>
              <a:rPr sz="3000" b="1" i="0">
                <a:solidFill>
                  <a:srgbClr val="17324D"/>
                </a:solidFill>
                <a:latin typeface="Calibri"/>
              </a:rPr>
              <a:t>Three design choices that set SynThera apart</a:t>
            </a:r>
          </a:p>
        </p:txBody>
      </p:sp>
      <p:pic>
        <p:nvPicPr>
          <p:cNvPr id="2052" name="Picture 3">
            <a:extLst>
              <a:ext uri="{FF2B5EF4-FFF2-40B4-BE49-F238E27FC236}">
                <a16:creationId xmlns:a16="http://schemas.microsoft.com/office/drawing/2014/main" id="{378F6D54-6499-75C5-2592-C5AB0BDD5E46}"/>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8847138" y="-542925"/>
            <a:ext cx="3848100" cy="2165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53" name="Picture 5">
            <a:extLst>
              <a:ext uri="{FF2B5EF4-FFF2-40B4-BE49-F238E27FC236}">
                <a16:creationId xmlns:a16="http://schemas.microsoft.com/office/drawing/2014/main" id="{9A04B610-E394-4B99-2A07-DD2268AD1720}"/>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0975975" y="5761038"/>
            <a:ext cx="1096963" cy="1096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54" name="Picture 6">
            <a:extLst>
              <a:ext uri="{FF2B5EF4-FFF2-40B4-BE49-F238E27FC236}">
                <a16:creationId xmlns:a16="http://schemas.microsoft.com/office/drawing/2014/main" id="{1CDC6573-5491-7E9F-218F-A7B51A6D63C6}"/>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85738" y="211138"/>
            <a:ext cx="2352675" cy="611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55" name="Lead"/>
          <p:cNvSpPr txBox="1"/>
          <p:nvPr/>
        </p:nvSpPr>
        <p:spPr>
          <a:xfrm>
            <a:off x="508000" y="1498600"/>
            <a:ext cx="10160000" cy="279400"/>
          </a:xfrm>
          <a:prstGeom prst="rect">
            <a:avLst/>
          </a:prstGeom>
          <a:noFill/>
        </p:spPr>
        <p:txBody>
          <a:bodyPr wrap="square" lIns="0" rIns="0" tIns="0" bIns="0" anchor="t">
            <a:spAutoFit/>
          </a:bodyPr>
          <a:lstStyle/>
          <a:p>
            <a:pPr algn="l">
              <a:spcAft>
                <a:spcPts val="0"/>
              </a:spcAft>
            </a:pPr>
            <a:r>
              <a:rPr sz="1600" b="0" i="0">
                <a:solidFill>
                  <a:srgbClr val="5B6B7A"/>
                </a:solidFill>
                <a:latin typeface="Calibri"/>
              </a:rPr>
              <a:t>Each one changes which drugs reach the shortlist.</a:t>
            </a:r>
          </a:p>
        </p:txBody>
      </p:sp>
      <p:sp>
        <p:nvSpPr>
          <p:cNvPr id="2056" name="Footer"/>
          <p:cNvSpPr txBox="1"/>
          <p:nvPr/>
        </p:nvSpPr>
        <p:spPr>
          <a:xfrm>
            <a:off x="508000" y="6515100"/>
            <a:ext cx="3810000" cy="177800"/>
          </a:xfrm>
          <a:prstGeom prst="rect">
            <a:avLst/>
          </a:prstGeom>
          <a:noFill/>
        </p:spPr>
        <p:txBody>
          <a:bodyPr wrap="square" lIns="0" rIns="0" tIns="0" bIns="0" anchor="t">
            <a:spAutoFit/>
          </a:bodyPr>
          <a:lstStyle/>
          <a:p>
            <a:pPr algn="l">
              <a:spcAft>
                <a:spcPts val="0"/>
              </a:spcAft>
            </a:pPr>
            <a:r>
              <a:rPr sz="1000" b="1" i="0">
                <a:solidFill>
                  <a:srgbClr val="17324D"/>
                </a:solidFill>
                <a:latin typeface="Calibri"/>
              </a:rPr>
              <a:t>TEAM TEJAS019 · SynThera</a:t>
            </a:r>
            <a:r>
              <a:rPr sz="1000" b="0" i="0">
                <a:solidFill>
                  <a:srgbClr val="5B6B7A"/>
                </a:solidFill>
                <a:latin typeface="Calibri"/>
              </a:rPr>
              <a:t>    6 / 10</a:t>
            </a:r>
          </a:p>
        </p:txBody>
      </p:sp>
      <p:sp>
        <p:nvSpPr>
          <p:cNvPr id="2057" name="Rounded Rectangle 2056"/>
          <p:cNvSpPr/>
          <p:nvPr/>
        </p:nvSpPr>
        <p:spPr>
          <a:xfrm>
            <a:off x="508000" y="1905000"/>
            <a:ext cx="3251200" cy="3810000"/>
          </a:xfrm>
          <a:prstGeom prst="roundRect">
            <a:avLst>
              <a:gd name="adj" fmla="val 6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58" name="Oval 2057"/>
          <p:cNvSpPr/>
          <p:nvPr/>
        </p:nvSpPr>
        <p:spPr>
          <a:xfrm>
            <a:off x="736600" y="2108200"/>
            <a:ext cx="431800" cy="431800"/>
          </a:xfrm>
          <a:prstGeom prst="ellipse">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59" name="Picture 2058" descr="users.png"/>
          <p:cNvPicPr>
            <a:picLocks noChangeAspect="1"/>
          </p:cNvPicPr>
          <p:nvPr/>
        </p:nvPicPr>
        <p:blipFill>
          <a:blip r:embed="rId6"/>
          <a:stretch>
            <a:fillRect/>
          </a:stretch>
        </p:blipFill>
        <p:spPr>
          <a:xfrm>
            <a:off x="831596" y="2203196"/>
            <a:ext cx="241808" cy="241808"/>
          </a:xfrm>
          <a:prstGeom prst="rect">
            <a:avLst/>
          </a:prstGeom>
        </p:spPr>
      </p:pic>
      <p:sp>
        <p:nvSpPr>
          <p:cNvPr id="2060" name="TextBox 2059"/>
          <p:cNvSpPr txBox="1"/>
          <p:nvPr/>
        </p:nvSpPr>
        <p:spPr>
          <a:xfrm>
            <a:off x="1295400" y="2108200"/>
            <a:ext cx="2286000" cy="431800"/>
          </a:xfrm>
          <a:prstGeom prst="rect">
            <a:avLst/>
          </a:prstGeom>
          <a:noFill/>
        </p:spPr>
        <p:txBody>
          <a:bodyPr wrap="square" lIns="0" rIns="0" tIns="0" bIns="0" anchor="ctr">
            <a:spAutoFit/>
          </a:bodyPr>
          <a:lstStyle/>
          <a:p>
            <a:pPr algn="l">
              <a:spcAft>
                <a:spcPts val="0"/>
              </a:spcAft>
            </a:pPr>
            <a:r>
              <a:rPr sz="1800" b="1" i="0">
                <a:solidFill>
                  <a:srgbClr val="17324D"/>
                </a:solidFill>
                <a:latin typeface="Calibri"/>
              </a:rPr>
              <a:t>Human data first</a:t>
            </a:r>
          </a:p>
        </p:txBody>
      </p:sp>
      <p:sp>
        <p:nvSpPr>
          <p:cNvPr id="2061" name="Rounded Rectangle 2060"/>
          <p:cNvSpPr/>
          <p:nvPr/>
        </p:nvSpPr>
        <p:spPr>
          <a:xfrm>
            <a:off x="3962400" y="1905000"/>
            <a:ext cx="3251200" cy="3810000"/>
          </a:xfrm>
          <a:prstGeom prst="roundRect">
            <a:avLst>
              <a:gd name="adj" fmla="val 6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62" name="Oval 2061"/>
          <p:cNvSpPr/>
          <p:nvPr/>
        </p:nvSpPr>
        <p:spPr>
          <a:xfrm>
            <a:off x="4191000" y="2108200"/>
            <a:ext cx="431800" cy="431800"/>
          </a:xfrm>
          <a:prstGeom prst="ellipse">
            <a:avLst/>
          </a:prstGeom>
          <a:solidFill>
            <a:srgbClr val="1C78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63" name="Picture 2062" descr="filter.png"/>
          <p:cNvPicPr>
            <a:picLocks noChangeAspect="1"/>
          </p:cNvPicPr>
          <p:nvPr/>
        </p:nvPicPr>
        <p:blipFill>
          <a:blip r:embed="rId7"/>
          <a:stretch>
            <a:fillRect/>
          </a:stretch>
        </p:blipFill>
        <p:spPr>
          <a:xfrm>
            <a:off x="4285996" y="2203196"/>
            <a:ext cx="241808" cy="241808"/>
          </a:xfrm>
          <a:prstGeom prst="rect">
            <a:avLst/>
          </a:prstGeom>
        </p:spPr>
      </p:pic>
      <p:sp>
        <p:nvSpPr>
          <p:cNvPr id="2064" name="TextBox 2063"/>
          <p:cNvSpPr txBox="1"/>
          <p:nvPr/>
        </p:nvSpPr>
        <p:spPr>
          <a:xfrm>
            <a:off x="4749800" y="2108200"/>
            <a:ext cx="2286000" cy="431800"/>
          </a:xfrm>
          <a:prstGeom prst="rect">
            <a:avLst/>
          </a:prstGeom>
          <a:noFill/>
        </p:spPr>
        <p:txBody>
          <a:bodyPr wrap="square" lIns="0" rIns="0" tIns="0" bIns="0" anchor="ctr">
            <a:spAutoFit/>
          </a:bodyPr>
          <a:lstStyle/>
          <a:p>
            <a:pPr algn="l">
              <a:spcAft>
                <a:spcPts val="0"/>
              </a:spcAft>
            </a:pPr>
            <a:r>
              <a:rPr sz="1800" b="1" i="0">
                <a:solidFill>
                  <a:srgbClr val="17324D"/>
                </a:solidFill>
                <a:latin typeface="Calibri"/>
              </a:rPr>
              <a:t>Benefit, not stress</a:t>
            </a:r>
          </a:p>
        </p:txBody>
      </p:sp>
      <p:sp>
        <p:nvSpPr>
          <p:cNvPr id="2065" name="Rounded Rectangle 2064"/>
          <p:cNvSpPr/>
          <p:nvPr/>
        </p:nvSpPr>
        <p:spPr>
          <a:xfrm>
            <a:off x="7416800" y="1905000"/>
            <a:ext cx="3251200" cy="3810000"/>
          </a:xfrm>
          <a:prstGeom prst="roundRect">
            <a:avLst>
              <a:gd name="adj" fmla="val 6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66" name="Oval 2065"/>
          <p:cNvSpPr/>
          <p:nvPr/>
        </p:nvSpPr>
        <p:spPr>
          <a:xfrm>
            <a:off x="7645400" y="2108200"/>
            <a:ext cx="431800" cy="431800"/>
          </a:xfrm>
          <a:prstGeom prst="ellipse">
            <a:avLst/>
          </a:prstGeom>
          <a:solidFill>
            <a:srgbClr val="2D64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67" name="Picture 2066" descr="grid.png"/>
          <p:cNvPicPr>
            <a:picLocks noChangeAspect="1"/>
          </p:cNvPicPr>
          <p:nvPr/>
        </p:nvPicPr>
        <p:blipFill>
          <a:blip r:embed="rId8"/>
          <a:stretch>
            <a:fillRect/>
          </a:stretch>
        </p:blipFill>
        <p:spPr>
          <a:xfrm>
            <a:off x="7740396" y="2203196"/>
            <a:ext cx="241808" cy="241808"/>
          </a:xfrm>
          <a:prstGeom prst="rect">
            <a:avLst/>
          </a:prstGeom>
        </p:spPr>
      </p:pic>
      <p:sp>
        <p:nvSpPr>
          <p:cNvPr id="2068" name="TextBox 2067"/>
          <p:cNvSpPr txBox="1"/>
          <p:nvPr/>
        </p:nvSpPr>
        <p:spPr>
          <a:xfrm>
            <a:off x="8204200" y="2108200"/>
            <a:ext cx="2286000" cy="431800"/>
          </a:xfrm>
          <a:prstGeom prst="rect">
            <a:avLst/>
          </a:prstGeom>
          <a:noFill/>
        </p:spPr>
        <p:txBody>
          <a:bodyPr wrap="square" lIns="0" rIns="0" tIns="0" bIns="0" anchor="ctr">
            <a:spAutoFit/>
          </a:bodyPr>
          <a:lstStyle/>
          <a:p>
            <a:pPr algn="l">
              <a:spcAft>
                <a:spcPts val="0"/>
              </a:spcAft>
            </a:pPr>
            <a:r>
              <a:rPr sz="1800" b="1" i="0">
                <a:solidFill>
                  <a:srgbClr val="17324D"/>
                </a:solidFill>
                <a:latin typeface="Calibri"/>
              </a:rPr>
              <a:t>Two exercise types</a:t>
            </a:r>
          </a:p>
        </p:txBody>
      </p:sp>
      <p:sp>
        <p:nvSpPr>
          <p:cNvPr id="2069" name="Oval 2068"/>
          <p:cNvSpPr/>
          <p:nvPr/>
        </p:nvSpPr>
        <p:spPr>
          <a:xfrm>
            <a:off x="838200" y="2717800"/>
            <a:ext cx="1168400" cy="1168400"/>
          </a:xfrm>
          <a:prstGeom prst="ellipse">
            <a:avLst/>
          </a:prstGeom>
          <a:solidFill>
            <a:srgbClr val="DDE8F0"/>
          </a:solidFill>
          <a:ln w="15875">
            <a:solidFill>
              <a:srgbClr val="2D648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70" name="TextBox 2069"/>
          <p:cNvSpPr txBox="1"/>
          <p:nvPr/>
        </p:nvSpPr>
        <p:spPr>
          <a:xfrm>
            <a:off x="838200" y="2717800"/>
            <a:ext cx="1168400" cy="1168400"/>
          </a:xfrm>
          <a:prstGeom prst="rect">
            <a:avLst/>
          </a:prstGeom>
          <a:noFill/>
        </p:spPr>
        <p:txBody>
          <a:bodyPr wrap="square" lIns="0" rIns="0" tIns="0" bIns="0" anchor="ctr">
            <a:spAutoFit/>
          </a:bodyPr>
          <a:lstStyle/>
          <a:p>
            <a:pPr algn="ctr">
              <a:spcAft>
                <a:spcPts val="0"/>
              </a:spcAft>
            </a:pPr>
            <a:r>
              <a:rPr sz="1500" b="1" i="0">
                <a:solidFill>
                  <a:srgbClr val="2D6485"/>
                </a:solidFill>
                <a:latin typeface="Calibri"/>
              </a:rPr>
              <a:t>Rat</a:t>
            </a:r>
          </a:p>
          <a:p>
            <a:pPr algn="ctr">
              <a:spcAft>
                <a:spcPts val="0"/>
              </a:spcAft>
            </a:pPr>
            <a:r>
              <a:rPr sz="1200" b="0" i="0">
                <a:solidFill>
                  <a:srgbClr val="1F2A36"/>
                </a:solidFill>
                <a:latin typeface="Calibri"/>
              </a:rPr>
              <a:t>top 100</a:t>
            </a:r>
          </a:p>
        </p:txBody>
      </p:sp>
      <p:sp>
        <p:nvSpPr>
          <p:cNvPr id="2071" name="Oval 2070"/>
          <p:cNvSpPr/>
          <p:nvPr/>
        </p:nvSpPr>
        <p:spPr>
          <a:xfrm>
            <a:off x="2260600" y="2717800"/>
            <a:ext cx="1168400" cy="1168400"/>
          </a:xfrm>
          <a:prstGeom prst="ellipse">
            <a:avLst/>
          </a:prstGeom>
          <a:solidFill>
            <a:srgbClr val="FBEEE8"/>
          </a:solidFill>
          <a:ln w="15875">
            <a:solidFill>
              <a:srgbClr val="C2603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72" name="TextBox 2071"/>
          <p:cNvSpPr txBox="1"/>
          <p:nvPr/>
        </p:nvSpPr>
        <p:spPr>
          <a:xfrm>
            <a:off x="2260600" y="2717800"/>
            <a:ext cx="1168400" cy="1168400"/>
          </a:xfrm>
          <a:prstGeom prst="rect">
            <a:avLst/>
          </a:prstGeom>
          <a:noFill/>
        </p:spPr>
        <p:txBody>
          <a:bodyPr wrap="square" lIns="0" rIns="0" tIns="0" bIns="0" anchor="ctr">
            <a:spAutoFit/>
          </a:bodyPr>
          <a:lstStyle/>
          <a:p>
            <a:pPr algn="ctr">
              <a:spcAft>
                <a:spcPts val="0"/>
              </a:spcAft>
            </a:pPr>
            <a:r>
              <a:rPr sz="1500" b="1" i="0">
                <a:solidFill>
                  <a:srgbClr val="C2603F"/>
                </a:solidFill>
                <a:latin typeface="Calibri"/>
              </a:rPr>
              <a:t>Human</a:t>
            </a:r>
          </a:p>
          <a:p>
            <a:pPr algn="ctr">
              <a:spcAft>
                <a:spcPts val="0"/>
              </a:spcAft>
            </a:pPr>
            <a:r>
              <a:rPr sz="1200" b="0" i="0">
                <a:solidFill>
                  <a:srgbClr val="1F2A36"/>
                </a:solidFill>
                <a:latin typeface="Calibri"/>
              </a:rPr>
              <a:t>top 100</a:t>
            </a:r>
          </a:p>
        </p:txBody>
      </p:sp>
      <p:sp>
        <p:nvSpPr>
          <p:cNvPr id="2073" name="Rounded Rectangle 2072"/>
          <p:cNvSpPr/>
          <p:nvPr/>
        </p:nvSpPr>
        <p:spPr>
          <a:xfrm>
            <a:off x="1371600" y="4013200"/>
            <a:ext cx="1524000" cy="279400"/>
          </a:xfrm>
          <a:prstGeom prst="roundRect">
            <a:avLst>
              <a:gd name="adj" fmla="val 50000"/>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74" name="TextBox 2073"/>
          <p:cNvSpPr txBox="1"/>
          <p:nvPr/>
        </p:nvSpPr>
        <p:spPr>
          <a:xfrm>
            <a:off x="1371600" y="4013200"/>
            <a:ext cx="1524000" cy="279400"/>
          </a:xfrm>
          <a:prstGeom prst="rect">
            <a:avLst/>
          </a:prstGeom>
          <a:noFill/>
        </p:spPr>
        <p:txBody>
          <a:bodyPr wrap="square" lIns="0" rIns="0" tIns="0" bIns="0" anchor="ctr">
            <a:spAutoFit/>
          </a:bodyPr>
          <a:lstStyle/>
          <a:p>
            <a:pPr algn="ctr">
              <a:spcAft>
                <a:spcPts val="0"/>
              </a:spcAft>
            </a:pPr>
            <a:r>
              <a:rPr sz="1100" b="1" i="0">
                <a:solidFill>
                  <a:srgbClr val="FFFFFF"/>
                </a:solidFill>
                <a:latin typeface="Calibri"/>
              </a:rPr>
              <a:t>0 drugs in common</a:t>
            </a:r>
          </a:p>
        </p:txBody>
      </p:sp>
      <p:sp>
        <p:nvSpPr>
          <p:cNvPr id="2075" name="TextBox 2074"/>
          <p:cNvSpPr txBox="1"/>
          <p:nvPr/>
        </p:nvSpPr>
        <p:spPr>
          <a:xfrm>
            <a:off x="736600" y="4445000"/>
            <a:ext cx="2819400" cy="1219200"/>
          </a:xfrm>
          <a:prstGeom prst="rect">
            <a:avLst/>
          </a:prstGeom>
          <a:noFill/>
        </p:spPr>
        <p:txBody>
          <a:bodyPr wrap="square" lIns="0" rIns="0" tIns="0" bIns="0" anchor="t">
            <a:spAutoFit/>
          </a:bodyPr>
          <a:lstStyle/>
          <a:p>
            <a:pPr algn="l">
              <a:spcAft>
                <a:spcPts val="0"/>
              </a:spcAft>
            </a:pPr>
            <a:r>
              <a:rPr sz="1350" b="1" i="0">
                <a:solidFill>
                  <a:srgbClr val="17324D"/>
                </a:solidFill>
                <a:latin typeface="Calibri"/>
              </a:rPr>
              <a:t>Same pipeline, rat data: </a:t>
            </a:r>
            <a:r>
              <a:rPr sz="1350" b="0" i="0">
                <a:solidFill>
                  <a:srgbClr val="1F2A36"/>
                </a:solidFill>
                <a:latin typeface="Calibri"/>
              </a:rPr>
              <a:t>a completely different list (r = −0.20). 36% of the rat signal is lost converting genes to human.</a:t>
            </a:r>
          </a:p>
        </p:txBody>
      </p:sp>
      <p:sp>
        <p:nvSpPr>
          <p:cNvPr id="2076" name="Oval 2075"/>
          <p:cNvSpPr/>
          <p:nvPr/>
        </p:nvSpPr>
        <p:spPr>
          <a:xfrm>
            <a:off x="4406900" y="2692400"/>
            <a:ext cx="330200" cy="330200"/>
          </a:xfrm>
          <a:prstGeom prst="ellipse">
            <a:avLst/>
          </a:prstGeom>
          <a:solidFill>
            <a:srgbClr val="A86B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77" name="TextBox 2076"/>
          <p:cNvSpPr txBox="1"/>
          <p:nvPr/>
        </p:nvSpPr>
        <p:spPr>
          <a:xfrm>
            <a:off x="4406900" y="2692400"/>
            <a:ext cx="330200" cy="330200"/>
          </a:xfrm>
          <a:prstGeom prst="rect">
            <a:avLst/>
          </a:prstGeom>
          <a:noFill/>
        </p:spPr>
        <p:txBody>
          <a:bodyPr wrap="square" lIns="0" rIns="0" tIns="0" bIns="0" anchor="ctr">
            <a:spAutoFit/>
          </a:bodyPr>
          <a:lstStyle/>
          <a:p>
            <a:pPr algn="ctr">
              <a:spcAft>
                <a:spcPts val="0"/>
              </a:spcAft>
            </a:pPr>
            <a:r>
              <a:rPr sz="1500" b="1" i="0">
                <a:solidFill>
                  <a:srgbClr val="FFFFFF"/>
                </a:solidFill>
                <a:latin typeface="Calibri"/>
              </a:rPr>
              <a:t>×</a:t>
            </a:r>
          </a:p>
        </p:txBody>
      </p:sp>
      <p:sp>
        <p:nvSpPr>
          <p:cNvPr id="2078" name="Oval 2077"/>
          <p:cNvSpPr/>
          <p:nvPr/>
        </p:nvSpPr>
        <p:spPr>
          <a:xfrm>
            <a:off x="4914900" y="2692400"/>
            <a:ext cx="330200" cy="330200"/>
          </a:xfrm>
          <a:prstGeom prst="ellipse">
            <a:avLst/>
          </a:prstGeom>
          <a:solidFill>
            <a:srgbClr val="A86B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79" name="TextBox 2078"/>
          <p:cNvSpPr txBox="1"/>
          <p:nvPr/>
        </p:nvSpPr>
        <p:spPr>
          <a:xfrm>
            <a:off x="4914900" y="2692400"/>
            <a:ext cx="330200" cy="330200"/>
          </a:xfrm>
          <a:prstGeom prst="rect">
            <a:avLst/>
          </a:prstGeom>
          <a:noFill/>
        </p:spPr>
        <p:txBody>
          <a:bodyPr wrap="square" lIns="0" rIns="0" tIns="0" bIns="0" anchor="ctr">
            <a:spAutoFit/>
          </a:bodyPr>
          <a:lstStyle/>
          <a:p>
            <a:pPr algn="ctr">
              <a:spcAft>
                <a:spcPts val="0"/>
              </a:spcAft>
            </a:pPr>
            <a:r>
              <a:rPr sz="1500" b="1" i="0">
                <a:solidFill>
                  <a:srgbClr val="FFFFFF"/>
                </a:solidFill>
                <a:latin typeface="Calibri"/>
              </a:rPr>
              <a:t>×</a:t>
            </a:r>
          </a:p>
        </p:txBody>
      </p:sp>
      <p:sp>
        <p:nvSpPr>
          <p:cNvPr id="2080" name="Oval 2079"/>
          <p:cNvSpPr/>
          <p:nvPr/>
        </p:nvSpPr>
        <p:spPr>
          <a:xfrm>
            <a:off x="5422900" y="2692400"/>
            <a:ext cx="330200" cy="330200"/>
          </a:xfrm>
          <a:prstGeom prst="ellipse">
            <a:avLst/>
          </a:prstGeom>
          <a:solidFill>
            <a:srgbClr val="A86B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81" name="TextBox 2080"/>
          <p:cNvSpPr txBox="1"/>
          <p:nvPr/>
        </p:nvSpPr>
        <p:spPr>
          <a:xfrm>
            <a:off x="5422900" y="2692400"/>
            <a:ext cx="330200" cy="330200"/>
          </a:xfrm>
          <a:prstGeom prst="rect">
            <a:avLst/>
          </a:prstGeom>
          <a:noFill/>
        </p:spPr>
        <p:txBody>
          <a:bodyPr wrap="square" lIns="0" rIns="0" tIns="0" bIns="0" anchor="ctr">
            <a:spAutoFit/>
          </a:bodyPr>
          <a:lstStyle/>
          <a:p>
            <a:pPr algn="ctr">
              <a:spcAft>
                <a:spcPts val="0"/>
              </a:spcAft>
            </a:pPr>
            <a:r>
              <a:rPr sz="1500" b="1" i="0">
                <a:solidFill>
                  <a:srgbClr val="FFFFFF"/>
                </a:solidFill>
                <a:latin typeface="Calibri"/>
              </a:rPr>
              <a:t>×</a:t>
            </a:r>
          </a:p>
        </p:txBody>
      </p:sp>
      <p:sp>
        <p:nvSpPr>
          <p:cNvPr id="2082" name="Oval 2081"/>
          <p:cNvSpPr/>
          <p:nvPr/>
        </p:nvSpPr>
        <p:spPr>
          <a:xfrm>
            <a:off x="5930900" y="2692400"/>
            <a:ext cx="330200" cy="330200"/>
          </a:xfrm>
          <a:prstGeom prst="ellipse">
            <a:avLst/>
          </a:prstGeom>
          <a:solidFill>
            <a:srgbClr val="A86B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83" name="TextBox 2082"/>
          <p:cNvSpPr txBox="1"/>
          <p:nvPr/>
        </p:nvSpPr>
        <p:spPr>
          <a:xfrm>
            <a:off x="5930900" y="2692400"/>
            <a:ext cx="330200" cy="330200"/>
          </a:xfrm>
          <a:prstGeom prst="rect">
            <a:avLst/>
          </a:prstGeom>
          <a:noFill/>
        </p:spPr>
        <p:txBody>
          <a:bodyPr wrap="square" lIns="0" rIns="0" tIns="0" bIns="0" anchor="ctr">
            <a:spAutoFit/>
          </a:bodyPr>
          <a:lstStyle/>
          <a:p>
            <a:pPr algn="ctr">
              <a:spcAft>
                <a:spcPts val="0"/>
              </a:spcAft>
            </a:pPr>
            <a:r>
              <a:rPr sz="1500" b="1" i="0">
                <a:solidFill>
                  <a:srgbClr val="FFFFFF"/>
                </a:solidFill>
                <a:latin typeface="Calibri"/>
              </a:rPr>
              <a:t>×</a:t>
            </a:r>
          </a:p>
        </p:txBody>
      </p:sp>
      <p:sp>
        <p:nvSpPr>
          <p:cNvPr id="2084" name="Oval 2083"/>
          <p:cNvSpPr/>
          <p:nvPr/>
        </p:nvSpPr>
        <p:spPr>
          <a:xfrm>
            <a:off x="6438900" y="2692400"/>
            <a:ext cx="330200" cy="330200"/>
          </a:xfrm>
          <a:prstGeom prst="ellipse">
            <a:avLst/>
          </a:prstGeom>
          <a:solidFill>
            <a:srgbClr val="A86B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85" name="TextBox 2084"/>
          <p:cNvSpPr txBox="1"/>
          <p:nvPr/>
        </p:nvSpPr>
        <p:spPr>
          <a:xfrm>
            <a:off x="6438900" y="2692400"/>
            <a:ext cx="330200" cy="330200"/>
          </a:xfrm>
          <a:prstGeom prst="rect">
            <a:avLst/>
          </a:prstGeom>
          <a:noFill/>
        </p:spPr>
        <p:txBody>
          <a:bodyPr wrap="square" lIns="0" rIns="0" tIns="0" bIns="0" anchor="ctr">
            <a:spAutoFit/>
          </a:bodyPr>
          <a:lstStyle/>
          <a:p>
            <a:pPr algn="ctr">
              <a:spcAft>
                <a:spcPts val="0"/>
              </a:spcAft>
            </a:pPr>
            <a:r>
              <a:rPr sz="1500" b="1" i="0">
                <a:solidFill>
                  <a:srgbClr val="FFFFFF"/>
                </a:solidFill>
                <a:latin typeface="Calibri"/>
              </a:rPr>
              <a:t>×</a:t>
            </a:r>
          </a:p>
        </p:txBody>
      </p:sp>
      <p:sp>
        <p:nvSpPr>
          <p:cNvPr id="2086" name="Oval 2085"/>
          <p:cNvSpPr/>
          <p:nvPr/>
        </p:nvSpPr>
        <p:spPr>
          <a:xfrm>
            <a:off x="4406900" y="3124200"/>
            <a:ext cx="330200" cy="330200"/>
          </a:xfrm>
          <a:prstGeom prst="ellipse">
            <a:avLst/>
          </a:prstGeom>
          <a:solidFill>
            <a:srgbClr val="A86B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87" name="TextBox 2086"/>
          <p:cNvSpPr txBox="1"/>
          <p:nvPr/>
        </p:nvSpPr>
        <p:spPr>
          <a:xfrm>
            <a:off x="4406900" y="3124200"/>
            <a:ext cx="330200" cy="330200"/>
          </a:xfrm>
          <a:prstGeom prst="rect">
            <a:avLst/>
          </a:prstGeom>
          <a:noFill/>
        </p:spPr>
        <p:txBody>
          <a:bodyPr wrap="square" lIns="0" rIns="0" tIns="0" bIns="0" anchor="ctr">
            <a:spAutoFit/>
          </a:bodyPr>
          <a:lstStyle/>
          <a:p>
            <a:pPr algn="ctr">
              <a:spcAft>
                <a:spcPts val="0"/>
              </a:spcAft>
            </a:pPr>
            <a:r>
              <a:rPr sz="1500" b="1" i="0">
                <a:solidFill>
                  <a:srgbClr val="FFFFFF"/>
                </a:solidFill>
                <a:latin typeface="Calibri"/>
              </a:rPr>
              <a:t>×</a:t>
            </a:r>
          </a:p>
        </p:txBody>
      </p:sp>
      <p:sp>
        <p:nvSpPr>
          <p:cNvPr id="2088" name="Oval 2087"/>
          <p:cNvSpPr/>
          <p:nvPr/>
        </p:nvSpPr>
        <p:spPr>
          <a:xfrm>
            <a:off x="4914900" y="3124200"/>
            <a:ext cx="330200" cy="330200"/>
          </a:xfrm>
          <a:prstGeom prst="ellipse">
            <a:avLst/>
          </a:prstGeom>
          <a:solidFill>
            <a:srgbClr val="A86B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89" name="TextBox 2088"/>
          <p:cNvSpPr txBox="1"/>
          <p:nvPr/>
        </p:nvSpPr>
        <p:spPr>
          <a:xfrm>
            <a:off x="4914900" y="3124200"/>
            <a:ext cx="330200" cy="330200"/>
          </a:xfrm>
          <a:prstGeom prst="rect">
            <a:avLst/>
          </a:prstGeom>
          <a:noFill/>
        </p:spPr>
        <p:txBody>
          <a:bodyPr wrap="square" lIns="0" rIns="0" tIns="0" bIns="0" anchor="ctr">
            <a:spAutoFit/>
          </a:bodyPr>
          <a:lstStyle/>
          <a:p>
            <a:pPr algn="ctr">
              <a:spcAft>
                <a:spcPts val="0"/>
              </a:spcAft>
            </a:pPr>
            <a:r>
              <a:rPr sz="1500" b="1" i="0">
                <a:solidFill>
                  <a:srgbClr val="FFFFFF"/>
                </a:solidFill>
                <a:latin typeface="Calibri"/>
              </a:rPr>
              <a:t>×</a:t>
            </a:r>
          </a:p>
        </p:txBody>
      </p:sp>
      <p:sp>
        <p:nvSpPr>
          <p:cNvPr id="2090" name="Oval 2089"/>
          <p:cNvSpPr/>
          <p:nvPr/>
        </p:nvSpPr>
        <p:spPr>
          <a:xfrm>
            <a:off x="5422900" y="3124200"/>
            <a:ext cx="330200" cy="330200"/>
          </a:xfrm>
          <a:prstGeom prst="ellipse">
            <a:avLst/>
          </a:prstGeom>
          <a:solidFill>
            <a:srgbClr val="A86B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91" name="TextBox 2090"/>
          <p:cNvSpPr txBox="1"/>
          <p:nvPr/>
        </p:nvSpPr>
        <p:spPr>
          <a:xfrm>
            <a:off x="5422900" y="3124200"/>
            <a:ext cx="330200" cy="330200"/>
          </a:xfrm>
          <a:prstGeom prst="rect">
            <a:avLst/>
          </a:prstGeom>
          <a:noFill/>
        </p:spPr>
        <p:txBody>
          <a:bodyPr wrap="square" lIns="0" rIns="0" tIns="0" bIns="0" anchor="ctr">
            <a:spAutoFit/>
          </a:bodyPr>
          <a:lstStyle/>
          <a:p>
            <a:pPr algn="ctr">
              <a:spcAft>
                <a:spcPts val="0"/>
              </a:spcAft>
            </a:pPr>
            <a:r>
              <a:rPr sz="1500" b="1" i="0">
                <a:solidFill>
                  <a:srgbClr val="FFFFFF"/>
                </a:solidFill>
                <a:latin typeface="Calibri"/>
              </a:rPr>
              <a:t>×</a:t>
            </a:r>
          </a:p>
        </p:txBody>
      </p:sp>
      <p:sp>
        <p:nvSpPr>
          <p:cNvPr id="2092" name="Oval 2091"/>
          <p:cNvSpPr/>
          <p:nvPr/>
        </p:nvSpPr>
        <p:spPr>
          <a:xfrm>
            <a:off x="5930900" y="3124200"/>
            <a:ext cx="330200" cy="330200"/>
          </a:xfrm>
          <a:prstGeom prst="ellipse">
            <a:avLst/>
          </a:prstGeom>
          <a:solidFill>
            <a:srgbClr val="1C78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93" name="Oval 2092"/>
          <p:cNvSpPr/>
          <p:nvPr/>
        </p:nvSpPr>
        <p:spPr>
          <a:xfrm>
            <a:off x="6438900" y="3124200"/>
            <a:ext cx="330200" cy="330200"/>
          </a:xfrm>
          <a:prstGeom prst="ellipse">
            <a:avLst/>
          </a:prstGeom>
          <a:solidFill>
            <a:srgbClr val="1C78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94" name="Oval 2093"/>
          <p:cNvSpPr/>
          <p:nvPr/>
        </p:nvSpPr>
        <p:spPr>
          <a:xfrm>
            <a:off x="4406900" y="3556000"/>
            <a:ext cx="330200" cy="330200"/>
          </a:xfrm>
          <a:prstGeom prst="ellipse">
            <a:avLst/>
          </a:prstGeom>
          <a:solidFill>
            <a:srgbClr val="1C78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95" name="Oval 2094"/>
          <p:cNvSpPr/>
          <p:nvPr/>
        </p:nvSpPr>
        <p:spPr>
          <a:xfrm>
            <a:off x="4914900" y="3556000"/>
            <a:ext cx="330200" cy="330200"/>
          </a:xfrm>
          <a:prstGeom prst="ellipse">
            <a:avLst/>
          </a:prstGeom>
          <a:solidFill>
            <a:srgbClr val="1C78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96" name="Oval 2095"/>
          <p:cNvSpPr/>
          <p:nvPr/>
        </p:nvSpPr>
        <p:spPr>
          <a:xfrm>
            <a:off x="5422900" y="3556000"/>
            <a:ext cx="330200" cy="330200"/>
          </a:xfrm>
          <a:prstGeom prst="ellipse">
            <a:avLst/>
          </a:prstGeom>
          <a:solidFill>
            <a:srgbClr val="1C78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97" name="Oval 2096"/>
          <p:cNvSpPr/>
          <p:nvPr/>
        </p:nvSpPr>
        <p:spPr>
          <a:xfrm>
            <a:off x="5930900" y="3556000"/>
            <a:ext cx="330200" cy="330200"/>
          </a:xfrm>
          <a:prstGeom prst="ellipse">
            <a:avLst/>
          </a:prstGeom>
          <a:solidFill>
            <a:srgbClr val="1C78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98" name="Oval 2097"/>
          <p:cNvSpPr/>
          <p:nvPr/>
        </p:nvSpPr>
        <p:spPr>
          <a:xfrm>
            <a:off x="6438900" y="3556000"/>
            <a:ext cx="330200" cy="330200"/>
          </a:xfrm>
          <a:prstGeom prst="ellipse">
            <a:avLst/>
          </a:prstGeom>
          <a:solidFill>
            <a:srgbClr val="1C78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99" name="TextBox 2098"/>
          <p:cNvSpPr txBox="1"/>
          <p:nvPr/>
        </p:nvSpPr>
        <p:spPr>
          <a:xfrm>
            <a:off x="4191000" y="4013200"/>
            <a:ext cx="2819400" cy="279400"/>
          </a:xfrm>
          <a:prstGeom prst="rect">
            <a:avLst/>
          </a:prstGeom>
          <a:noFill/>
        </p:spPr>
        <p:txBody>
          <a:bodyPr wrap="square" lIns="0" rIns="0" tIns="0" bIns="0" anchor="ctr">
            <a:spAutoFit/>
          </a:bodyPr>
          <a:lstStyle/>
          <a:p>
            <a:pPr algn="l">
              <a:spcAft>
                <a:spcPts val="0"/>
              </a:spcAft>
            </a:pPr>
            <a:r>
              <a:rPr sz="1500" b="1" i="0">
                <a:solidFill>
                  <a:srgbClr val="A86B12"/>
                </a:solidFill>
                <a:latin typeface="Calibri"/>
              </a:rPr>
              <a:t>8 of 15 </a:t>
            </a:r>
            <a:r>
              <a:rPr sz="1250" b="0" i="0">
                <a:solidFill>
                  <a:srgbClr val="1F2A36"/>
                </a:solidFill>
                <a:latin typeface="Calibri"/>
              </a:rPr>
              <a:t>top hits are cell-killing drugs</a:t>
            </a:r>
          </a:p>
        </p:txBody>
      </p:sp>
      <p:sp>
        <p:nvSpPr>
          <p:cNvPr id="2100" name="TextBox 2099"/>
          <p:cNvSpPr txBox="1"/>
          <p:nvPr/>
        </p:nvSpPr>
        <p:spPr>
          <a:xfrm>
            <a:off x="4191000" y="4445000"/>
            <a:ext cx="2819400" cy="1219200"/>
          </a:xfrm>
          <a:prstGeom prst="rect">
            <a:avLst/>
          </a:prstGeom>
          <a:noFill/>
        </p:spPr>
        <p:txBody>
          <a:bodyPr wrap="square" lIns="0" rIns="0" tIns="0" bIns="0" anchor="t">
            <a:spAutoFit/>
          </a:bodyPr>
          <a:lstStyle/>
          <a:p>
            <a:pPr algn="l">
              <a:spcAft>
                <a:spcPts val="0"/>
              </a:spcAft>
            </a:pPr>
            <a:r>
              <a:rPr sz="1350" b="1" i="0">
                <a:solidFill>
                  <a:srgbClr val="17324D"/>
                </a:solidFill>
                <a:latin typeface="Calibri"/>
              </a:rPr>
              <a:t>Benefit index: </a:t>
            </a:r>
            <a:r>
              <a:rPr sz="1350" b="0" i="0">
                <a:solidFill>
                  <a:srgbClr val="1F2A36"/>
                </a:solidFill>
                <a:latin typeface="Calibri"/>
              </a:rPr>
              <a:t>701 adaptive vs 872 stress genes. Drugs that copy only the stress of exercise are filtered out.</a:t>
            </a:r>
          </a:p>
        </p:txBody>
      </p:sp>
      <p:sp>
        <p:nvSpPr>
          <p:cNvPr id="2101" name="TextBox 2100"/>
          <p:cNvSpPr txBox="1"/>
          <p:nvPr/>
        </p:nvSpPr>
        <p:spPr>
          <a:xfrm>
            <a:off x="8001000" y="2641600"/>
            <a:ext cx="1143000" cy="203200"/>
          </a:xfrm>
          <a:prstGeom prst="rect">
            <a:avLst/>
          </a:prstGeom>
          <a:noFill/>
        </p:spPr>
        <p:txBody>
          <a:bodyPr wrap="square" lIns="0" rIns="0" tIns="0" bIns="0" anchor="t">
            <a:spAutoFit/>
          </a:bodyPr>
          <a:lstStyle/>
          <a:p>
            <a:pPr algn="ctr">
              <a:spcAft>
                <a:spcPts val="0"/>
              </a:spcAft>
            </a:pPr>
            <a:r>
              <a:rPr sz="1100" b="1" i="0">
                <a:solidFill>
                  <a:srgbClr val="C2603F"/>
                </a:solidFill>
                <a:latin typeface="Calibri"/>
              </a:rPr>
              <a:t>Endurance</a:t>
            </a:r>
          </a:p>
        </p:txBody>
      </p:sp>
      <p:sp>
        <p:nvSpPr>
          <p:cNvPr id="2102" name="Rounded Rectangle 2101"/>
          <p:cNvSpPr/>
          <p:nvPr/>
        </p:nvSpPr>
        <p:spPr>
          <a:xfrm>
            <a:off x="8051800" y="2895600"/>
            <a:ext cx="304800" cy="304800"/>
          </a:xfrm>
          <a:prstGeom prst="roundRect">
            <a:avLst>
              <a:gd name="adj" fmla="val 18000"/>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03" name="Rounded Rectangle 2102"/>
          <p:cNvSpPr/>
          <p:nvPr/>
        </p:nvSpPr>
        <p:spPr>
          <a:xfrm>
            <a:off x="8407400" y="2895600"/>
            <a:ext cx="304800" cy="304800"/>
          </a:xfrm>
          <a:prstGeom prst="roundRect">
            <a:avLst>
              <a:gd name="adj" fmla="val 18000"/>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04" name="Rounded Rectangle 2103"/>
          <p:cNvSpPr/>
          <p:nvPr/>
        </p:nvSpPr>
        <p:spPr>
          <a:xfrm>
            <a:off x="8763000" y="2895600"/>
            <a:ext cx="304800" cy="304800"/>
          </a:xfrm>
          <a:prstGeom prst="roundRect">
            <a:avLst>
              <a:gd name="adj" fmla="val 18000"/>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05" name="Rounded Rectangle 2104"/>
          <p:cNvSpPr/>
          <p:nvPr/>
        </p:nvSpPr>
        <p:spPr>
          <a:xfrm>
            <a:off x="8051800" y="3251200"/>
            <a:ext cx="304800" cy="304800"/>
          </a:xfrm>
          <a:prstGeom prst="roundRect">
            <a:avLst>
              <a:gd name="adj" fmla="val 18000"/>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06" name="Rounded Rectangle 2105"/>
          <p:cNvSpPr/>
          <p:nvPr/>
        </p:nvSpPr>
        <p:spPr>
          <a:xfrm>
            <a:off x="8407400" y="3251200"/>
            <a:ext cx="304800" cy="304800"/>
          </a:xfrm>
          <a:prstGeom prst="roundRect">
            <a:avLst>
              <a:gd name="adj" fmla="val 18000"/>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07" name="Rounded Rectangle 2106"/>
          <p:cNvSpPr/>
          <p:nvPr/>
        </p:nvSpPr>
        <p:spPr>
          <a:xfrm>
            <a:off x="8763000" y="3251200"/>
            <a:ext cx="304800" cy="304800"/>
          </a:xfrm>
          <a:prstGeom prst="roundRect">
            <a:avLst>
              <a:gd name="adj" fmla="val 18000"/>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08" name="Rounded Rectangle 2107"/>
          <p:cNvSpPr/>
          <p:nvPr/>
        </p:nvSpPr>
        <p:spPr>
          <a:xfrm>
            <a:off x="8051800" y="3606800"/>
            <a:ext cx="304800" cy="304800"/>
          </a:xfrm>
          <a:prstGeom prst="roundRect">
            <a:avLst>
              <a:gd name="adj" fmla="val 18000"/>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09" name="Rounded Rectangle 2108"/>
          <p:cNvSpPr/>
          <p:nvPr/>
        </p:nvSpPr>
        <p:spPr>
          <a:xfrm>
            <a:off x="8407400" y="3606800"/>
            <a:ext cx="304800" cy="304800"/>
          </a:xfrm>
          <a:prstGeom prst="roundRect">
            <a:avLst>
              <a:gd name="adj" fmla="val 18000"/>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10" name="Rounded Rectangle 2109"/>
          <p:cNvSpPr/>
          <p:nvPr/>
        </p:nvSpPr>
        <p:spPr>
          <a:xfrm>
            <a:off x="8763000" y="3606800"/>
            <a:ext cx="304800" cy="304800"/>
          </a:xfrm>
          <a:prstGeom prst="roundRect">
            <a:avLst>
              <a:gd name="adj" fmla="val 18000"/>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11" name="TextBox 2110"/>
          <p:cNvSpPr txBox="1"/>
          <p:nvPr/>
        </p:nvSpPr>
        <p:spPr>
          <a:xfrm>
            <a:off x="9271000" y="2641600"/>
            <a:ext cx="1143000" cy="203200"/>
          </a:xfrm>
          <a:prstGeom prst="rect">
            <a:avLst/>
          </a:prstGeom>
          <a:noFill/>
        </p:spPr>
        <p:txBody>
          <a:bodyPr wrap="square" lIns="0" rIns="0" tIns="0" bIns="0" anchor="t">
            <a:spAutoFit/>
          </a:bodyPr>
          <a:lstStyle/>
          <a:p>
            <a:pPr algn="ctr">
              <a:spcAft>
                <a:spcPts val="0"/>
              </a:spcAft>
            </a:pPr>
            <a:r>
              <a:rPr sz="1100" b="1" i="0">
                <a:solidFill>
                  <a:srgbClr val="2D6485"/>
                </a:solidFill>
                <a:latin typeface="Calibri"/>
              </a:rPr>
              <a:t>Resistance</a:t>
            </a:r>
          </a:p>
        </p:txBody>
      </p:sp>
      <p:sp>
        <p:nvSpPr>
          <p:cNvPr id="2112" name="Rounded Rectangle 2111"/>
          <p:cNvSpPr/>
          <p:nvPr/>
        </p:nvSpPr>
        <p:spPr>
          <a:xfrm>
            <a:off x="9321800" y="2895600"/>
            <a:ext cx="304800" cy="304800"/>
          </a:xfrm>
          <a:prstGeom prst="roundRect">
            <a:avLst>
              <a:gd name="adj" fmla="val 18000"/>
            </a:avLst>
          </a:prstGeom>
          <a:solidFill>
            <a:srgbClr val="2D64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13" name="Rounded Rectangle 2112"/>
          <p:cNvSpPr/>
          <p:nvPr/>
        </p:nvSpPr>
        <p:spPr>
          <a:xfrm>
            <a:off x="9677400" y="2895600"/>
            <a:ext cx="304800" cy="304800"/>
          </a:xfrm>
          <a:prstGeom prst="roundRect">
            <a:avLst>
              <a:gd name="adj" fmla="val 18000"/>
            </a:avLst>
          </a:prstGeom>
          <a:solidFill>
            <a:srgbClr val="2D64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14" name="Rounded Rectangle 2113"/>
          <p:cNvSpPr/>
          <p:nvPr/>
        </p:nvSpPr>
        <p:spPr>
          <a:xfrm>
            <a:off x="10033000" y="2895600"/>
            <a:ext cx="304800" cy="304800"/>
          </a:xfrm>
          <a:prstGeom prst="roundRect">
            <a:avLst>
              <a:gd name="adj" fmla="val 18000"/>
            </a:avLst>
          </a:prstGeom>
          <a:solidFill>
            <a:srgbClr val="2D64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15" name="Rounded Rectangle 2114"/>
          <p:cNvSpPr/>
          <p:nvPr/>
        </p:nvSpPr>
        <p:spPr>
          <a:xfrm>
            <a:off x="9321800" y="3251200"/>
            <a:ext cx="304800" cy="304800"/>
          </a:xfrm>
          <a:prstGeom prst="roundRect">
            <a:avLst>
              <a:gd name="adj" fmla="val 18000"/>
            </a:avLst>
          </a:prstGeom>
          <a:solidFill>
            <a:srgbClr val="2D64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16" name="Rounded Rectangle 2115"/>
          <p:cNvSpPr/>
          <p:nvPr/>
        </p:nvSpPr>
        <p:spPr>
          <a:xfrm>
            <a:off x="9677400" y="3251200"/>
            <a:ext cx="304800" cy="304800"/>
          </a:xfrm>
          <a:prstGeom prst="roundRect">
            <a:avLst>
              <a:gd name="adj" fmla="val 18000"/>
            </a:avLst>
          </a:prstGeom>
          <a:solidFill>
            <a:srgbClr val="2D64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17" name="Rounded Rectangle 2116"/>
          <p:cNvSpPr/>
          <p:nvPr/>
        </p:nvSpPr>
        <p:spPr>
          <a:xfrm>
            <a:off x="10033000" y="3251200"/>
            <a:ext cx="304800" cy="304800"/>
          </a:xfrm>
          <a:prstGeom prst="roundRect">
            <a:avLst>
              <a:gd name="adj" fmla="val 18000"/>
            </a:avLst>
          </a:prstGeom>
          <a:solidFill>
            <a:srgbClr val="2D64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18" name="Rounded Rectangle 2117"/>
          <p:cNvSpPr/>
          <p:nvPr/>
        </p:nvSpPr>
        <p:spPr>
          <a:xfrm>
            <a:off x="9321800" y="3606800"/>
            <a:ext cx="304800" cy="304800"/>
          </a:xfrm>
          <a:prstGeom prst="roundRect">
            <a:avLst>
              <a:gd name="adj" fmla="val 18000"/>
            </a:avLst>
          </a:prstGeom>
          <a:solidFill>
            <a:srgbClr val="2D64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19" name="Rounded Rectangle 2118"/>
          <p:cNvSpPr/>
          <p:nvPr/>
        </p:nvSpPr>
        <p:spPr>
          <a:xfrm>
            <a:off x="9677400" y="3606800"/>
            <a:ext cx="304800" cy="304800"/>
          </a:xfrm>
          <a:prstGeom prst="roundRect">
            <a:avLst>
              <a:gd name="adj" fmla="val 18000"/>
            </a:avLst>
          </a:prstGeom>
          <a:solidFill>
            <a:srgbClr val="2D64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20" name="Rounded Rectangle 2119"/>
          <p:cNvSpPr/>
          <p:nvPr/>
        </p:nvSpPr>
        <p:spPr>
          <a:xfrm>
            <a:off x="10033000" y="3606800"/>
            <a:ext cx="304800" cy="304800"/>
          </a:xfrm>
          <a:prstGeom prst="roundRect">
            <a:avLst>
              <a:gd name="adj" fmla="val 18000"/>
            </a:avLst>
          </a:prstGeom>
          <a:solidFill>
            <a:srgbClr val="2D64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21" name="TextBox 2120"/>
          <p:cNvSpPr txBox="1"/>
          <p:nvPr/>
        </p:nvSpPr>
        <p:spPr>
          <a:xfrm>
            <a:off x="7493000" y="2895600"/>
            <a:ext cx="533400" cy="304800"/>
          </a:xfrm>
          <a:prstGeom prst="rect">
            <a:avLst/>
          </a:prstGeom>
          <a:noFill/>
        </p:spPr>
        <p:txBody>
          <a:bodyPr wrap="square" lIns="0" rIns="0" tIns="0" bIns="0" anchor="ctr">
            <a:spAutoFit/>
          </a:bodyPr>
          <a:lstStyle/>
          <a:p>
            <a:pPr algn="l">
              <a:spcAft>
                <a:spcPts val="0"/>
              </a:spcAft>
            </a:pPr>
            <a:r>
              <a:rPr sz="1000" b="0" i="0">
                <a:solidFill>
                  <a:srgbClr val="5B6B7A"/>
                </a:solidFill>
                <a:latin typeface="Calibri"/>
              </a:rPr>
              <a:t>Muscle</a:t>
            </a:r>
          </a:p>
        </p:txBody>
      </p:sp>
      <p:sp>
        <p:nvSpPr>
          <p:cNvPr id="2122" name="TextBox 2121"/>
          <p:cNvSpPr txBox="1"/>
          <p:nvPr/>
        </p:nvSpPr>
        <p:spPr>
          <a:xfrm>
            <a:off x="7493000" y="3251200"/>
            <a:ext cx="533400" cy="304800"/>
          </a:xfrm>
          <a:prstGeom prst="rect">
            <a:avLst/>
          </a:prstGeom>
          <a:noFill/>
        </p:spPr>
        <p:txBody>
          <a:bodyPr wrap="square" lIns="0" rIns="0" tIns="0" bIns="0" anchor="ctr">
            <a:spAutoFit/>
          </a:bodyPr>
          <a:lstStyle/>
          <a:p>
            <a:pPr algn="l">
              <a:spcAft>
                <a:spcPts val="0"/>
              </a:spcAft>
            </a:pPr>
            <a:r>
              <a:rPr sz="1000" b="0" i="0">
                <a:solidFill>
                  <a:srgbClr val="5B6B7A"/>
                </a:solidFill>
                <a:latin typeface="Calibri"/>
              </a:rPr>
              <a:t>Blood</a:t>
            </a:r>
          </a:p>
        </p:txBody>
      </p:sp>
      <p:sp>
        <p:nvSpPr>
          <p:cNvPr id="2123" name="TextBox 2122"/>
          <p:cNvSpPr txBox="1"/>
          <p:nvPr/>
        </p:nvSpPr>
        <p:spPr>
          <a:xfrm>
            <a:off x="7493000" y="3606800"/>
            <a:ext cx="533400" cy="304800"/>
          </a:xfrm>
          <a:prstGeom prst="rect">
            <a:avLst/>
          </a:prstGeom>
          <a:noFill/>
        </p:spPr>
        <p:txBody>
          <a:bodyPr wrap="square" lIns="0" rIns="0" tIns="0" bIns="0" anchor="ctr">
            <a:spAutoFit/>
          </a:bodyPr>
          <a:lstStyle/>
          <a:p>
            <a:pPr algn="l">
              <a:spcAft>
                <a:spcPts val="0"/>
              </a:spcAft>
            </a:pPr>
            <a:r>
              <a:rPr sz="1000" b="0" i="0">
                <a:solidFill>
                  <a:srgbClr val="5B6B7A"/>
                </a:solidFill>
                <a:latin typeface="Calibri"/>
              </a:rPr>
              <a:t>Fat</a:t>
            </a:r>
          </a:p>
        </p:txBody>
      </p:sp>
      <p:sp>
        <p:nvSpPr>
          <p:cNvPr id="2124" name="TextBox 2123"/>
          <p:cNvSpPr txBox="1"/>
          <p:nvPr/>
        </p:nvSpPr>
        <p:spPr>
          <a:xfrm>
            <a:off x="7645400" y="4013200"/>
            <a:ext cx="2819400" cy="279400"/>
          </a:xfrm>
          <a:prstGeom prst="rect">
            <a:avLst/>
          </a:prstGeom>
          <a:noFill/>
        </p:spPr>
        <p:txBody>
          <a:bodyPr wrap="square" lIns="0" rIns="0" tIns="0" bIns="0" anchor="ctr">
            <a:spAutoFit/>
          </a:bodyPr>
          <a:lstStyle/>
          <a:p>
            <a:pPr algn="l">
              <a:spcAft>
                <a:spcPts val="0"/>
              </a:spcAft>
            </a:pPr>
            <a:r>
              <a:rPr sz="1500" b="1" i="0">
                <a:solidFill>
                  <a:srgbClr val="2D6485"/>
                </a:solidFill>
                <a:latin typeface="Calibri"/>
              </a:rPr>
              <a:t>18 </a:t>
            </a:r>
            <a:r>
              <a:rPr sz="1250" b="0" i="0">
                <a:solidFill>
                  <a:srgbClr val="1F2A36"/>
                </a:solidFill>
                <a:latin typeface="Calibri"/>
              </a:rPr>
              <a:t>fingerprints: 2 × 3 tissues × 3 times</a:t>
            </a:r>
          </a:p>
        </p:txBody>
      </p:sp>
      <p:sp>
        <p:nvSpPr>
          <p:cNvPr id="2125" name="TextBox 2124"/>
          <p:cNvSpPr txBox="1"/>
          <p:nvPr/>
        </p:nvSpPr>
        <p:spPr>
          <a:xfrm>
            <a:off x="7645400" y="4445000"/>
            <a:ext cx="2819400" cy="1219200"/>
          </a:xfrm>
          <a:prstGeom prst="rect">
            <a:avLst/>
          </a:prstGeom>
          <a:noFill/>
        </p:spPr>
        <p:txBody>
          <a:bodyPr wrap="square" lIns="0" rIns="0" tIns="0" bIns="0" anchor="t">
            <a:spAutoFit/>
          </a:bodyPr>
          <a:lstStyle/>
          <a:p>
            <a:pPr algn="l">
              <a:spcAft>
                <a:spcPts val="0"/>
              </a:spcAft>
            </a:pPr>
            <a:r>
              <a:rPr sz="1350" b="1" i="0">
                <a:solidFill>
                  <a:srgbClr val="17324D"/>
                </a:solidFill>
                <a:latin typeface="Calibri"/>
              </a:rPr>
              <a:t>Two shortlists: </a:t>
            </a:r>
            <a:r>
              <a:rPr sz="1350" b="0" i="0">
                <a:solidFill>
                  <a:srgbClr val="1F2A36"/>
                </a:solidFill>
                <a:latin typeface="Calibri"/>
              </a:rPr>
              <a:t>endurance and resistance training are screened separately, so muscle-building gets its own list.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8000" y="914400"/>
            <a:ext cx="10160000" cy="558800"/>
          </a:xfrm>
        </p:spPr>
        <p:txBody>
          <a:bodyPr lIns="0" rIns="0" tIns="0" bIns="0" anchor="ctr" wrap="square"/>
          <a:lstStyle/>
          <a:p>
            <a:pPr algn="l"/>
            <a:r>
              <a:rPr sz="3000" b="1" i="0">
                <a:solidFill>
                  <a:srgbClr val="17324D"/>
                </a:solidFill>
                <a:latin typeface="Calibri"/>
              </a:rPr>
              <a:t>82 and 77 approved drugs worth testing in the lab</a:t>
            </a:r>
          </a:p>
        </p:txBody>
      </p:sp>
      <p:pic>
        <p:nvPicPr>
          <p:cNvPr id="2052" name="Picture 3">
            <a:extLst>
              <a:ext uri="{FF2B5EF4-FFF2-40B4-BE49-F238E27FC236}">
                <a16:creationId xmlns:a16="http://schemas.microsoft.com/office/drawing/2014/main" id="{378F6D54-6499-75C5-2592-C5AB0BDD5E46}"/>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8847138" y="-542925"/>
            <a:ext cx="3848100" cy="2165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53" name="Picture 5">
            <a:extLst>
              <a:ext uri="{FF2B5EF4-FFF2-40B4-BE49-F238E27FC236}">
                <a16:creationId xmlns:a16="http://schemas.microsoft.com/office/drawing/2014/main" id="{9A04B610-E394-4B99-2A07-DD2268AD1720}"/>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0975975" y="5761038"/>
            <a:ext cx="1096963" cy="1096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54" name="Picture 6">
            <a:extLst>
              <a:ext uri="{FF2B5EF4-FFF2-40B4-BE49-F238E27FC236}">
                <a16:creationId xmlns:a16="http://schemas.microsoft.com/office/drawing/2014/main" id="{1CDC6573-5491-7E9F-218F-A7B51A6D63C6}"/>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85738" y="211138"/>
            <a:ext cx="2352675" cy="611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55" name="Lead"/>
          <p:cNvSpPr txBox="1"/>
          <p:nvPr/>
        </p:nvSpPr>
        <p:spPr>
          <a:xfrm>
            <a:off x="508000" y="1498600"/>
            <a:ext cx="10160000" cy="279400"/>
          </a:xfrm>
          <a:prstGeom prst="rect">
            <a:avLst/>
          </a:prstGeom>
          <a:noFill/>
        </p:spPr>
        <p:txBody>
          <a:bodyPr wrap="square" lIns="0" rIns="0" tIns="0" bIns="0" anchor="t">
            <a:spAutoFit/>
          </a:bodyPr>
          <a:lstStyle/>
          <a:p>
            <a:pPr algn="l">
              <a:spcAft>
                <a:spcPts val="0"/>
              </a:spcAft>
            </a:pPr>
            <a:r>
              <a:rPr sz="1600" b="0" i="0">
                <a:solidFill>
                  <a:srgbClr val="5B6B7A"/>
                </a:solidFill>
                <a:latin typeface="Calibri"/>
              </a:rPr>
              <a:t>Top candidates by benefit index. All are already approved for other uses.</a:t>
            </a:r>
          </a:p>
        </p:txBody>
      </p:sp>
      <p:sp>
        <p:nvSpPr>
          <p:cNvPr id="2056" name="Footer"/>
          <p:cNvSpPr txBox="1"/>
          <p:nvPr/>
        </p:nvSpPr>
        <p:spPr>
          <a:xfrm>
            <a:off x="508000" y="6515100"/>
            <a:ext cx="3810000" cy="177800"/>
          </a:xfrm>
          <a:prstGeom prst="rect">
            <a:avLst/>
          </a:prstGeom>
          <a:noFill/>
        </p:spPr>
        <p:txBody>
          <a:bodyPr wrap="square" lIns="0" rIns="0" tIns="0" bIns="0" anchor="t">
            <a:spAutoFit/>
          </a:bodyPr>
          <a:lstStyle/>
          <a:p>
            <a:pPr algn="l">
              <a:spcAft>
                <a:spcPts val="0"/>
              </a:spcAft>
            </a:pPr>
            <a:r>
              <a:rPr sz="1000" b="1" i="0">
                <a:solidFill>
                  <a:srgbClr val="17324D"/>
                </a:solidFill>
                <a:latin typeface="Calibri"/>
              </a:rPr>
              <a:t>TEAM TEJAS019 · SynThera</a:t>
            </a:r>
            <a:r>
              <a:rPr sz="1000" b="0" i="0">
                <a:solidFill>
                  <a:srgbClr val="5B6B7A"/>
                </a:solidFill>
                <a:latin typeface="Calibri"/>
              </a:rPr>
              <a:t>    7 / 10</a:t>
            </a:r>
          </a:p>
        </p:txBody>
      </p:sp>
      <p:sp>
        <p:nvSpPr>
          <p:cNvPr id="2057" name="TextBox 2056"/>
          <p:cNvSpPr txBox="1"/>
          <p:nvPr/>
        </p:nvSpPr>
        <p:spPr>
          <a:xfrm>
            <a:off x="508000" y="1905000"/>
            <a:ext cx="4953000" cy="254000"/>
          </a:xfrm>
          <a:prstGeom prst="rect">
            <a:avLst/>
          </a:prstGeom>
          <a:noFill/>
        </p:spPr>
        <p:txBody>
          <a:bodyPr wrap="square" lIns="0" rIns="0" tIns="0" bIns="0" anchor="t">
            <a:spAutoFit/>
          </a:bodyPr>
          <a:lstStyle/>
          <a:p>
            <a:pPr algn="l">
              <a:spcAft>
                <a:spcPts val="0"/>
              </a:spcAft>
            </a:pPr>
            <a:r>
              <a:rPr sz="1600" b="1" i="0">
                <a:solidFill>
                  <a:srgbClr val="C2603F"/>
                </a:solidFill>
                <a:latin typeface="Calibri"/>
              </a:rPr>
              <a:t>Endurance (cycling)</a:t>
            </a:r>
          </a:p>
        </p:txBody>
      </p:sp>
      <p:graphicFrame>
        <p:nvGraphicFramePr>
          <p:cNvPr id="2058" name="Candidates 0"/>
          <p:cNvGraphicFramePr>
            <a:graphicFrameLocks noGrp="1"/>
          </p:cNvGraphicFramePr>
          <p:nvPr/>
        </p:nvGraphicFramePr>
        <p:xfrm>
          <a:off x="508000" y="2235200"/>
          <a:ext cx="4953000" cy="2755900"/>
        </p:xfrm>
        <a:graphic>
          <a:graphicData uri="http://schemas.openxmlformats.org/drawingml/2006/table">
            <a:tbl>
              <a:tblPr firstRow="1" bandRow="1">
                <a:tableStyleId>{5940675A-B579-460E-94D1-54222C63F5DA}</a:tableStyleId>
              </a:tblPr>
              <a:tblGrid>
                <a:gridCol w="431800"/>
                <a:gridCol w="1625600"/>
                <a:gridCol w="1905000"/>
                <a:gridCol w="990600"/>
              </a:tblGrid>
              <a:tr h="393700">
                <a:tc>
                  <a:txBody>
                    <a:bodyPr wrap="square"/>
                    <a:lstStyle/>
                    <a:p>
                      <a:r>
                        <a:rPr sz="1300" b="1">
                          <a:solidFill>
                            <a:srgbClr val="FFFFFF"/>
                          </a:solidFill>
                          <a:latin typeface="Calibri"/>
                        </a:rPr>
                        <a:t>#</a:t>
                      </a:r>
                    </a:p>
                  </a:txBody>
                  <a:tcPr marL="101600" marR="101600" marT="38100" marB="38100" anchor="ctr">
                    <a:solidFill>
                      <a:srgbClr val="17324D"/>
                    </a:solidFill>
                    <a:lnL w="9525">
                      <a:solidFill>
                        <a:srgbClr val="D8E0E7"/>
                      </a:solidFill>
                    </a:lnL>
                    <a:lnR w="9525">
                      <a:solidFill>
                        <a:srgbClr val="D8E0E7"/>
                      </a:solidFill>
                    </a:lnR>
                    <a:lnT w="9525">
                      <a:solidFill>
                        <a:srgbClr val="D8E0E7"/>
                      </a:solidFill>
                    </a:lnT>
                    <a:lnB w="9525">
                      <a:solidFill>
                        <a:srgbClr val="D8E0E7"/>
                      </a:solidFill>
                    </a:lnB>
                  </a:tcPr>
                </a:tc>
                <a:tc>
                  <a:txBody>
                    <a:bodyPr wrap="square"/>
                    <a:lstStyle/>
                    <a:p>
                      <a:r>
                        <a:rPr sz="1300" b="1">
                          <a:solidFill>
                            <a:srgbClr val="FFFFFF"/>
                          </a:solidFill>
                          <a:latin typeface="Calibri"/>
                        </a:rPr>
                        <a:t>Drug</a:t>
                      </a:r>
                    </a:p>
                  </a:txBody>
                  <a:tcPr marL="101600" marR="101600" marT="38100" marB="38100" anchor="ctr">
                    <a:solidFill>
                      <a:srgbClr val="17324D"/>
                    </a:solidFill>
                    <a:lnL w="9525">
                      <a:solidFill>
                        <a:srgbClr val="D8E0E7"/>
                      </a:solidFill>
                    </a:lnL>
                    <a:lnR w="9525">
                      <a:solidFill>
                        <a:srgbClr val="D8E0E7"/>
                      </a:solidFill>
                    </a:lnR>
                    <a:lnT w="9525">
                      <a:solidFill>
                        <a:srgbClr val="D8E0E7"/>
                      </a:solidFill>
                    </a:lnT>
                    <a:lnB w="9525">
                      <a:solidFill>
                        <a:srgbClr val="D8E0E7"/>
                      </a:solidFill>
                    </a:lnB>
                  </a:tcPr>
                </a:tc>
                <a:tc>
                  <a:txBody>
                    <a:bodyPr wrap="square"/>
                    <a:lstStyle/>
                    <a:p>
                      <a:r>
                        <a:rPr sz="1300" b="1">
                          <a:solidFill>
                            <a:srgbClr val="FFFFFF"/>
                          </a:solidFill>
                          <a:latin typeface="Calibri"/>
                        </a:rPr>
                        <a:t>Used for</a:t>
                      </a:r>
                    </a:p>
                  </a:txBody>
                  <a:tcPr marL="101600" marR="101600" marT="38100" marB="38100" anchor="ctr">
                    <a:solidFill>
                      <a:srgbClr val="17324D"/>
                    </a:solidFill>
                    <a:lnL w="9525">
                      <a:solidFill>
                        <a:srgbClr val="D8E0E7"/>
                      </a:solidFill>
                    </a:lnL>
                    <a:lnR w="9525">
                      <a:solidFill>
                        <a:srgbClr val="D8E0E7"/>
                      </a:solidFill>
                    </a:lnR>
                    <a:lnT w="9525">
                      <a:solidFill>
                        <a:srgbClr val="D8E0E7"/>
                      </a:solidFill>
                    </a:lnT>
                    <a:lnB w="9525">
                      <a:solidFill>
                        <a:srgbClr val="D8E0E7"/>
                      </a:solidFill>
                    </a:lnB>
                  </a:tcPr>
                </a:tc>
                <a:tc>
                  <a:txBody>
                    <a:bodyPr wrap="square"/>
                    <a:lstStyle/>
                    <a:p>
                      <a:r>
                        <a:rPr sz="1300" b="1">
                          <a:solidFill>
                            <a:srgbClr val="FFFFFF"/>
                          </a:solidFill>
                          <a:latin typeface="Calibri"/>
                        </a:rPr>
                        <a:t>Benefit</a:t>
                      </a:r>
                    </a:p>
                  </a:txBody>
                  <a:tcPr marL="101600" marR="101600" marT="38100" marB="38100" anchor="ctr">
                    <a:solidFill>
                      <a:srgbClr val="17324D"/>
                    </a:solidFill>
                    <a:lnL w="9525">
                      <a:solidFill>
                        <a:srgbClr val="D8E0E7"/>
                      </a:solidFill>
                    </a:lnL>
                    <a:lnR w="9525">
                      <a:solidFill>
                        <a:srgbClr val="D8E0E7"/>
                      </a:solidFill>
                    </a:lnR>
                    <a:lnT w="9525">
                      <a:solidFill>
                        <a:srgbClr val="D8E0E7"/>
                      </a:solidFill>
                    </a:lnT>
                    <a:lnB w="9525">
                      <a:solidFill>
                        <a:srgbClr val="D8E0E7"/>
                      </a:solidFill>
                    </a:lnB>
                  </a:tcPr>
                </a:tc>
              </a:tr>
              <a:tr h="393700">
                <a:tc>
                  <a:txBody>
                    <a:bodyPr wrap="square"/>
                    <a:lstStyle/>
                    <a:p>
                      <a:r>
                        <a:rPr sz="1400" b="0">
                          <a:solidFill>
                            <a:srgbClr val="1F2A36"/>
                          </a:solidFill>
                          <a:latin typeface="Calibri"/>
                        </a:rPr>
                        <a:t>1</a:t>
                      </a:r>
                    </a:p>
                  </a:txBody>
                  <a:tcPr marL="101600" marR="101600" marT="38100" marB="38100" anchor="ctr">
                    <a:solidFill>
                      <a:srgbClr val="FFFFFF"/>
                    </a:solidFill>
                    <a:lnL w="9525">
                      <a:solidFill>
                        <a:srgbClr val="D8E0E7"/>
                      </a:solidFill>
                    </a:lnL>
                    <a:lnR w="9525">
                      <a:solidFill>
                        <a:srgbClr val="D8E0E7"/>
                      </a:solidFill>
                    </a:lnR>
                    <a:lnT w="9525">
                      <a:solidFill>
                        <a:srgbClr val="D8E0E7"/>
                      </a:solidFill>
                    </a:lnT>
                    <a:lnB w="9525">
                      <a:solidFill>
                        <a:srgbClr val="D8E0E7"/>
                      </a:solidFill>
                    </a:lnB>
                  </a:tcPr>
                </a:tc>
                <a:tc>
                  <a:txBody>
                    <a:bodyPr wrap="square"/>
                    <a:lstStyle/>
                    <a:p>
                      <a:r>
                        <a:rPr sz="1400" b="1">
                          <a:solidFill>
                            <a:srgbClr val="17324D"/>
                          </a:solidFill>
                          <a:latin typeface="Calibri"/>
                        </a:rPr>
                        <a:t>Sitagliptin</a:t>
                      </a:r>
                    </a:p>
                  </a:txBody>
                  <a:tcPr marL="101600" marR="101600" marT="38100" marB="38100" anchor="ctr">
                    <a:solidFill>
                      <a:srgbClr val="FFFFFF"/>
                    </a:solidFill>
                    <a:lnL w="9525">
                      <a:solidFill>
                        <a:srgbClr val="D8E0E7"/>
                      </a:solidFill>
                    </a:lnL>
                    <a:lnR w="9525">
                      <a:solidFill>
                        <a:srgbClr val="D8E0E7"/>
                      </a:solidFill>
                    </a:lnR>
                    <a:lnT w="9525">
                      <a:solidFill>
                        <a:srgbClr val="D8E0E7"/>
                      </a:solidFill>
                    </a:lnT>
                    <a:lnB w="9525">
                      <a:solidFill>
                        <a:srgbClr val="D8E0E7"/>
                      </a:solidFill>
                    </a:lnB>
                  </a:tcPr>
                </a:tc>
                <a:tc>
                  <a:txBody>
                    <a:bodyPr wrap="square"/>
                    <a:lstStyle/>
                    <a:p>
                      <a:r>
                        <a:rPr sz="1400" b="0">
                          <a:solidFill>
                            <a:srgbClr val="1F2A36"/>
                          </a:solidFill>
                          <a:latin typeface="Calibri"/>
                        </a:rPr>
                        <a:t>Diabetes</a:t>
                      </a:r>
                    </a:p>
                  </a:txBody>
                  <a:tcPr marL="101600" marR="101600" marT="38100" marB="38100" anchor="ctr">
                    <a:solidFill>
                      <a:srgbClr val="FFFFFF"/>
                    </a:solidFill>
                    <a:lnL w="9525">
                      <a:solidFill>
                        <a:srgbClr val="D8E0E7"/>
                      </a:solidFill>
                    </a:lnL>
                    <a:lnR w="9525">
                      <a:solidFill>
                        <a:srgbClr val="D8E0E7"/>
                      </a:solidFill>
                    </a:lnR>
                    <a:lnT w="9525">
                      <a:solidFill>
                        <a:srgbClr val="D8E0E7"/>
                      </a:solidFill>
                    </a:lnT>
                    <a:lnB w="9525">
                      <a:solidFill>
                        <a:srgbClr val="D8E0E7"/>
                      </a:solidFill>
                    </a:lnB>
                  </a:tcPr>
                </a:tc>
                <a:tc>
                  <a:txBody>
                    <a:bodyPr wrap="square"/>
                    <a:lstStyle/>
                    <a:p>
                      <a:r>
                        <a:rPr sz="1400" b="1">
                          <a:solidFill>
                            <a:srgbClr val="1C786D"/>
                          </a:solidFill>
                          <a:latin typeface="Calibri"/>
                        </a:rPr>
                        <a:t>+0.78</a:t>
                      </a:r>
                    </a:p>
                  </a:txBody>
                  <a:tcPr marL="101600" marR="101600" marT="38100" marB="38100" anchor="ctr">
                    <a:solidFill>
                      <a:srgbClr val="FFFFFF"/>
                    </a:solidFill>
                    <a:lnL w="9525">
                      <a:solidFill>
                        <a:srgbClr val="D8E0E7"/>
                      </a:solidFill>
                    </a:lnL>
                    <a:lnR w="9525">
                      <a:solidFill>
                        <a:srgbClr val="D8E0E7"/>
                      </a:solidFill>
                    </a:lnR>
                    <a:lnT w="9525">
                      <a:solidFill>
                        <a:srgbClr val="D8E0E7"/>
                      </a:solidFill>
                    </a:lnT>
                    <a:lnB w="9525">
                      <a:solidFill>
                        <a:srgbClr val="D8E0E7"/>
                      </a:solidFill>
                    </a:lnB>
                  </a:tcPr>
                </a:tc>
              </a:tr>
              <a:tr h="393700">
                <a:tc>
                  <a:txBody>
                    <a:bodyPr wrap="square"/>
                    <a:lstStyle/>
                    <a:p>
                      <a:r>
                        <a:rPr sz="1400" b="0">
                          <a:solidFill>
                            <a:srgbClr val="1F2A36"/>
                          </a:solidFill>
                          <a:latin typeface="Calibri"/>
                        </a:rPr>
                        <a:t>2</a:t>
                      </a:r>
                    </a:p>
                  </a:txBody>
                  <a:tcPr marL="101600" marR="101600" marT="38100" marB="38100" anchor="ctr">
                    <a:solidFill>
                      <a:srgbClr val="F1F5F8"/>
                    </a:solidFill>
                    <a:lnL w="9525">
                      <a:solidFill>
                        <a:srgbClr val="D8E0E7"/>
                      </a:solidFill>
                    </a:lnL>
                    <a:lnR w="9525">
                      <a:solidFill>
                        <a:srgbClr val="D8E0E7"/>
                      </a:solidFill>
                    </a:lnR>
                    <a:lnT w="9525">
                      <a:solidFill>
                        <a:srgbClr val="D8E0E7"/>
                      </a:solidFill>
                    </a:lnT>
                    <a:lnB w="9525">
                      <a:solidFill>
                        <a:srgbClr val="D8E0E7"/>
                      </a:solidFill>
                    </a:lnB>
                  </a:tcPr>
                </a:tc>
                <a:tc>
                  <a:txBody>
                    <a:bodyPr wrap="square"/>
                    <a:lstStyle/>
                    <a:p>
                      <a:r>
                        <a:rPr sz="1400" b="1">
                          <a:solidFill>
                            <a:srgbClr val="17324D"/>
                          </a:solidFill>
                          <a:latin typeface="Calibri"/>
                        </a:rPr>
                        <a:t>Tioconazole</a:t>
                      </a:r>
                    </a:p>
                  </a:txBody>
                  <a:tcPr marL="101600" marR="101600" marT="38100" marB="38100" anchor="ctr">
                    <a:solidFill>
                      <a:srgbClr val="F1F5F8"/>
                    </a:solidFill>
                    <a:lnL w="9525">
                      <a:solidFill>
                        <a:srgbClr val="D8E0E7"/>
                      </a:solidFill>
                    </a:lnL>
                    <a:lnR w="9525">
                      <a:solidFill>
                        <a:srgbClr val="D8E0E7"/>
                      </a:solidFill>
                    </a:lnR>
                    <a:lnT w="9525">
                      <a:solidFill>
                        <a:srgbClr val="D8E0E7"/>
                      </a:solidFill>
                    </a:lnT>
                    <a:lnB w="9525">
                      <a:solidFill>
                        <a:srgbClr val="D8E0E7"/>
                      </a:solidFill>
                    </a:lnB>
                  </a:tcPr>
                </a:tc>
                <a:tc>
                  <a:txBody>
                    <a:bodyPr wrap="square"/>
                    <a:lstStyle/>
                    <a:p>
                      <a:r>
                        <a:rPr sz="1400" b="0">
                          <a:solidFill>
                            <a:srgbClr val="1F2A36"/>
                          </a:solidFill>
                          <a:latin typeface="Calibri"/>
                        </a:rPr>
                        <a:t>Yeast infection</a:t>
                      </a:r>
                    </a:p>
                  </a:txBody>
                  <a:tcPr marL="101600" marR="101600" marT="38100" marB="38100" anchor="ctr">
                    <a:solidFill>
                      <a:srgbClr val="F1F5F8"/>
                    </a:solidFill>
                    <a:lnL w="9525">
                      <a:solidFill>
                        <a:srgbClr val="D8E0E7"/>
                      </a:solidFill>
                    </a:lnL>
                    <a:lnR w="9525">
                      <a:solidFill>
                        <a:srgbClr val="D8E0E7"/>
                      </a:solidFill>
                    </a:lnR>
                    <a:lnT w="9525">
                      <a:solidFill>
                        <a:srgbClr val="D8E0E7"/>
                      </a:solidFill>
                    </a:lnT>
                    <a:lnB w="9525">
                      <a:solidFill>
                        <a:srgbClr val="D8E0E7"/>
                      </a:solidFill>
                    </a:lnB>
                  </a:tcPr>
                </a:tc>
                <a:tc>
                  <a:txBody>
                    <a:bodyPr wrap="square"/>
                    <a:lstStyle/>
                    <a:p>
                      <a:r>
                        <a:rPr sz="1400" b="1">
                          <a:solidFill>
                            <a:srgbClr val="1C786D"/>
                          </a:solidFill>
                          <a:latin typeface="Calibri"/>
                        </a:rPr>
                        <a:t>+0.62</a:t>
                      </a:r>
                    </a:p>
                  </a:txBody>
                  <a:tcPr marL="101600" marR="101600" marT="38100" marB="38100" anchor="ctr">
                    <a:solidFill>
                      <a:srgbClr val="F1F5F8"/>
                    </a:solidFill>
                    <a:lnL w="9525">
                      <a:solidFill>
                        <a:srgbClr val="D8E0E7"/>
                      </a:solidFill>
                    </a:lnL>
                    <a:lnR w="9525">
                      <a:solidFill>
                        <a:srgbClr val="D8E0E7"/>
                      </a:solidFill>
                    </a:lnR>
                    <a:lnT w="9525">
                      <a:solidFill>
                        <a:srgbClr val="D8E0E7"/>
                      </a:solidFill>
                    </a:lnT>
                    <a:lnB w="9525">
                      <a:solidFill>
                        <a:srgbClr val="D8E0E7"/>
                      </a:solidFill>
                    </a:lnB>
                  </a:tcPr>
                </a:tc>
              </a:tr>
              <a:tr h="393700">
                <a:tc>
                  <a:txBody>
                    <a:bodyPr wrap="square"/>
                    <a:lstStyle/>
                    <a:p>
                      <a:r>
                        <a:rPr sz="1400" b="0">
                          <a:solidFill>
                            <a:srgbClr val="1F2A36"/>
                          </a:solidFill>
                          <a:latin typeface="Calibri"/>
                        </a:rPr>
                        <a:t>3</a:t>
                      </a:r>
                    </a:p>
                  </a:txBody>
                  <a:tcPr marL="101600" marR="101600" marT="38100" marB="38100" anchor="ctr">
                    <a:solidFill>
                      <a:srgbClr val="FFFFFF"/>
                    </a:solidFill>
                    <a:lnL w="9525">
                      <a:solidFill>
                        <a:srgbClr val="D8E0E7"/>
                      </a:solidFill>
                    </a:lnL>
                    <a:lnR w="9525">
                      <a:solidFill>
                        <a:srgbClr val="D8E0E7"/>
                      </a:solidFill>
                    </a:lnR>
                    <a:lnT w="9525">
                      <a:solidFill>
                        <a:srgbClr val="D8E0E7"/>
                      </a:solidFill>
                    </a:lnT>
                    <a:lnB w="9525">
                      <a:solidFill>
                        <a:srgbClr val="D8E0E7"/>
                      </a:solidFill>
                    </a:lnB>
                  </a:tcPr>
                </a:tc>
                <a:tc>
                  <a:txBody>
                    <a:bodyPr wrap="square"/>
                    <a:lstStyle/>
                    <a:p>
                      <a:r>
                        <a:rPr sz="1400" b="1">
                          <a:solidFill>
                            <a:srgbClr val="17324D"/>
                          </a:solidFill>
                          <a:latin typeface="Calibri"/>
                        </a:rPr>
                        <a:t>Olmesartan</a:t>
                      </a:r>
                    </a:p>
                  </a:txBody>
                  <a:tcPr marL="101600" marR="101600" marT="38100" marB="38100" anchor="ctr">
                    <a:solidFill>
                      <a:srgbClr val="FFFFFF"/>
                    </a:solidFill>
                    <a:lnL w="9525">
                      <a:solidFill>
                        <a:srgbClr val="D8E0E7"/>
                      </a:solidFill>
                    </a:lnL>
                    <a:lnR w="9525">
                      <a:solidFill>
                        <a:srgbClr val="D8E0E7"/>
                      </a:solidFill>
                    </a:lnR>
                    <a:lnT w="9525">
                      <a:solidFill>
                        <a:srgbClr val="D8E0E7"/>
                      </a:solidFill>
                    </a:lnT>
                    <a:lnB w="9525">
                      <a:solidFill>
                        <a:srgbClr val="D8E0E7"/>
                      </a:solidFill>
                    </a:lnB>
                  </a:tcPr>
                </a:tc>
                <a:tc>
                  <a:txBody>
                    <a:bodyPr wrap="square"/>
                    <a:lstStyle/>
                    <a:p>
                      <a:r>
                        <a:rPr sz="1400" b="0">
                          <a:solidFill>
                            <a:srgbClr val="1F2A36"/>
                          </a:solidFill>
                          <a:latin typeface="Calibri"/>
                        </a:rPr>
                        <a:t>Hypertension</a:t>
                      </a:r>
                    </a:p>
                  </a:txBody>
                  <a:tcPr marL="101600" marR="101600" marT="38100" marB="38100" anchor="ctr">
                    <a:solidFill>
                      <a:srgbClr val="FFFFFF"/>
                    </a:solidFill>
                    <a:lnL w="9525">
                      <a:solidFill>
                        <a:srgbClr val="D8E0E7"/>
                      </a:solidFill>
                    </a:lnL>
                    <a:lnR w="9525">
                      <a:solidFill>
                        <a:srgbClr val="D8E0E7"/>
                      </a:solidFill>
                    </a:lnR>
                    <a:lnT w="9525">
                      <a:solidFill>
                        <a:srgbClr val="D8E0E7"/>
                      </a:solidFill>
                    </a:lnT>
                    <a:lnB w="9525">
                      <a:solidFill>
                        <a:srgbClr val="D8E0E7"/>
                      </a:solidFill>
                    </a:lnB>
                  </a:tcPr>
                </a:tc>
                <a:tc>
                  <a:txBody>
                    <a:bodyPr wrap="square"/>
                    <a:lstStyle/>
                    <a:p>
                      <a:r>
                        <a:rPr sz="1400" b="1">
                          <a:solidFill>
                            <a:srgbClr val="1C786D"/>
                          </a:solidFill>
                          <a:latin typeface="Calibri"/>
                        </a:rPr>
                        <a:t>+0.57</a:t>
                      </a:r>
                    </a:p>
                  </a:txBody>
                  <a:tcPr marL="101600" marR="101600" marT="38100" marB="38100" anchor="ctr">
                    <a:solidFill>
                      <a:srgbClr val="FFFFFF"/>
                    </a:solidFill>
                    <a:lnL w="9525">
                      <a:solidFill>
                        <a:srgbClr val="D8E0E7"/>
                      </a:solidFill>
                    </a:lnL>
                    <a:lnR w="9525">
                      <a:solidFill>
                        <a:srgbClr val="D8E0E7"/>
                      </a:solidFill>
                    </a:lnR>
                    <a:lnT w="9525">
                      <a:solidFill>
                        <a:srgbClr val="D8E0E7"/>
                      </a:solidFill>
                    </a:lnT>
                    <a:lnB w="9525">
                      <a:solidFill>
                        <a:srgbClr val="D8E0E7"/>
                      </a:solidFill>
                    </a:lnB>
                  </a:tcPr>
                </a:tc>
              </a:tr>
              <a:tr h="393700">
                <a:tc>
                  <a:txBody>
                    <a:bodyPr wrap="square"/>
                    <a:lstStyle/>
                    <a:p>
                      <a:r>
                        <a:rPr sz="1400" b="0">
                          <a:solidFill>
                            <a:srgbClr val="1F2A36"/>
                          </a:solidFill>
                          <a:latin typeface="Calibri"/>
                        </a:rPr>
                        <a:t>4</a:t>
                      </a:r>
                    </a:p>
                  </a:txBody>
                  <a:tcPr marL="101600" marR="101600" marT="38100" marB="38100" anchor="ctr">
                    <a:solidFill>
                      <a:srgbClr val="F1F5F8"/>
                    </a:solidFill>
                    <a:lnL w="9525">
                      <a:solidFill>
                        <a:srgbClr val="D8E0E7"/>
                      </a:solidFill>
                    </a:lnL>
                    <a:lnR w="9525">
                      <a:solidFill>
                        <a:srgbClr val="D8E0E7"/>
                      </a:solidFill>
                    </a:lnR>
                    <a:lnT w="9525">
                      <a:solidFill>
                        <a:srgbClr val="D8E0E7"/>
                      </a:solidFill>
                    </a:lnT>
                    <a:lnB w="9525">
                      <a:solidFill>
                        <a:srgbClr val="D8E0E7"/>
                      </a:solidFill>
                    </a:lnB>
                  </a:tcPr>
                </a:tc>
                <a:tc>
                  <a:txBody>
                    <a:bodyPr wrap="square"/>
                    <a:lstStyle/>
                    <a:p>
                      <a:r>
                        <a:rPr sz="1400" b="1">
                          <a:solidFill>
                            <a:srgbClr val="17324D"/>
                          </a:solidFill>
                          <a:latin typeface="Calibri"/>
                        </a:rPr>
                        <a:t>Phenytoin</a:t>
                      </a:r>
                    </a:p>
                  </a:txBody>
                  <a:tcPr marL="101600" marR="101600" marT="38100" marB="38100" anchor="ctr">
                    <a:solidFill>
                      <a:srgbClr val="F1F5F8"/>
                    </a:solidFill>
                    <a:lnL w="9525">
                      <a:solidFill>
                        <a:srgbClr val="D8E0E7"/>
                      </a:solidFill>
                    </a:lnL>
                    <a:lnR w="9525">
                      <a:solidFill>
                        <a:srgbClr val="D8E0E7"/>
                      </a:solidFill>
                    </a:lnR>
                    <a:lnT w="9525">
                      <a:solidFill>
                        <a:srgbClr val="D8E0E7"/>
                      </a:solidFill>
                    </a:lnT>
                    <a:lnB w="9525">
                      <a:solidFill>
                        <a:srgbClr val="D8E0E7"/>
                      </a:solidFill>
                    </a:lnB>
                  </a:tcPr>
                </a:tc>
                <a:tc>
                  <a:txBody>
                    <a:bodyPr wrap="square"/>
                    <a:lstStyle/>
                    <a:p>
                      <a:r>
                        <a:rPr sz="1400" b="0">
                          <a:solidFill>
                            <a:srgbClr val="1F2A36"/>
                          </a:solidFill>
                          <a:latin typeface="Calibri"/>
                        </a:rPr>
                        <a:t>Seizures</a:t>
                      </a:r>
                    </a:p>
                  </a:txBody>
                  <a:tcPr marL="101600" marR="101600" marT="38100" marB="38100" anchor="ctr">
                    <a:solidFill>
                      <a:srgbClr val="F1F5F8"/>
                    </a:solidFill>
                    <a:lnL w="9525">
                      <a:solidFill>
                        <a:srgbClr val="D8E0E7"/>
                      </a:solidFill>
                    </a:lnL>
                    <a:lnR w="9525">
                      <a:solidFill>
                        <a:srgbClr val="D8E0E7"/>
                      </a:solidFill>
                    </a:lnR>
                    <a:lnT w="9525">
                      <a:solidFill>
                        <a:srgbClr val="D8E0E7"/>
                      </a:solidFill>
                    </a:lnT>
                    <a:lnB w="9525">
                      <a:solidFill>
                        <a:srgbClr val="D8E0E7"/>
                      </a:solidFill>
                    </a:lnB>
                  </a:tcPr>
                </a:tc>
                <a:tc>
                  <a:txBody>
                    <a:bodyPr wrap="square"/>
                    <a:lstStyle/>
                    <a:p>
                      <a:r>
                        <a:rPr sz="1400" b="1">
                          <a:solidFill>
                            <a:srgbClr val="1C786D"/>
                          </a:solidFill>
                          <a:latin typeface="Calibri"/>
                        </a:rPr>
                        <a:t>+0.55</a:t>
                      </a:r>
                    </a:p>
                  </a:txBody>
                  <a:tcPr marL="101600" marR="101600" marT="38100" marB="38100" anchor="ctr">
                    <a:solidFill>
                      <a:srgbClr val="F1F5F8"/>
                    </a:solidFill>
                    <a:lnL w="9525">
                      <a:solidFill>
                        <a:srgbClr val="D8E0E7"/>
                      </a:solidFill>
                    </a:lnL>
                    <a:lnR w="9525">
                      <a:solidFill>
                        <a:srgbClr val="D8E0E7"/>
                      </a:solidFill>
                    </a:lnR>
                    <a:lnT w="9525">
                      <a:solidFill>
                        <a:srgbClr val="D8E0E7"/>
                      </a:solidFill>
                    </a:lnT>
                    <a:lnB w="9525">
                      <a:solidFill>
                        <a:srgbClr val="D8E0E7"/>
                      </a:solidFill>
                    </a:lnB>
                  </a:tcPr>
                </a:tc>
              </a:tr>
              <a:tr h="393700">
                <a:tc>
                  <a:txBody>
                    <a:bodyPr wrap="square"/>
                    <a:lstStyle/>
                    <a:p>
                      <a:r>
                        <a:rPr sz="1400" b="0">
                          <a:solidFill>
                            <a:srgbClr val="1F2A36"/>
                          </a:solidFill>
                          <a:latin typeface="Calibri"/>
                        </a:rPr>
                        <a:t>5</a:t>
                      </a:r>
                    </a:p>
                  </a:txBody>
                  <a:tcPr marL="101600" marR="101600" marT="38100" marB="38100" anchor="ctr">
                    <a:solidFill>
                      <a:srgbClr val="FFFFFF"/>
                    </a:solidFill>
                    <a:lnL w="9525">
                      <a:solidFill>
                        <a:srgbClr val="D8E0E7"/>
                      </a:solidFill>
                    </a:lnL>
                    <a:lnR w="9525">
                      <a:solidFill>
                        <a:srgbClr val="D8E0E7"/>
                      </a:solidFill>
                    </a:lnR>
                    <a:lnT w="9525">
                      <a:solidFill>
                        <a:srgbClr val="D8E0E7"/>
                      </a:solidFill>
                    </a:lnT>
                    <a:lnB w="9525">
                      <a:solidFill>
                        <a:srgbClr val="D8E0E7"/>
                      </a:solidFill>
                    </a:lnB>
                  </a:tcPr>
                </a:tc>
                <a:tc>
                  <a:txBody>
                    <a:bodyPr wrap="square"/>
                    <a:lstStyle/>
                    <a:p>
                      <a:r>
                        <a:rPr sz="1400" b="1">
                          <a:solidFill>
                            <a:srgbClr val="17324D"/>
                          </a:solidFill>
                          <a:latin typeface="Calibri"/>
                        </a:rPr>
                        <a:t>Mepacrine</a:t>
                      </a:r>
                    </a:p>
                  </a:txBody>
                  <a:tcPr marL="101600" marR="101600" marT="38100" marB="38100" anchor="ctr">
                    <a:solidFill>
                      <a:srgbClr val="FFFFFF"/>
                    </a:solidFill>
                    <a:lnL w="9525">
                      <a:solidFill>
                        <a:srgbClr val="D8E0E7"/>
                      </a:solidFill>
                    </a:lnL>
                    <a:lnR w="9525">
                      <a:solidFill>
                        <a:srgbClr val="D8E0E7"/>
                      </a:solidFill>
                    </a:lnR>
                    <a:lnT w="9525">
                      <a:solidFill>
                        <a:srgbClr val="D8E0E7"/>
                      </a:solidFill>
                    </a:lnT>
                    <a:lnB w="9525">
                      <a:solidFill>
                        <a:srgbClr val="D8E0E7"/>
                      </a:solidFill>
                    </a:lnB>
                  </a:tcPr>
                </a:tc>
                <a:tc>
                  <a:txBody>
                    <a:bodyPr wrap="square"/>
                    <a:lstStyle/>
                    <a:p>
                      <a:r>
                        <a:rPr sz="1400" b="0">
                          <a:solidFill>
                            <a:srgbClr val="1F2A36"/>
                          </a:solidFill>
                          <a:latin typeface="Calibri"/>
                        </a:rPr>
                        <a:t>Giardiasis</a:t>
                      </a:r>
                    </a:p>
                  </a:txBody>
                  <a:tcPr marL="101600" marR="101600" marT="38100" marB="38100" anchor="ctr">
                    <a:solidFill>
                      <a:srgbClr val="FFFFFF"/>
                    </a:solidFill>
                    <a:lnL w="9525">
                      <a:solidFill>
                        <a:srgbClr val="D8E0E7"/>
                      </a:solidFill>
                    </a:lnL>
                    <a:lnR w="9525">
                      <a:solidFill>
                        <a:srgbClr val="D8E0E7"/>
                      </a:solidFill>
                    </a:lnR>
                    <a:lnT w="9525">
                      <a:solidFill>
                        <a:srgbClr val="D8E0E7"/>
                      </a:solidFill>
                    </a:lnT>
                    <a:lnB w="9525">
                      <a:solidFill>
                        <a:srgbClr val="D8E0E7"/>
                      </a:solidFill>
                    </a:lnB>
                  </a:tcPr>
                </a:tc>
                <a:tc>
                  <a:txBody>
                    <a:bodyPr wrap="square"/>
                    <a:lstStyle/>
                    <a:p>
                      <a:r>
                        <a:rPr sz="1400" b="1">
                          <a:solidFill>
                            <a:srgbClr val="1C786D"/>
                          </a:solidFill>
                          <a:latin typeface="Calibri"/>
                        </a:rPr>
                        <a:t>+0.50</a:t>
                      </a:r>
                    </a:p>
                  </a:txBody>
                  <a:tcPr marL="101600" marR="101600" marT="38100" marB="38100" anchor="ctr">
                    <a:solidFill>
                      <a:srgbClr val="FFFFFF"/>
                    </a:solidFill>
                    <a:lnL w="9525">
                      <a:solidFill>
                        <a:srgbClr val="D8E0E7"/>
                      </a:solidFill>
                    </a:lnL>
                    <a:lnR w="9525">
                      <a:solidFill>
                        <a:srgbClr val="D8E0E7"/>
                      </a:solidFill>
                    </a:lnR>
                    <a:lnT w="9525">
                      <a:solidFill>
                        <a:srgbClr val="D8E0E7"/>
                      </a:solidFill>
                    </a:lnT>
                    <a:lnB w="9525">
                      <a:solidFill>
                        <a:srgbClr val="D8E0E7"/>
                      </a:solidFill>
                    </a:lnB>
                  </a:tcPr>
                </a:tc>
              </a:tr>
              <a:tr h="393700">
                <a:tc>
                  <a:txBody>
                    <a:bodyPr wrap="square"/>
                    <a:lstStyle/>
                    <a:p>
                      <a:r>
                        <a:rPr sz="1400" b="0">
                          <a:solidFill>
                            <a:srgbClr val="1F2A36"/>
                          </a:solidFill>
                          <a:latin typeface="Calibri"/>
                        </a:rPr>
                        <a:t>6</a:t>
                      </a:r>
                    </a:p>
                  </a:txBody>
                  <a:tcPr marL="101600" marR="101600" marT="38100" marB="38100" anchor="ctr">
                    <a:solidFill>
                      <a:srgbClr val="F1F5F8"/>
                    </a:solidFill>
                    <a:lnL w="9525">
                      <a:solidFill>
                        <a:srgbClr val="D8E0E7"/>
                      </a:solidFill>
                    </a:lnL>
                    <a:lnR w="9525">
                      <a:solidFill>
                        <a:srgbClr val="D8E0E7"/>
                      </a:solidFill>
                    </a:lnR>
                    <a:lnT w="9525">
                      <a:solidFill>
                        <a:srgbClr val="D8E0E7"/>
                      </a:solidFill>
                    </a:lnT>
                    <a:lnB w="9525">
                      <a:solidFill>
                        <a:srgbClr val="D8E0E7"/>
                      </a:solidFill>
                    </a:lnB>
                  </a:tcPr>
                </a:tc>
                <a:tc>
                  <a:txBody>
                    <a:bodyPr wrap="square"/>
                    <a:lstStyle/>
                    <a:p>
                      <a:r>
                        <a:rPr sz="1400" b="1">
                          <a:solidFill>
                            <a:srgbClr val="17324D"/>
                          </a:solidFill>
                          <a:latin typeface="Calibri"/>
                        </a:rPr>
                        <a:t>Sumatriptan</a:t>
                      </a:r>
                    </a:p>
                  </a:txBody>
                  <a:tcPr marL="101600" marR="101600" marT="38100" marB="38100" anchor="ctr">
                    <a:solidFill>
                      <a:srgbClr val="F1F5F8"/>
                    </a:solidFill>
                    <a:lnL w="9525">
                      <a:solidFill>
                        <a:srgbClr val="D8E0E7"/>
                      </a:solidFill>
                    </a:lnL>
                    <a:lnR w="9525">
                      <a:solidFill>
                        <a:srgbClr val="D8E0E7"/>
                      </a:solidFill>
                    </a:lnR>
                    <a:lnT w="9525">
                      <a:solidFill>
                        <a:srgbClr val="D8E0E7"/>
                      </a:solidFill>
                    </a:lnT>
                    <a:lnB w="9525">
                      <a:solidFill>
                        <a:srgbClr val="D8E0E7"/>
                      </a:solidFill>
                    </a:lnB>
                  </a:tcPr>
                </a:tc>
                <a:tc>
                  <a:txBody>
                    <a:bodyPr wrap="square"/>
                    <a:lstStyle/>
                    <a:p>
                      <a:r>
                        <a:rPr sz="1400" b="0">
                          <a:solidFill>
                            <a:srgbClr val="1F2A36"/>
                          </a:solidFill>
                          <a:latin typeface="Calibri"/>
                        </a:rPr>
                        <a:t>Migraine</a:t>
                      </a:r>
                    </a:p>
                  </a:txBody>
                  <a:tcPr marL="101600" marR="101600" marT="38100" marB="38100" anchor="ctr">
                    <a:solidFill>
                      <a:srgbClr val="F1F5F8"/>
                    </a:solidFill>
                    <a:lnL w="9525">
                      <a:solidFill>
                        <a:srgbClr val="D8E0E7"/>
                      </a:solidFill>
                    </a:lnL>
                    <a:lnR w="9525">
                      <a:solidFill>
                        <a:srgbClr val="D8E0E7"/>
                      </a:solidFill>
                    </a:lnR>
                    <a:lnT w="9525">
                      <a:solidFill>
                        <a:srgbClr val="D8E0E7"/>
                      </a:solidFill>
                    </a:lnT>
                    <a:lnB w="9525">
                      <a:solidFill>
                        <a:srgbClr val="D8E0E7"/>
                      </a:solidFill>
                    </a:lnB>
                  </a:tcPr>
                </a:tc>
                <a:tc>
                  <a:txBody>
                    <a:bodyPr wrap="square"/>
                    <a:lstStyle/>
                    <a:p>
                      <a:r>
                        <a:rPr sz="1400" b="1">
                          <a:solidFill>
                            <a:srgbClr val="1C786D"/>
                          </a:solidFill>
                          <a:latin typeface="Calibri"/>
                        </a:rPr>
                        <a:t>+0.49</a:t>
                      </a:r>
                    </a:p>
                  </a:txBody>
                  <a:tcPr marL="101600" marR="101600" marT="38100" marB="38100" anchor="ctr">
                    <a:solidFill>
                      <a:srgbClr val="F1F5F8"/>
                    </a:solidFill>
                    <a:lnL w="9525">
                      <a:solidFill>
                        <a:srgbClr val="D8E0E7"/>
                      </a:solidFill>
                    </a:lnL>
                    <a:lnR w="9525">
                      <a:solidFill>
                        <a:srgbClr val="D8E0E7"/>
                      </a:solidFill>
                    </a:lnR>
                    <a:lnT w="9525">
                      <a:solidFill>
                        <a:srgbClr val="D8E0E7"/>
                      </a:solidFill>
                    </a:lnT>
                    <a:lnB w="9525">
                      <a:solidFill>
                        <a:srgbClr val="D8E0E7"/>
                      </a:solidFill>
                    </a:lnB>
                  </a:tcPr>
                </a:tc>
              </a:tr>
            </a:tbl>
          </a:graphicData>
        </a:graphic>
      </p:graphicFrame>
      <p:sp>
        <p:nvSpPr>
          <p:cNvPr id="2059" name="TextBox 2058"/>
          <p:cNvSpPr txBox="1"/>
          <p:nvPr/>
        </p:nvSpPr>
        <p:spPr>
          <a:xfrm>
            <a:off x="5778500" y="1905000"/>
            <a:ext cx="4953000" cy="254000"/>
          </a:xfrm>
          <a:prstGeom prst="rect">
            <a:avLst/>
          </a:prstGeom>
          <a:noFill/>
        </p:spPr>
        <p:txBody>
          <a:bodyPr wrap="square" lIns="0" rIns="0" tIns="0" bIns="0" anchor="t">
            <a:spAutoFit/>
          </a:bodyPr>
          <a:lstStyle/>
          <a:p>
            <a:pPr algn="l">
              <a:spcAft>
                <a:spcPts val="0"/>
              </a:spcAft>
            </a:pPr>
            <a:r>
              <a:rPr sz="1600" b="1" i="0">
                <a:solidFill>
                  <a:srgbClr val="2D6485"/>
                </a:solidFill>
                <a:latin typeface="Calibri"/>
              </a:rPr>
              <a:t>Resistance (weight training)</a:t>
            </a:r>
          </a:p>
        </p:txBody>
      </p:sp>
      <p:graphicFrame>
        <p:nvGraphicFramePr>
          <p:cNvPr id="2060" name="Candidates 1"/>
          <p:cNvGraphicFramePr>
            <a:graphicFrameLocks noGrp="1"/>
          </p:cNvGraphicFramePr>
          <p:nvPr/>
        </p:nvGraphicFramePr>
        <p:xfrm>
          <a:off x="5778500" y="2235200"/>
          <a:ext cx="4953000" cy="2755900"/>
        </p:xfrm>
        <a:graphic>
          <a:graphicData uri="http://schemas.openxmlformats.org/drawingml/2006/table">
            <a:tbl>
              <a:tblPr firstRow="1" bandRow="1">
                <a:tableStyleId>{5940675A-B579-460E-94D1-54222C63F5DA}</a:tableStyleId>
              </a:tblPr>
              <a:tblGrid>
                <a:gridCol w="431800"/>
                <a:gridCol w="1625600"/>
                <a:gridCol w="1905000"/>
                <a:gridCol w="990600"/>
              </a:tblGrid>
              <a:tr h="393700">
                <a:tc>
                  <a:txBody>
                    <a:bodyPr wrap="square"/>
                    <a:lstStyle/>
                    <a:p>
                      <a:r>
                        <a:rPr sz="1300" b="1">
                          <a:solidFill>
                            <a:srgbClr val="FFFFFF"/>
                          </a:solidFill>
                          <a:latin typeface="Calibri"/>
                        </a:rPr>
                        <a:t>#</a:t>
                      </a:r>
                    </a:p>
                  </a:txBody>
                  <a:tcPr marL="101600" marR="101600" marT="38100" marB="38100" anchor="ctr">
                    <a:solidFill>
                      <a:srgbClr val="17324D"/>
                    </a:solidFill>
                    <a:lnL w="9525">
                      <a:solidFill>
                        <a:srgbClr val="D8E0E7"/>
                      </a:solidFill>
                    </a:lnL>
                    <a:lnR w="9525">
                      <a:solidFill>
                        <a:srgbClr val="D8E0E7"/>
                      </a:solidFill>
                    </a:lnR>
                    <a:lnT w="9525">
                      <a:solidFill>
                        <a:srgbClr val="D8E0E7"/>
                      </a:solidFill>
                    </a:lnT>
                    <a:lnB w="9525">
                      <a:solidFill>
                        <a:srgbClr val="D8E0E7"/>
                      </a:solidFill>
                    </a:lnB>
                  </a:tcPr>
                </a:tc>
                <a:tc>
                  <a:txBody>
                    <a:bodyPr wrap="square"/>
                    <a:lstStyle/>
                    <a:p>
                      <a:r>
                        <a:rPr sz="1300" b="1">
                          <a:solidFill>
                            <a:srgbClr val="FFFFFF"/>
                          </a:solidFill>
                          <a:latin typeface="Calibri"/>
                        </a:rPr>
                        <a:t>Drug</a:t>
                      </a:r>
                    </a:p>
                  </a:txBody>
                  <a:tcPr marL="101600" marR="101600" marT="38100" marB="38100" anchor="ctr">
                    <a:solidFill>
                      <a:srgbClr val="17324D"/>
                    </a:solidFill>
                    <a:lnL w="9525">
                      <a:solidFill>
                        <a:srgbClr val="D8E0E7"/>
                      </a:solidFill>
                    </a:lnL>
                    <a:lnR w="9525">
                      <a:solidFill>
                        <a:srgbClr val="D8E0E7"/>
                      </a:solidFill>
                    </a:lnR>
                    <a:lnT w="9525">
                      <a:solidFill>
                        <a:srgbClr val="D8E0E7"/>
                      </a:solidFill>
                    </a:lnT>
                    <a:lnB w="9525">
                      <a:solidFill>
                        <a:srgbClr val="D8E0E7"/>
                      </a:solidFill>
                    </a:lnB>
                  </a:tcPr>
                </a:tc>
                <a:tc>
                  <a:txBody>
                    <a:bodyPr wrap="square"/>
                    <a:lstStyle/>
                    <a:p>
                      <a:r>
                        <a:rPr sz="1300" b="1">
                          <a:solidFill>
                            <a:srgbClr val="FFFFFF"/>
                          </a:solidFill>
                          <a:latin typeface="Calibri"/>
                        </a:rPr>
                        <a:t>Used for</a:t>
                      </a:r>
                    </a:p>
                  </a:txBody>
                  <a:tcPr marL="101600" marR="101600" marT="38100" marB="38100" anchor="ctr">
                    <a:solidFill>
                      <a:srgbClr val="17324D"/>
                    </a:solidFill>
                    <a:lnL w="9525">
                      <a:solidFill>
                        <a:srgbClr val="D8E0E7"/>
                      </a:solidFill>
                    </a:lnL>
                    <a:lnR w="9525">
                      <a:solidFill>
                        <a:srgbClr val="D8E0E7"/>
                      </a:solidFill>
                    </a:lnR>
                    <a:lnT w="9525">
                      <a:solidFill>
                        <a:srgbClr val="D8E0E7"/>
                      </a:solidFill>
                    </a:lnT>
                    <a:lnB w="9525">
                      <a:solidFill>
                        <a:srgbClr val="D8E0E7"/>
                      </a:solidFill>
                    </a:lnB>
                  </a:tcPr>
                </a:tc>
                <a:tc>
                  <a:txBody>
                    <a:bodyPr wrap="square"/>
                    <a:lstStyle/>
                    <a:p>
                      <a:r>
                        <a:rPr sz="1300" b="1">
                          <a:solidFill>
                            <a:srgbClr val="FFFFFF"/>
                          </a:solidFill>
                          <a:latin typeface="Calibri"/>
                        </a:rPr>
                        <a:t>Benefit</a:t>
                      </a:r>
                    </a:p>
                  </a:txBody>
                  <a:tcPr marL="101600" marR="101600" marT="38100" marB="38100" anchor="ctr">
                    <a:solidFill>
                      <a:srgbClr val="17324D"/>
                    </a:solidFill>
                    <a:lnL w="9525">
                      <a:solidFill>
                        <a:srgbClr val="D8E0E7"/>
                      </a:solidFill>
                    </a:lnL>
                    <a:lnR w="9525">
                      <a:solidFill>
                        <a:srgbClr val="D8E0E7"/>
                      </a:solidFill>
                    </a:lnR>
                    <a:lnT w="9525">
                      <a:solidFill>
                        <a:srgbClr val="D8E0E7"/>
                      </a:solidFill>
                    </a:lnT>
                    <a:lnB w="9525">
                      <a:solidFill>
                        <a:srgbClr val="D8E0E7"/>
                      </a:solidFill>
                    </a:lnB>
                  </a:tcPr>
                </a:tc>
              </a:tr>
              <a:tr h="393700">
                <a:tc>
                  <a:txBody>
                    <a:bodyPr wrap="square"/>
                    <a:lstStyle/>
                    <a:p>
                      <a:r>
                        <a:rPr sz="1400" b="0">
                          <a:solidFill>
                            <a:srgbClr val="1F2A36"/>
                          </a:solidFill>
                          <a:latin typeface="Calibri"/>
                        </a:rPr>
                        <a:t>1</a:t>
                      </a:r>
                    </a:p>
                  </a:txBody>
                  <a:tcPr marL="101600" marR="101600" marT="38100" marB="38100" anchor="ctr">
                    <a:solidFill>
                      <a:srgbClr val="FFFFFF"/>
                    </a:solidFill>
                    <a:lnL w="9525">
                      <a:solidFill>
                        <a:srgbClr val="D8E0E7"/>
                      </a:solidFill>
                    </a:lnL>
                    <a:lnR w="9525">
                      <a:solidFill>
                        <a:srgbClr val="D8E0E7"/>
                      </a:solidFill>
                    </a:lnR>
                    <a:lnT w="9525">
                      <a:solidFill>
                        <a:srgbClr val="D8E0E7"/>
                      </a:solidFill>
                    </a:lnT>
                    <a:lnB w="9525">
                      <a:solidFill>
                        <a:srgbClr val="D8E0E7"/>
                      </a:solidFill>
                    </a:lnB>
                  </a:tcPr>
                </a:tc>
                <a:tc>
                  <a:txBody>
                    <a:bodyPr wrap="square"/>
                    <a:lstStyle/>
                    <a:p>
                      <a:r>
                        <a:rPr sz="1400" b="1">
                          <a:solidFill>
                            <a:srgbClr val="17324D"/>
                          </a:solidFill>
                          <a:latin typeface="Calibri"/>
                        </a:rPr>
                        <a:t>Phenytoin</a:t>
                      </a:r>
                    </a:p>
                  </a:txBody>
                  <a:tcPr marL="101600" marR="101600" marT="38100" marB="38100" anchor="ctr">
                    <a:solidFill>
                      <a:srgbClr val="FFFFFF"/>
                    </a:solidFill>
                    <a:lnL w="9525">
                      <a:solidFill>
                        <a:srgbClr val="D8E0E7"/>
                      </a:solidFill>
                    </a:lnL>
                    <a:lnR w="9525">
                      <a:solidFill>
                        <a:srgbClr val="D8E0E7"/>
                      </a:solidFill>
                    </a:lnR>
                    <a:lnT w="9525">
                      <a:solidFill>
                        <a:srgbClr val="D8E0E7"/>
                      </a:solidFill>
                    </a:lnT>
                    <a:lnB w="9525">
                      <a:solidFill>
                        <a:srgbClr val="D8E0E7"/>
                      </a:solidFill>
                    </a:lnB>
                  </a:tcPr>
                </a:tc>
                <a:tc>
                  <a:txBody>
                    <a:bodyPr wrap="square"/>
                    <a:lstStyle/>
                    <a:p>
                      <a:r>
                        <a:rPr sz="1400" b="0">
                          <a:solidFill>
                            <a:srgbClr val="1F2A36"/>
                          </a:solidFill>
                          <a:latin typeface="Calibri"/>
                        </a:rPr>
                        <a:t>Seizures</a:t>
                      </a:r>
                    </a:p>
                  </a:txBody>
                  <a:tcPr marL="101600" marR="101600" marT="38100" marB="38100" anchor="ctr">
                    <a:solidFill>
                      <a:srgbClr val="FFFFFF"/>
                    </a:solidFill>
                    <a:lnL w="9525">
                      <a:solidFill>
                        <a:srgbClr val="D8E0E7"/>
                      </a:solidFill>
                    </a:lnL>
                    <a:lnR w="9525">
                      <a:solidFill>
                        <a:srgbClr val="D8E0E7"/>
                      </a:solidFill>
                    </a:lnR>
                    <a:lnT w="9525">
                      <a:solidFill>
                        <a:srgbClr val="D8E0E7"/>
                      </a:solidFill>
                    </a:lnT>
                    <a:lnB w="9525">
                      <a:solidFill>
                        <a:srgbClr val="D8E0E7"/>
                      </a:solidFill>
                    </a:lnB>
                  </a:tcPr>
                </a:tc>
                <a:tc>
                  <a:txBody>
                    <a:bodyPr wrap="square"/>
                    <a:lstStyle/>
                    <a:p>
                      <a:r>
                        <a:rPr sz="1400" b="1">
                          <a:solidFill>
                            <a:srgbClr val="1C786D"/>
                          </a:solidFill>
                          <a:latin typeface="Calibri"/>
                        </a:rPr>
                        <a:t>+1.11</a:t>
                      </a:r>
                    </a:p>
                  </a:txBody>
                  <a:tcPr marL="101600" marR="101600" marT="38100" marB="38100" anchor="ctr">
                    <a:solidFill>
                      <a:srgbClr val="FFFFFF"/>
                    </a:solidFill>
                    <a:lnL w="9525">
                      <a:solidFill>
                        <a:srgbClr val="D8E0E7"/>
                      </a:solidFill>
                    </a:lnL>
                    <a:lnR w="9525">
                      <a:solidFill>
                        <a:srgbClr val="D8E0E7"/>
                      </a:solidFill>
                    </a:lnR>
                    <a:lnT w="9525">
                      <a:solidFill>
                        <a:srgbClr val="D8E0E7"/>
                      </a:solidFill>
                    </a:lnT>
                    <a:lnB w="9525">
                      <a:solidFill>
                        <a:srgbClr val="D8E0E7"/>
                      </a:solidFill>
                    </a:lnB>
                  </a:tcPr>
                </a:tc>
              </a:tr>
              <a:tr h="393700">
                <a:tc>
                  <a:txBody>
                    <a:bodyPr wrap="square"/>
                    <a:lstStyle/>
                    <a:p>
                      <a:r>
                        <a:rPr sz="1400" b="0">
                          <a:solidFill>
                            <a:srgbClr val="1F2A36"/>
                          </a:solidFill>
                          <a:latin typeface="Calibri"/>
                        </a:rPr>
                        <a:t>2</a:t>
                      </a:r>
                    </a:p>
                  </a:txBody>
                  <a:tcPr marL="101600" marR="101600" marT="38100" marB="38100" anchor="ctr">
                    <a:solidFill>
                      <a:srgbClr val="F1F5F8"/>
                    </a:solidFill>
                    <a:lnL w="9525">
                      <a:solidFill>
                        <a:srgbClr val="D8E0E7"/>
                      </a:solidFill>
                    </a:lnL>
                    <a:lnR w="9525">
                      <a:solidFill>
                        <a:srgbClr val="D8E0E7"/>
                      </a:solidFill>
                    </a:lnR>
                    <a:lnT w="9525">
                      <a:solidFill>
                        <a:srgbClr val="D8E0E7"/>
                      </a:solidFill>
                    </a:lnT>
                    <a:lnB w="9525">
                      <a:solidFill>
                        <a:srgbClr val="D8E0E7"/>
                      </a:solidFill>
                    </a:lnB>
                  </a:tcPr>
                </a:tc>
                <a:tc>
                  <a:txBody>
                    <a:bodyPr wrap="square"/>
                    <a:lstStyle/>
                    <a:p>
                      <a:r>
                        <a:rPr sz="1400" b="1">
                          <a:solidFill>
                            <a:srgbClr val="17324D"/>
                          </a:solidFill>
                          <a:latin typeface="Calibri"/>
                        </a:rPr>
                        <a:t>Sitagliptin</a:t>
                      </a:r>
                    </a:p>
                  </a:txBody>
                  <a:tcPr marL="101600" marR="101600" marT="38100" marB="38100" anchor="ctr">
                    <a:solidFill>
                      <a:srgbClr val="F1F5F8"/>
                    </a:solidFill>
                    <a:lnL w="9525">
                      <a:solidFill>
                        <a:srgbClr val="D8E0E7"/>
                      </a:solidFill>
                    </a:lnL>
                    <a:lnR w="9525">
                      <a:solidFill>
                        <a:srgbClr val="D8E0E7"/>
                      </a:solidFill>
                    </a:lnR>
                    <a:lnT w="9525">
                      <a:solidFill>
                        <a:srgbClr val="D8E0E7"/>
                      </a:solidFill>
                    </a:lnT>
                    <a:lnB w="9525">
                      <a:solidFill>
                        <a:srgbClr val="D8E0E7"/>
                      </a:solidFill>
                    </a:lnB>
                  </a:tcPr>
                </a:tc>
                <a:tc>
                  <a:txBody>
                    <a:bodyPr wrap="square"/>
                    <a:lstStyle/>
                    <a:p>
                      <a:r>
                        <a:rPr sz="1400" b="0">
                          <a:solidFill>
                            <a:srgbClr val="1F2A36"/>
                          </a:solidFill>
                          <a:latin typeface="Calibri"/>
                        </a:rPr>
                        <a:t>Diabetes</a:t>
                      </a:r>
                    </a:p>
                  </a:txBody>
                  <a:tcPr marL="101600" marR="101600" marT="38100" marB="38100" anchor="ctr">
                    <a:solidFill>
                      <a:srgbClr val="F1F5F8"/>
                    </a:solidFill>
                    <a:lnL w="9525">
                      <a:solidFill>
                        <a:srgbClr val="D8E0E7"/>
                      </a:solidFill>
                    </a:lnL>
                    <a:lnR w="9525">
                      <a:solidFill>
                        <a:srgbClr val="D8E0E7"/>
                      </a:solidFill>
                    </a:lnR>
                    <a:lnT w="9525">
                      <a:solidFill>
                        <a:srgbClr val="D8E0E7"/>
                      </a:solidFill>
                    </a:lnT>
                    <a:lnB w="9525">
                      <a:solidFill>
                        <a:srgbClr val="D8E0E7"/>
                      </a:solidFill>
                    </a:lnB>
                  </a:tcPr>
                </a:tc>
                <a:tc>
                  <a:txBody>
                    <a:bodyPr wrap="square"/>
                    <a:lstStyle/>
                    <a:p>
                      <a:r>
                        <a:rPr sz="1400" b="1">
                          <a:solidFill>
                            <a:srgbClr val="1C786D"/>
                          </a:solidFill>
                          <a:latin typeface="Calibri"/>
                        </a:rPr>
                        <a:t>+1.07</a:t>
                      </a:r>
                    </a:p>
                  </a:txBody>
                  <a:tcPr marL="101600" marR="101600" marT="38100" marB="38100" anchor="ctr">
                    <a:solidFill>
                      <a:srgbClr val="F1F5F8"/>
                    </a:solidFill>
                    <a:lnL w="9525">
                      <a:solidFill>
                        <a:srgbClr val="D8E0E7"/>
                      </a:solidFill>
                    </a:lnL>
                    <a:lnR w="9525">
                      <a:solidFill>
                        <a:srgbClr val="D8E0E7"/>
                      </a:solidFill>
                    </a:lnR>
                    <a:lnT w="9525">
                      <a:solidFill>
                        <a:srgbClr val="D8E0E7"/>
                      </a:solidFill>
                    </a:lnT>
                    <a:lnB w="9525">
                      <a:solidFill>
                        <a:srgbClr val="D8E0E7"/>
                      </a:solidFill>
                    </a:lnB>
                  </a:tcPr>
                </a:tc>
              </a:tr>
              <a:tr h="393700">
                <a:tc>
                  <a:txBody>
                    <a:bodyPr wrap="square"/>
                    <a:lstStyle/>
                    <a:p>
                      <a:r>
                        <a:rPr sz="1400" b="0">
                          <a:solidFill>
                            <a:srgbClr val="1F2A36"/>
                          </a:solidFill>
                          <a:latin typeface="Calibri"/>
                        </a:rPr>
                        <a:t>3</a:t>
                      </a:r>
                    </a:p>
                  </a:txBody>
                  <a:tcPr marL="101600" marR="101600" marT="38100" marB="38100" anchor="ctr">
                    <a:solidFill>
                      <a:srgbClr val="FFFFFF"/>
                    </a:solidFill>
                    <a:lnL w="9525">
                      <a:solidFill>
                        <a:srgbClr val="D8E0E7"/>
                      </a:solidFill>
                    </a:lnL>
                    <a:lnR w="9525">
                      <a:solidFill>
                        <a:srgbClr val="D8E0E7"/>
                      </a:solidFill>
                    </a:lnR>
                    <a:lnT w="9525">
                      <a:solidFill>
                        <a:srgbClr val="D8E0E7"/>
                      </a:solidFill>
                    </a:lnT>
                    <a:lnB w="9525">
                      <a:solidFill>
                        <a:srgbClr val="D8E0E7"/>
                      </a:solidFill>
                    </a:lnB>
                  </a:tcPr>
                </a:tc>
                <a:tc>
                  <a:txBody>
                    <a:bodyPr wrap="square"/>
                    <a:lstStyle/>
                    <a:p>
                      <a:r>
                        <a:rPr sz="1400" b="1">
                          <a:solidFill>
                            <a:srgbClr val="17324D"/>
                          </a:solidFill>
                          <a:latin typeface="Calibri"/>
                        </a:rPr>
                        <a:t>Sertraline</a:t>
                      </a:r>
                    </a:p>
                  </a:txBody>
                  <a:tcPr marL="101600" marR="101600" marT="38100" marB="38100" anchor="ctr">
                    <a:solidFill>
                      <a:srgbClr val="FFFFFF"/>
                    </a:solidFill>
                    <a:lnL w="9525">
                      <a:solidFill>
                        <a:srgbClr val="D8E0E7"/>
                      </a:solidFill>
                    </a:lnL>
                    <a:lnR w="9525">
                      <a:solidFill>
                        <a:srgbClr val="D8E0E7"/>
                      </a:solidFill>
                    </a:lnR>
                    <a:lnT w="9525">
                      <a:solidFill>
                        <a:srgbClr val="D8E0E7"/>
                      </a:solidFill>
                    </a:lnT>
                    <a:lnB w="9525">
                      <a:solidFill>
                        <a:srgbClr val="D8E0E7"/>
                      </a:solidFill>
                    </a:lnB>
                  </a:tcPr>
                </a:tc>
                <a:tc>
                  <a:txBody>
                    <a:bodyPr wrap="square"/>
                    <a:lstStyle/>
                    <a:p>
                      <a:r>
                        <a:rPr sz="1400" b="0">
                          <a:solidFill>
                            <a:srgbClr val="1F2A36"/>
                          </a:solidFill>
                          <a:latin typeface="Calibri"/>
                        </a:rPr>
                        <a:t>Depression</a:t>
                      </a:r>
                    </a:p>
                  </a:txBody>
                  <a:tcPr marL="101600" marR="101600" marT="38100" marB="38100" anchor="ctr">
                    <a:solidFill>
                      <a:srgbClr val="FFFFFF"/>
                    </a:solidFill>
                    <a:lnL w="9525">
                      <a:solidFill>
                        <a:srgbClr val="D8E0E7"/>
                      </a:solidFill>
                    </a:lnL>
                    <a:lnR w="9525">
                      <a:solidFill>
                        <a:srgbClr val="D8E0E7"/>
                      </a:solidFill>
                    </a:lnR>
                    <a:lnT w="9525">
                      <a:solidFill>
                        <a:srgbClr val="D8E0E7"/>
                      </a:solidFill>
                    </a:lnT>
                    <a:lnB w="9525">
                      <a:solidFill>
                        <a:srgbClr val="D8E0E7"/>
                      </a:solidFill>
                    </a:lnB>
                  </a:tcPr>
                </a:tc>
                <a:tc>
                  <a:txBody>
                    <a:bodyPr wrap="square"/>
                    <a:lstStyle/>
                    <a:p>
                      <a:r>
                        <a:rPr sz="1400" b="1">
                          <a:solidFill>
                            <a:srgbClr val="1C786D"/>
                          </a:solidFill>
                          <a:latin typeface="Calibri"/>
                        </a:rPr>
                        <a:t>+0.87</a:t>
                      </a:r>
                    </a:p>
                  </a:txBody>
                  <a:tcPr marL="101600" marR="101600" marT="38100" marB="38100" anchor="ctr">
                    <a:solidFill>
                      <a:srgbClr val="FFFFFF"/>
                    </a:solidFill>
                    <a:lnL w="9525">
                      <a:solidFill>
                        <a:srgbClr val="D8E0E7"/>
                      </a:solidFill>
                    </a:lnL>
                    <a:lnR w="9525">
                      <a:solidFill>
                        <a:srgbClr val="D8E0E7"/>
                      </a:solidFill>
                    </a:lnR>
                    <a:lnT w="9525">
                      <a:solidFill>
                        <a:srgbClr val="D8E0E7"/>
                      </a:solidFill>
                    </a:lnT>
                    <a:lnB w="9525">
                      <a:solidFill>
                        <a:srgbClr val="D8E0E7"/>
                      </a:solidFill>
                    </a:lnB>
                  </a:tcPr>
                </a:tc>
              </a:tr>
              <a:tr h="393700">
                <a:tc>
                  <a:txBody>
                    <a:bodyPr wrap="square"/>
                    <a:lstStyle/>
                    <a:p>
                      <a:r>
                        <a:rPr sz="1400" b="0">
                          <a:solidFill>
                            <a:srgbClr val="1F2A36"/>
                          </a:solidFill>
                          <a:latin typeface="Calibri"/>
                        </a:rPr>
                        <a:t>4</a:t>
                      </a:r>
                    </a:p>
                  </a:txBody>
                  <a:tcPr marL="101600" marR="101600" marT="38100" marB="38100" anchor="ctr">
                    <a:solidFill>
                      <a:srgbClr val="F1F5F8"/>
                    </a:solidFill>
                    <a:lnL w="9525">
                      <a:solidFill>
                        <a:srgbClr val="D8E0E7"/>
                      </a:solidFill>
                    </a:lnL>
                    <a:lnR w="9525">
                      <a:solidFill>
                        <a:srgbClr val="D8E0E7"/>
                      </a:solidFill>
                    </a:lnR>
                    <a:lnT w="9525">
                      <a:solidFill>
                        <a:srgbClr val="D8E0E7"/>
                      </a:solidFill>
                    </a:lnT>
                    <a:lnB w="9525">
                      <a:solidFill>
                        <a:srgbClr val="D8E0E7"/>
                      </a:solidFill>
                    </a:lnB>
                  </a:tcPr>
                </a:tc>
                <a:tc>
                  <a:txBody>
                    <a:bodyPr wrap="square"/>
                    <a:lstStyle/>
                    <a:p>
                      <a:r>
                        <a:rPr sz="1400" b="1">
                          <a:solidFill>
                            <a:srgbClr val="17324D"/>
                          </a:solidFill>
                          <a:latin typeface="Calibri"/>
                        </a:rPr>
                        <a:t>Thiothixene</a:t>
                      </a:r>
                    </a:p>
                  </a:txBody>
                  <a:tcPr marL="101600" marR="101600" marT="38100" marB="38100" anchor="ctr">
                    <a:solidFill>
                      <a:srgbClr val="F1F5F8"/>
                    </a:solidFill>
                    <a:lnL w="9525">
                      <a:solidFill>
                        <a:srgbClr val="D8E0E7"/>
                      </a:solidFill>
                    </a:lnL>
                    <a:lnR w="9525">
                      <a:solidFill>
                        <a:srgbClr val="D8E0E7"/>
                      </a:solidFill>
                    </a:lnR>
                    <a:lnT w="9525">
                      <a:solidFill>
                        <a:srgbClr val="D8E0E7"/>
                      </a:solidFill>
                    </a:lnT>
                    <a:lnB w="9525">
                      <a:solidFill>
                        <a:srgbClr val="D8E0E7"/>
                      </a:solidFill>
                    </a:lnB>
                  </a:tcPr>
                </a:tc>
                <a:tc>
                  <a:txBody>
                    <a:bodyPr wrap="square"/>
                    <a:lstStyle/>
                    <a:p>
                      <a:r>
                        <a:rPr sz="1400" b="0">
                          <a:solidFill>
                            <a:srgbClr val="1F2A36"/>
                          </a:solidFill>
                          <a:latin typeface="Calibri"/>
                        </a:rPr>
                        <a:t>Schizophrenia</a:t>
                      </a:r>
                    </a:p>
                  </a:txBody>
                  <a:tcPr marL="101600" marR="101600" marT="38100" marB="38100" anchor="ctr">
                    <a:solidFill>
                      <a:srgbClr val="F1F5F8"/>
                    </a:solidFill>
                    <a:lnL w="9525">
                      <a:solidFill>
                        <a:srgbClr val="D8E0E7"/>
                      </a:solidFill>
                    </a:lnL>
                    <a:lnR w="9525">
                      <a:solidFill>
                        <a:srgbClr val="D8E0E7"/>
                      </a:solidFill>
                    </a:lnR>
                    <a:lnT w="9525">
                      <a:solidFill>
                        <a:srgbClr val="D8E0E7"/>
                      </a:solidFill>
                    </a:lnT>
                    <a:lnB w="9525">
                      <a:solidFill>
                        <a:srgbClr val="D8E0E7"/>
                      </a:solidFill>
                    </a:lnB>
                  </a:tcPr>
                </a:tc>
                <a:tc>
                  <a:txBody>
                    <a:bodyPr wrap="square"/>
                    <a:lstStyle/>
                    <a:p>
                      <a:r>
                        <a:rPr sz="1400" b="1">
                          <a:solidFill>
                            <a:srgbClr val="1C786D"/>
                          </a:solidFill>
                          <a:latin typeface="Calibri"/>
                        </a:rPr>
                        <a:t>+0.86</a:t>
                      </a:r>
                    </a:p>
                  </a:txBody>
                  <a:tcPr marL="101600" marR="101600" marT="38100" marB="38100" anchor="ctr">
                    <a:solidFill>
                      <a:srgbClr val="F1F5F8"/>
                    </a:solidFill>
                    <a:lnL w="9525">
                      <a:solidFill>
                        <a:srgbClr val="D8E0E7"/>
                      </a:solidFill>
                    </a:lnL>
                    <a:lnR w="9525">
                      <a:solidFill>
                        <a:srgbClr val="D8E0E7"/>
                      </a:solidFill>
                    </a:lnR>
                    <a:lnT w="9525">
                      <a:solidFill>
                        <a:srgbClr val="D8E0E7"/>
                      </a:solidFill>
                    </a:lnT>
                    <a:lnB w="9525">
                      <a:solidFill>
                        <a:srgbClr val="D8E0E7"/>
                      </a:solidFill>
                    </a:lnB>
                  </a:tcPr>
                </a:tc>
              </a:tr>
              <a:tr h="393700">
                <a:tc>
                  <a:txBody>
                    <a:bodyPr wrap="square"/>
                    <a:lstStyle/>
                    <a:p>
                      <a:r>
                        <a:rPr sz="1400" b="0">
                          <a:solidFill>
                            <a:srgbClr val="1F2A36"/>
                          </a:solidFill>
                          <a:latin typeface="Calibri"/>
                        </a:rPr>
                        <a:t>5</a:t>
                      </a:r>
                    </a:p>
                  </a:txBody>
                  <a:tcPr marL="101600" marR="101600" marT="38100" marB="38100" anchor="ctr">
                    <a:solidFill>
                      <a:srgbClr val="FFFFFF"/>
                    </a:solidFill>
                    <a:lnL w="9525">
                      <a:solidFill>
                        <a:srgbClr val="D8E0E7"/>
                      </a:solidFill>
                    </a:lnL>
                    <a:lnR w="9525">
                      <a:solidFill>
                        <a:srgbClr val="D8E0E7"/>
                      </a:solidFill>
                    </a:lnR>
                    <a:lnT w="9525">
                      <a:solidFill>
                        <a:srgbClr val="D8E0E7"/>
                      </a:solidFill>
                    </a:lnT>
                    <a:lnB w="9525">
                      <a:solidFill>
                        <a:srgbClr val="D8E0E7"/>
                      </a:solidFill>
                    </a:lnB>
                  </a:tcPr>
                </a:tc>
                <a:tc>
                  <a:txBody>
                    <a:bodyPr wrap="square"/>
                    <a:lstStyle/>
                    <a:p>
                      <a:r>
                        <a:rPr sz="1400" b="1">
                          <a:solidFill>
                            <a:srgbClr val="17324D"/>
                          </a:solidFill>
                          <a:latin typeface="Calibri"/>
                        </a:rPr>
                        <a:t>Protriptyline</a:t>
                      </a:r>
                    </a:p>
                  </a:txBody>
                  <a:tcPr marL="101600" marR="101600" marT="38100" marB="38100" anchor="ctr">
                    <a:solidFill>
                      <a:srgbClr val="FFFFFF"/>
                    </a:solidFill>
                    <a:lnL w="9525">
                      <a:solidFill>
                        <a:srgbClr val="D8E0E7"/>
                      </a:solidFill>
                    </a:lnL>
                    <a:lnR w="9525">
                      <a:solidFill>
                        <a:srgbClr val="D8E0E7"/>
                      </a:solidFill>
                    </a:lnR>
                    <a:lnT w="9525">
                      <a:solidFill>
                        <a:srgbClr val="D8E0E7"/>
                      </a:solidFill>
                    </a:lnT>
                    <a:lnB w="9525">
                      <a:solidFill>
                        <a:srgbClr val="D8E0E7"/>
                      </a:solidFill>
                    </a:lnB>
                  </a:tcPr>
                </a:tc>
                <a:tc>
                  <a:txBody>
                    <a:bodyPr wrap="square"/>
                    <a:lstStyle/>
                    <a:p>
                      <a:r>
                        <a:rPr sz="1400" b="0">
                          <a:solidFill>
                            <a:srgbClr val="1F2A36"/>
                          </a:solidFill>
                          <a:latin typeface="Calibri"/>
                        </a:rPr>
                        <a:t>Depression</a:t>
                      </a:r>
                    </a:p>
                  </a:txBody>
                  <a:tcPr marL="101600" marR="101600" marT="38100" marB="38100" anchor="ctr">
                    <a:solidFill>
                      <a:srgbClr val="FFFFFF"/>
                    </a:solidFill>
                    <a:lnL w="9525">
                      <a:solidFill>
                        <a:srgbClr val="D8E0E7"/>
                      </a:solidFill>
                    </a:lnL>
                    <a:lnR w="9525">
                      <a:solidFill>
                        <a:srgbClr val="D8E0E7"/>
                      </a:solidFill>
                    </a:lnR>
                    <a:lnT w="9525">
                      <a:solidFill>
                        <a:srgbClr val="D8E0E7"/>
                      </a:solidFill>
                    </a:lnT>
                    <a:lnB w="9525">
                      <a:solidFill>
                        <a:srgbClr val="D8E0E7"/>
                      </a:solidFill>
                    </a:lnB>
                  </a:tcPr>
                </a:tc>
                <a:tc>
                  <a:txBody>
                    <a:bodyPr wrap="square"/>
                    <a:lstStyle/>
                    <a:p>
                      <a:r>
                        <a:rPr sz="1400" b="1">
                          <a:solidFill>
                            <a:srgbClr val="1C786D"/>
                          </a:solidFill>
                          <a:latin typeface="Calibri"/>
                        </a:rPr>
                        <a:t>+0.76</a:t>
                      </a:r>
                    </a:p>
                  </a:txBody>
                  <a:tcPr marL="101600" marR="101600" marT="38100" marB="38100" anchor="ctr">
                    <a:solidFill>
                      <a:srgbClr val="FFFFFF"/>
                    </a:solidFill>
                    <a:lnL w="9525">
                      <a:solidFill>
                        <a:srgbClr val="D8E0E7"/>
                      </a:solidFill>
                    </a:lnL>
                    <a:lnR w="9525">
                      <a:solidFill>
                        <a:srgbClr val="D8E0E7"/>
                      </a:solidFill>
                    </a:lnR>
                    <a:lnT w="9525">
                      <a:solidFill>
                        <a:srgbClr val="D8E0E7"/>
                      </a:solidFill>
                    </a:lnT>
                    <a:lnB w="9525">
                      <a:solidFill>
                        <a:srgbClr val="D8E0E7"/>
                      </a:solidFill>
                    </a:lnB>
                  </a:tcPr>
                </a:tc>
              </a:tr>
              <a:tr h="393700">
                <a:tc>
                  <a:txBody>
                    <a:bodyPr wrap="square"/>
                    <a:lstStyle/>
                    <a:p>
                      <a:r>
                        <a:rPr sz="1400" b="0">
                          <a:solidFill>
                            <a:srgbClr val="1F2A36"/>
                          </a:solidFill>
                          <a:latin typeface="Calibri"/>
                        </a:rPr>
                        <a:t>6</a:t>
                      </a:r>
                    </a:p>
                  </a:txBody>
                  <a:tcPr marL="101600" marR="101600" marT="38100" marB="38100" anchor="ctr">
                    <a:solidFill>
                      <a:srgbClr val="F1F5F8"/>
                    </a:solidFill>
                    <a:lnL w="9525">
                      <a:solidFill>
                        <a:srgbClr val="D8E0E7"/>
                      </a:solidFill>
                    </a:lnL>
                    <a:lnR w="9525">
                      <a:solidFill>
                        <a:srgbClr val="D8E0E7"/>
                      </a:solidFill>
                    </a:lnR>
                    <a:lnT w="9525">
                      <a:solidFill>
                        <a:srgbClr val="D8E0E7"/>
                      </a:solidFill>
                    </a:lnT>
                    <a:lnB w="9525">
                      <a:solidFill>
                        <a:srgbClr val="D8E0E7"/>
                      </a:solidFill>
                    </a:lnB>
                  </a:tcPr>
                </a:tc>
                <a:tc>
                  <a:txBody>
                    <a:bodyPr wrap="square"/>
                    <a:lstStyle/>
                    <a:p>
                      <a:r>
                        <a:rPr sz="1400" b="1">
                          <a:solidFill>
                            <a:srgbClr val="17324D"/>
                          </a:solidFill>
                          <a:latin typeface="Calibri"/>
                        </a:rPr>
                        <a:t>Sumatriptan</a:t>
                      </a:r>
                    </a:p>
                  </a:txBody>
                  <a:tcPr marL="101600" marR="101600" marT="38100" marB="38100" anchor="ctr">
                    <a:solidFill>
                      <a:srgbClr val="F1F5F8"/>
                    </a:solidFill>
                    <a:lnL w="9525">
                      <a:solidFill>
                        <a:srgbClr val="D8E0E7"/>
                      </a:solidFill>
                    </a:lnL>
                    <a:lnR w="9525">
                      <a:solidFill>
                        <a:srgbClr val="D8E0E7"/>
                      </a:solidFill>
                    </a:lnR>
                    <a:lnT w="9525">
                      <a:solidFill>
                        <a:srgbClr val="D8E0E7"/>
                      </a:solidFill>
                    </a:lnT>
                    <a:lnB w="9525">
                      <a:solidFill>
                        <a:srgbClr val="D8E0E7"/>
                      </a:solidFill>
                    </a:lnB>
                  </a:tcPr>
                </a:tc>
                <a:tc>
                  <a:txBody>
                    <a:bodyPr wrap="square"/>
                    <a:lstStyle/>
                    <a:p>
                      <a:r>
                        <a:rPr sz="1400" b="0">
                          <a:solidFill>
                            <a:srgbClr val="1F2A36"/>
                          </a:solidFill>
                          <a:latin typeface="Calibri"/>
                        </a:rPr>
                        <a:t>Migraine</a:t>
                      </a:r>
                    </a:p>
                  </a:txBody>
                  <a:tcPr marL="101600" marR="101600" marT="38100" marB="38100" anchor="ctr">
                    <a:solidFill>
                      <a:srgbClr val="F1F5F8"/>
                    </a:solidFill>
                    <a:lnL w="9525">
                      <a:solidFill>
                        <a:srgbClr val="D8E0E7"/>
                      </a:solidFill>
                    </a:lnL>
                    <a:lnR w="9525">
                      <a:solidFill>
                        <a:srgbClr val="D8E0E7"/>
                      </a:solidFill>
                    </a:lnR>
                    <a:lnT w="9525">
                      <a:solidFill>
                        <a:srgbClr val="D8E0E7"/>
                      </a:solidFill>
                    </a:lnT>
                    <a:lnB w="9525">
                      <a:solidFill>
                        <a:srgbClr val="D8E0E7"/>
                      </a:solidFill>
                    </a:lnB>
                  </a:tcPr>
                </a:tc>
                <a:tc>
                  <a:txBody>
                    <a:bodyPr wrap="square"/>
                    <a:lstStyle/>
                    <a:p>
                      <a:r>
                        <a:rPr sz="1400" b="1">
                          <a:solidFill>
                            <a:srgbClr val="1C786D"/>
                          </a:solidFill>
                          <a:latin typeface="Calibri"/>
                        </a:rPr>
                        <a:t>+0.75</a:t>
                      </a:r>
                    </a:p>
                  </a:txBody>
                  <a:tcPr marL="101600" marR="101600" marT="38100" marB="38100" anchor="ctr">
                    <a:solidFill>
                      <a:srgbClr val="F1F5F8"/>
                    </a:solidFill>
                    <a:lnL w="9525">
                      <a:solidFill>
                        <a:srgbClr val="D8E0E7"/>
                      </a:solidFill>
                    </a:lnL>
                    <a:lnR w="9525">
                      <a:solidFill>
                        <a:srgbClr val="D8E0E7"/>
                      </a:solidFill>
                    </a:lnR>
                    <a:lnT w="9525">
                      <a:solidFill>
                        <a:srgbClr val="D8E0E7"/>
                      </a:solidFill>
                    </a:lnT>
                    <a:lnB w="9525">
                      <a:solidFill>
                        <a:srgbClr val="D8E0E7"/>
                      </a:solidFill>
                    </a:lnB>
                  </a:tcPr>
                </a:tc>
              </a:tr>
            </a:tbl>
          </a:graphicData>
        </a:graphic>
      </p:graphicFrame>
      <p:sp>
        <p:nvSpPr>
          <p:cNvPr id="2061" name="Rounded Rectangle 2060"/>
          <p:cNvSpPr/>
          <p:nvPr/>
        </p:nvSpPr>
        <p:spPr>
          <a:xfrm>
            <a:off x="508000" y="5130800"/>
            <a:ext cx="2476500" cy="660400"/>
          </a:xfrm>
          <a:prstGeom prst="roundRect">
            <a:avLst>
              <a:gd name="adj" fmla="val 6000"/>
            </a:avLst>
          </a:prstGeom>
          <a:solidFill>
            <a:srgbClr val="FBEE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62" name="TextBox 2061"/>
          <p:cNvSpPr txBox="1"/>
          <p:nvPr/>
        </p:nvSpPr>
        <p:spPr>
          <a:xfrm>
            <a:off x="685800" y="5130800"/>
            <a:ext cx="2222500" cy="660400"/>
          </a:xfrm>
          <a:prstGeom prst="rect">
            <a:avLst/>
          </a:prstGeom>
          <a:noFill/>
        </p:spPr>
        <p:txBody>
          <a:bodyPr wrap="square" lIns="0" rIns="0" tIns="0" bIns="0" anchor="ctr">
            <a:spAutoFit/>
          </a:bodyPr>
          <a:lstStyle/>
          <a:p>
            <a:pPr algn="l">
              <a:spcAft>
                <a:spcPts val="0"/>
              </a:spcAft>
            </a:pPr>
            <a:r>
              <a:rPr sz="2000" b="1" i="0">
                <a:solidFill>
                  <a:srgbClr val="C2603F"/>
                </a:solidFill>
                <a:latin typeface="Calibri"/>
              </a:rPr>
              <a:t>105  </a:t>
            </a:r>
            <a:r>
              <a:rPr sz="1300" b="0" i="0">
                <a:solidFill>
                  <a:srgbClr val="1F2A36"/>
                </a:solidFill>
                <a:latin typeface="Calibri"/>
              </a:rPr>
              <a:t>different approved drugs</a:t>
            </a:r>
          </a:p>
        </p:txBody>
      </p:sp>
      <p:sp>
        <p:nvSpPr>
          <p:cNvPr id="2063" name="Rounded Rectangle 2062"/>
          <p:cNvSpPr/>
          <p:nvPr/>
        </p:nvSpPr>
        <p:spPr>
          <a:xfrm>
            <a:off x="3111500" y="5130800"/>
            <a:ext cx="2476500" cy="660400"/>
          </a:xfrm>
          <a:prstGeom prst="roundRect">
            <a:avLst>
              <a:gd name="adj" fmla="val 6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64" name="TextBox 2063"/>
          <p:cNvSpPr txBox="1"/>
          <p:nvPr/>
        </p:nvSpPr>
        <p:spPr>
          <a:xfrm>
            <a:off x="3289300" y="5130800"/>
            <a:ext cx="2222500" cy="660400"/>
          </a:xfrm>
          <a:prstGeom prst="rect">
            <a:avLst/>
          </a:prstGeom>
          <a:noFill/>
        </p:spPr>
        <p:txBody>
          <a:bodyPr wrap="square" lIns="0" rIns="0" tIns="0" bIns="0" anchor="ctr">
            <a:spAutoFit/>
          </a:bodyPr>
          <a:lstStyle/>
          <a:p>
            <a:pPr algn="l">
              <a:spcAft>
                <a:spcPts val="0"/>
              </a:spcAft>
            </a:pPr>
            <a:r>
              <a:rPr sz="2000" b="1" i="0">
                <a:solidFill>
                  <a:srgbClr val="C2603F"/>
                </a:solidFill>
                <a:latin typeface="Calibri"/>
              </a:rPr>
              <a:t>54  </a:t>
            </a:r>
            <a:r>
              <a:rPr sz="1300" b="0" i="0">
                <a:solidFill>
                  <a:srgbClr val="1F2A36"/>
                </a:solidFill>
                <a:latin typeface="Calibri"/>
              </a:rPr>
              <a:t>on both lists</a:t>
            </a:r>
          </a:p>
        </p:txBody>
      </p:sp>
      <p:sp>
        <p:nvSpPr>
          <p:cNvPr id="2065" name="Rounded Rectangle 2064"/>
          <p:cNvSpPr/>
          <p:nvPr/>
        </p:nvSpPr>
        <p:spPr>
          <a:xfrm>
            <a:off x="5715000" y="5130800"/>
            <a:ext cx="2476500" cy="660400"/>
          </a:xfrm>
          <a:prstGeom prst="roundRect">
            <a:avLst>
              <a:gd name="adj" fmla="val 6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66" name="TextBox 2065"/>
          <p:cNvSpPr txBox="1"/>
          <p:nvPr/>
        </p:nvSpPr>
        <p:spPr>
          <a:xfrm>
            <a:off x="5892800" y="5130800"/>
            <a:ext cx="2222500" cy="660400"/>
          </a:xfrm>
          <a:prstGeom prst="rect">
            <a:avLst/>
          </a:prstGeom>
          <a:noFill/>
        </p:spPr>
        <p:txBody>
          <a:bodyPr wrap="square" lIns="0" rIns="0" tIns="0" bIns="0" anchor="ctr">
            <a:spAutoFit/>
          </a:bodyPr>
          <a:lstStyle/>
          <a:p>
            <a:pPr algn="l">
              <a:spcAft>
                <a:spcPts val="0"/>
              </a:spcAft>
            </a:pPr>
            <a:r>
              <a:rPr sz="2000" b="1" i="0">
                <a:solidFill>
                  <a:srgbClr val="C2603F"/>
                </a:solidFill>
                <a:latin typeface="Calibri"/>
              </a:rPr>
              <a:t>Top 5%  </a:t>
            </a:r>
            <a:r>
              <a:rPr sz="1300" b="0" i="0">
                <a:solidFill>
                  <a:srgbClr val="1F2A36"/>
                </a:solidFill>
                <a:latin typeface="Calibri"/>
              </a:rPr>
              <a:t>of 29,680 to qualify</a:t>
            </a:r>
          </a:p>
        </p:txBody>
      </p:sp>
      <p:sp>
        <p:nvSpPr>
          <p:cNvPr id="2067" name="TextBox 2066"/>
          <p:cNvSpPr txBox="1"/>
          <p:nvPr/>
        </p:nvSpPr>
        <p:spPr>
          <a:xfrm>
            <a:off x="8382000" y="5130800"/>
            <a:ext cx="2413000" cy="660400"/>
          </a:xfrm>
          <a:prstGeom prst="rect">
            <a:avLst/>
          </a:prstGeom>
          <a:noFill/>
        </p:spPr>
        <p:txBody>
          <a:bodyPr wrap="square" lIns="0" rIns="0" tIns="0" bIns="0" anchor="ctr">
            <a:spAutoFit/>
          </a:bodyPr>
          <a:lstStyle/>
          <a:p>
            <a:pPr algn="l">
              <a:spcAft>
                <a:spcPts val="0"/>
              </a:spcAft>
            </a:pPr>
            <a:r>
              <a:rPr sz="1300" b="0" i="0">
                <a:solidFill>
                  <a:srgbClr val="5B6B7A"/>
                </a:solidFill>
                <a:latin typeface="Calibri"/>
              </a:rPr>
              <a:t>Leads for lab testing, not treatments.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8000" y="914400"/>
            <a:ext cx="10160000" cy="558800"/>
          </a:xfrm>
        </p:spPr>
        <p:txBody>
          <a:bodyPr lIns="0" rIns="0" tIns="0" bIns="0" anchor="ctr" wrap="square"/>
          <a:lstStyle/>
          <a:p>
            <a:pPr algn="l"/>
            <a:r>
              <a:rPr sz="3000" b="1" i="0">
                <a:solidFill>
                  <a:srgbClr val="17324D"/>
                </a:solidFill>
                <a:latin typeface="Calibri"/>
              </a:rPr>
              <a:t>Can we trust the results? Four simple tests</a:t>
            </a:r>
          </a:p>
        </p:txBody>
      </p:sp>
      <p:pic>
        <p:nvPicPr>
          <p:cNvPr id="2052" name="Picture 3">
            <a:extLst>
              <a:ext uri="{FF2B5EF4-FFF2-40B4-BE49-F238E27FC236}">
                <a16:creationId xmlns:a16="http://schemas.microsoft.com/office/drawing/2014/main" id="{378F6D54-6499-75C5-2592-C5AB0BDD5E46}"/>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8847138" y="-542925"/>
            <a:ext cx="3848100" cy="2165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53" name="Picture 5">
            <a:extLst>
              <a:ext uri="{FF2B5EF4-FFF2-40B4-BE49-F238E27FC236}">
                <a16:creationId xmlns:a16="http://schemas.microsoft.com/office/drawing/2014/main" id="{9A04B610-E394-4B99-2A07-DD2268AD1720}"/>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0975975" y="5761038"/>
            <a:ext cx="1096963" cy="1096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54" name="Picture 6">
            <a:extLst>
              <a:ext uri="{FF2B5EF4-FFF2-40B4-BE49-F238E27FC236}">
                <a16:creationId xmlns:a16="http://schemas.microsoft.com/office/drawing/2014/main" id="{1CDC6573-5491-7E9F-218F-A7B51A6D63C6}"/>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85738" y="211138"/>
            <a:ext cx="2352675" cy="611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55" name="Lead"/>
          <p:cNvSpPr txBox="1"/>
          <p:nvPr/>
        </p:nvSpPr>
        <p:spPr>
          <a:xfrm>
            <a:off x="508000" y="1498600"/>
            <a:ext cx="10160000" cy="279400"/>
          </a:xfrm>
          <a:prstGeom prst="rect">
            <a:avLst/>
          </a:prstGeom>
          <a:noFill/>
        </p:spPr>
        <p:txBody>
          <a:bodyPr wrap="square" lIns="0" rIns="0" tIns="0" bIns="0" anchor="t">
            <a:spAutoFit/>
          </a:bodyPr>
          <a:lstStyle/>
          <a:p>
            <a:pPr algn="l">
              <a:spcAft>
                <a:spcPts val="0"/>
              </a:spcAft>
            </a:pPr>
            <a:r>
              <a:rPr sz="1600" b="0" i="0">
                <a:solidFill>
                  <a:srgbClr val="5B6B7A"/>
                </a:solidFill>
                <a:latin typeface="Calibri"/>
              </a:rPr>
              <a:t>We tested SynThera on questions where we already know the right answer.</a:t>
            </a:r>
          </a:p>
        </p:txBody>
      </p:sp>
      <p:sp>
        <p:nvSpPr>
          <p:cNvPr id="2056" name="Footer"/>
          <p:cNvSpPr txBox="1"/>
          <p:nvPr/>
        </p:nvSpPr>
        <p:spPr>
          <a:xfrm>
            <a:off x="508000" y="6515100"/>
            <a:ext cx="3810000" cy="177800"/>
          </a:xfrm>
          <a:prstGeom prst="rect">
            <a:avLst/>
          </a:prstGeom>
          <a:noFill/>
        </p:spPr>
        <p:txBody>
          <a:bodyPr wrap="square" lIns="0" rIns="0" tIns="0" bIns="0" anchor="t">
            <a:spAutoFit/>
          </a:bodyPr>
          <a:lstStyle/>
          <a:p>
            <a:pPr algn="l">
              <a:spcAft>
                <a:spcPts val="0"/>
              </a:spcAft>
            </a:pPr>
            <a:r>
              <a:rPr sz="1000" b="1" i="0">
                <a:solidFill>
                  <a:srgbClr val="17324D"/>
                </a:solidFill>
                <a:latin typeface="Calibri"/>
              </a:rPr>
              <a:t>TEAM TEJAS019 · SynThera</a:t>
            </a:r>
            <a:r>
              <a:rPr sz="1000" b="0" i="0">
                <a:solidFill>
                  <a:srgbClr val="5B6B7A"/>
                </a:solidFill>
                <a:latin typeface="Calibri"/>
              </a:rPr>
              <a:t>    8 / 10</a:t>
            </a:r>
          </a:p>
        </p:txBody>
      </p:sp>
      <p:sp>
        <p:nvSpPr>
          <p:cNvPr id="2057" name="Rounded Rectangle 2056"/>
          <p:cNvSpPr/>
          <p:nvPr/>
        </p:nvSpPr>
        <p:spPr>
          <a:xfrm>
            <a:off x="508000" y="1905000"/>
            <a:ext cx="5588000" cy="901700"/>
          </a:xfrm>
          <a:prstGeom prst="roundRect">
            <a:avLst>
              <a:gd name="adj" fmla="val 6000"/>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58" name="Oval 2057"/>
          <p:cNvSpPr/>
          <p:nvPr/>
        </p:nvSpPr>
        <p:spPr>
          <a:xfrm>
            <a:off x="685800" y="2133600"/>
            <a:ext cx="431800" cy="431800"/>
          </a:xfrm>
          <a:prstGeom prst="ellipse">
            <a:avLst/>
          </a:prstGeom>
          <a:solidFill>
            <a:srgbClr val="1C78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59" name="Picture 2058" descr="check.png"/>
          <p:cNvPicPr>
            <a:picLocks noChangeAspect="1"/>
          </p:cNvPicPr>
          <p:nvPr/>
        </p:nvPicPr>
        <p:blipFill>
          <a:blip r:embed="rId6"/>
          <a:stretch>
            <a:fillRect/>
          </a:stretch>
        </p:blipFill>
        <p:spPr>
          <a:xfrm>
            <a:off x="780796" y="2228596"/>
            <a:ext cx="241808" cy="241808"/>
          </a:xfrm>
          <a:prstGeom prst="rect">
            <a:avLst/>
          </a:prstGeom>
        </p:spPr>
      </p:pic>
      <p:sp>
        <p:nvSpPr>
          <p:cNvPr id="2060" name="TextBox 2059"/>
          <p:cNvSpPr txBox="1"/>
          <p:nvPr/>
        </p:nvSpPr>
        <p:spPr>
          <a:xfrm>
            <a:off x="1295400" y="2019300"/>
            <a:ext cx="3683000" cy="254000"/>
          </a:xfrm>
          <a:prstGeom prst="rect">
            <a:avLst/>
          </a:prstGeom>
          <a:noFill/>
        </p:spPr>
        <p:txBody>
          <a:bodyPr wrap="square" lIns="0" rIns="0" tIns="0" bIns="0" anchor="t">
            <a:spAutoFit/>
          </a:bodyPr>
          <a:lstStyle/>
          <a:p>
            <a:pPr algn="l">
              <a:spcAft>
                <a:spcPts val="0"/>
              </a:spcAft>
            </a:pPr>
            <a:r>
              <a:rPr sz="1450" b="1" i="0">
                <a:solidFill>
                  <a:srgbClr val="17324D"/>
                </a:solidFill>
                <a:latin typeface="Calibri"/>
              </a:rPr>
              <a:t>Does it spot the opposite of exercise?</a:t>
            </a:r>
          </a:p>
        </p:txBody>
      </p:sp>
      <p:sp>
        <p:nvSpPr>
          <p:cNvPr id="2061" name="Rounded Rectangle 2060"/>
          <p:cNvSpPr/>
          <p:nvPr/>
        </p:nvSpPr>
        <p:spPr>
          <a:xfrm>
            <a:off x="5156200" y="2032000"/>
            <a:ext cx="787400" cy="228600"/>
          </a:xfrm>
          <a:prstGeom prst="roundRect">
            <a:avLst>
              <a:gd name="adj" fmla="val 50000"/>
            </a:avLst>
          </a:prstGeom>
          <a:solidFill>
            <a:srgbClr val="1C78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62" name="TextBox 2061"/>
          <p:cNvSpPr txBox="1"/>
          <p:nvPr/>
        </p:nvSpPr>
        <p:spPr>
          <a:xfrm>
            <a:off x="5156200" y="2032000"/>
            <a:ext cx="787400" cy="228600"/>
          </a:xfrm>
          <a:prstGeom prst="rect">
            <a:avLst/>
          </a:prstGeom>
          <a:noFill/>
        </p:spPr>
        <p:txBody>
          <a:bodyPr wrap="square" lIns="0" rIns="0" tIns="0" bIns="0" anchor="ctr">
            <a:spAutoFit/>
          </a:bodyPr>
          <a:lstStyle/>
          <a:p>
            <a:pPr algn="ctr">
              <a:spcAft>
                <a:spcPts val="0"/>
              </a:spcAft>
            </a:pPr>
            <a:r>
              <a:rPr sz="950" b="1" i="0">
                <a:solidFill>
                  <a:srgbClr val="FFFFFF"/>
                </a:solidFill>
                <a:latin typeface="Calibri"/>
              </a:rPr>
              <a:t>PASSED</a:t>
            </a:r>
          </a:p>
        </p:txBody>
      </p:sp>
      <p:sp>
        <p:nvSpPr>
          <p:cNvPr id="2063" name="TextBox 2062"/>
          <p:cNvSpPr txBox="1"/>
          <p:nvPr/>
        </p:nvSpPr>
        <p:spPr>
          <a:xfrm>
            <a:off x="1295400" y="2286000"/>
            <a:ext cx="4648200" cy="482600"/>
          </a:xfrm>
          <a:prstGeom prst="rect">
            <a:avLst/>
          </a:prstGeom>
          <a:noFill/>
        </p:spPr>
        <p:txBody>
          <a:bodyPr wrap="square" lIns="0" rIns="0" tIns="0" bIns="0" anchor="t">
            <a:spAutoFit/>
          </a:bodyPr>
          <a:lstStyle/>
          <a:p>
            <a:pPr algn="l">
              <a:spcAft>
                <a:spcPts val="0"/>
              </a:spcAft>
            </a:pPr>
            <a:r>
              <a:rPr sz="1200" b="0" i="0">
                <a:solidFill>
                  <a:srgbClr val="1F2A36"/>
                </a:solidFill>
                <a:latin typeface="Calibri"/>
              </a:rPr>
              <a:t>Weight training builds muscle through mTOR. All 4 mTOR-blocking drugs ranked in the top 0.4% most opposite to it, unprompted.</a:t>
            </a:r>
          </a:p>
        </p:txBody>
      </p:sp>
      <p:sp>
        <p:nvSpPr>
          <p:cNvPr id="2064" name="Rounded Rectangle 2063"/>
          <p:cNvSpPr/>
          <p:nvPr/>
        </p:nvSpPr>
        <p:spPr>
          <a:xfrm>
            <a:off x="508000" y="2908300"/>
            <a:ext cx="5588000" cy="901700"/>
          </a:xfrm>
          <a:prstGeom prst="roundRect">
            <a:avLst>
              <a:gd name="adj" fmla="val 6000"/>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65" name="Oval 2064"/>
          <p:cNvSpPr/>
          <p:nvPr/>
        </p:nvSpPr>
        <p:spPr>
          <a:xfrm>
            <a:off x="685800" y="3136900"/>
            <a:ext cx="431800" cy="431800"/>
          </a:xfrm>
          <a:prstGeom prst="ellipse">
            <a:avLst/>
          </a:prstGeom>
          <a:solidFill>
            <a:srgbClr val="1C78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66" name="Picture 2065" descr="check.png"/>
          <p:cNvPicPr>
            <a:picLocks noChangeAspect="1"/>
          </p:cNvPicPr>
          <p:nvPr/>
        </p:nvPicPr>
        <p:blipFill>
          <a:blip r:embed="rId6"/>
          <a:stretch>
            <a:fillRect/>
          </a:stretch>
        </p:blipFill>
        <p:spPr>
          <a:xfrm>
            <a:off x="780796" y="3231896"/>
            <a:ext cx="241808" cy="241808"/>
          </a:xfrm>
          <a:prstGeom prst="rect">
            <a:avLst/>
          </a:prstGeom>
        </p:spPr>
      </p:pic>
      <p:sp>
        <p:nvSpPr>
          <p:cNvPr id="2067" name="TextBox 2066"/>
          <p:cNvSpPr txBox="1"/>
          <p:nvPr/>
        </p:nvSpPr>
        <p:spPr>
          <a:xfrm>
            <a:off x="1295400" y="3022600"/>
            <a:ext cx="3683000" cy="254000"/>
          </a:xfrm>
          <a:prstGeom prst="rect">
            <a:avLst/>
          </a:prstGeom>
          <a:noFill/>
        </p:spPr>
        <p:txBody>
          <a:bodyPr wrap="square" lIns="0" rIns="0" tIns="0" bIns="0" anchor="t">
            <a:spAutoFit/>
          </a:bodyPr>
          <a:lstStyle/>
          <a:p>
            <a:pPr algn="l">
              <a:spcAft>
                <a:spcPts val="0"/>
              </a:spcAft>
            </a:pPr>
            <a:r>
              <a:rPr sz="1450" b="1" i="0">
                <a:solidFill>
                  <a:srgbClr val="17324D"/>
                </a:solidFill>
                <a:latin typeface="Calibri"/>
              </a:rPr>
              <a:t>Does it hold up when data is messy?</a:t>
            </a:r>
          </a:p>
        </p:txBody>
      </p:sp>
      <p:sp>
        <p:nvSpPr>
          <p:cNvPr id="2068" name="Rounded Rectangle 2067"/>
          <p:cNvSpPr/>
          <p:nvPr/>
        </p:nvSpPr>
        <p:spPr>
          <a:xfrm>
            <a:off x="5156200" y="3035300"/>
            <a:ext cx="787400" cy="228600"/>
          </a:xfrm>
          <a:prstGeom prst="roundRect">
            <a:avLst>
              <a:gd name="adj" fmla="val 50000"/>
            </a:avLst>
          </a:prstGeom>
          <a:solidFill>
            <a:srgbClr val="1C78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69" name="TextBox 2068"/>
          <p:cNvSpPr txBox="1"/>
          <p:nvPr/>
        </p:nvSpPr>
        <p:spPr>
          <a:xfrm>
            <a:off x="5156200" y="3035300"/>
            <a:ext cx="787400" cy="228600"/>
          </a:xfrm>
          <a:prstGeom prst="rect">
            <a:avLst/>
          </a:prstGeom>
          <a:noFill/>
        </p:spPr>
        <p:txBody>
          <a:bodyPr wrap="square" lIns="0" rIns="0" tIns="0" bIns="0" anchor="ctr">
            <a:spAutoFit/>
          </a:bodyPr>
          <a:lstStyle/>
          <a:p>
            <a:pPr algn="ctr">
              <a:spcAft>
                <a:spcPts val="0"/>
              </a:spcAft>
            </a:pPr>
            <a:r>
              <a:rPr sz="950" b="1" i="0">
                <a:solidFill>
                  <a:srgbClr val="FFFFFF"/>
                </a:solidFill>
                <a:latin typeface="Calibri"/>
              </a:rPr>
              <a:t>PASSED</a:t>
            </a:r>
          </a:p>
        </p:txBody>
      </p:sp>
      <p:sp>
        <p:nvSpPr>
          <p:cNvPr id="2070" name="TextBox 2069"/>
          <p:cNvSpPr txBox="1"/>
          <p:nvPr/>
        </p:nvSpPr>
        <p:spPr>
          <a:xfrm>
            <a:off x="1295400" y="3289300"/>
            <a:ext cx="4648200" cy="482600"/>
          </a:xfrm>
          <a:prstGeom prst="rect">
            <a:avLst/>
          </a:prstGeom>
          <a:noFill/>
        </p:spPr>
        <p:txBody>
          <a:bodyPr wrap="square" lIns="0" rIns="0" tIns="0" bIns="0" anchor="t">
            <a:spAutoFit/>
          </a:bodyPr>
          <a:lstStyle/>
          <a:p>
            <a:pPr algn="l">
              <a:spcAft>
                <a:spcPts val="0"/>
              </a:spcAft>
            </a:pPr>
            <a:r>
              <a:rPr sz="1200" b="0" i="0">
                <a:solidFill>
                  <a:srgbClr val="1F2A36"/>
                </a:solidFill>
                <a:latin typeface="Calibri"/>
              </a:rPr>
              <a:t>With 20% of the data scrambled, the top 50 still overlaps 48–77% with the original list. By chance: about 2%.</a:t>
            </a:r>
          </a:p>
        </p:txBody>
      </p:sp>
      <p:sp>
        <p:nvSpPr>
          <p:cNvPr id="2071" name="Rounded Rectangle 2070"/>
          <p:cNvSpPr/>
          <p:nvPr/>
        </p:nvSpPr>
        <p:spPr>
          <a:xfrm>
            <a:off x="508000" y="3911600"/>
            <a:ext cx="5588000" cy="901700"/>
          </a:xfrm>
          <a:prstGeom prst="roundRect">
            <a:avLst>
              <a:gd name="adj" fmla="val 6000"/>
            </a:avLst>
          </a:prstGeom>
          <a:solidFill>
            <a:srgbClr val="E6F3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72" name="Oval 2071"/>
          <p:cNvSpPr/>
          <p:nvPr/>
        </p:nvSpPr>
        <p:spPr>
          <a:xfrm>
            <a:off x="685800" y="4140200"/>
            <a:ext cx="431800" cy="431800"/>
          </a:xfrm>
          <a:prstGeom prst="ellipse">
            <a:avLst/>
          </a:prstGeom>
          <a:solidFill>
            <a:srgbClr val="1C78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73" name="Picture 2072" descr="check.png"/>
          <p:cNvPicPr>
            <a:picLocks noChangeAspect="1"/>
          </p:cNvPicPr>
          <p:nvPr/>
        </p:nvPicPr>
        <p:blipFill>
          <a:blip r:embed="rId6"/>
          <a:stretch>
            <a:fillRect/>
          </a:stretch>
        </p:blipFill>
        <p:spPr>
          <a:xfrm>
            <a:off x="780796" y="4235196"/>
            <a:ext cx="241808" cy="241808"/>
          </a:xfrm>
          <a:prstGeom prst="rect">
            <a:avLst/>
          </a:prstGeom>
        </p:spPr>
      </p:pic>
      <p:sp>
        <p:nvSpPr>
          <p:cNvPr id="2074" name="TextBox 2073"/>
          <p:cNvSpPr txBox="1"/>
          <p:nvPr/>
        </p:nvSpPr>
        <p:spPr>
          <a:xfrm>
            <a:off x="1295400" y="4025900"/>
            <a:ext cx="3683000" cy="254000"/>
          </a:xfrm>
          <a:prstGeom prst="rect">
            <a:avLst/>
          </a:prstGeom>
          <a:noFill/>
        </p:spPr>
        <p:txBody>
          <a:bodyPr wrap="square" lIns="0" rIns="0" tIns="0" bIns="0" anchor="t">
            <a:spAutoFit/>
          </a:bodyPr>
          <a:lstStyle/>
          <a:p>
            <a:pPr algn="l">
              <a:spcAft>
                <a:spcPts val="0"/>
              </a:spcAft>
            </a:pPr>
            <a:r>
              <a:rPr sz="1450" b="1" i="0">
                <a:solidFill>
                  <a:srgbClr val="17324D"/>
                </a:solidFill>
                <a:latin typeface="Calibri"/>
              </a:rPr>
              <a:t>Do the four methods agree?</a:t>
            </a:r>
          </a:p>
        </p:txBody>
      </p:sp>
      <p:sp>
        <p:nvSpPr>
          <p:cNvPr id="2075" name="Rounded Rectangle 2074"/>
          <p:cNvSpPr/>
          <p:nvPr/>
        </p:nvSpPr>
        <p:spPr>
          <a:xfrm>
            <a:off x="5156200" y="4038600"/>
            <a:ext cx="787400" cy="228600"/>
          </a:xfrm>
          <a:prstGeom prst="roundRect">
            <a:avLst>
              <a:gd name="adj" fmla="val 50000"/>
            </a:avLst>
          </a:prstGeom>
          <a:solidFill>
            <a:srgbClr val="1C78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76" name="TextBox 2075"/>
          <p:cNvSpPr txBox="1"/>
          <p:nvPr/>
        </p:nvSpPr>
        <p:spPr>
          <a:xfrm>
            <a:off x="5156200" y="4038600"/>
            <a:ext cx="787400" cy="228600"/>
          </a:xfrm>
          <a:prstGeom prst="rect">
            <a:avLst/>
          </a:prstGeom>
          <a:noFill/>
        </p:spPr>
        <p:txBody>
          <a:bodyPr wrap="square" lIns="0" rIns="0" tIns="0" bIns="0" anchor="ctr">
            <a:spAutoFit/>
          </a:bodyPr>
          <a:lstStyle/>
          <a:p>
            <a:pPr algn="ctr">
              <a:spcAft>
                <a:spcPts val="0"/>
              </a:spcAft>
            </a:pPr>
            <a:r>
              <a:rPr sz="950" b="1" i="0">
                <a:solidFill>
                  <a:srgbClr val="FFFFFF"/>
                </a:solidFill>
                <a:latin typeface="Calibri"/>
              </a:rPr>
              <a:t>PASSED</a:t>
            </a:r>
          </a:p>
        </p:txBody>
      </p:sp>
      <p:sp>
        <p:nvSpPr>
          <p:cNvPr id="2077" name="TextBox 2076"/>
          <p:cNvSpPr txBox="1"/>
          <p:nvPr/>
        </p:nvSpPr>
        <p:spPr>
          <a:xfrm>
            <a:off x="1295400" y="4292600"/>
            <a:ext cx="4648200" cy="482600"/>
          </a:xfrm>
          <a:prstGeom prst="rect">
            <a:avLst/>
          </a:prstGeom>
          <a:noFill/>
        </p:spPr>
        <p:txBody>
          <a:bodyPr wrap="square" lIns="0" rIns="0" tIns="0" bIns="0" anchor="t">
            <a:spAutoFit/>
          </a:bodyPr>
          <a:lstStyle/>
          <a:p>
            <a:pPr algn="l">
              <a:spcAft>
                <a:spcPts val="0"/>
              </a:spcAft>
            </a:pPr>
            <a:r>
              <a:rPr sz="1200" b="0" i="0">
                <a:solidFill>
                  <a:srgbClr val="1F2A36"/>
                </a:solidFill>
                <a:latin typeface="Calibri"/>
              </a:rPr>
              <a:t>Mostly (r = 0.46–0.65): the same overall picture, yet each method adds something of its own.</a:t>
            </a:r>
          </a:p>
        </p:txBody>
      </p:sp>
      <p:sp>
        <p:nvSpPr>
          <p:cNvPr id="2078" name="Rounded Rectangle 2077"/>
          <p:cNvSpPr/>
          <p:nvPr/>
        </p:nvSpPr>
        <p:spPr>
          <a:xfrm>
            <a:off x="508000" y="4914900"/>
            <a:ext cx="5588000" cy="901700"/>
          </a:xfrm>
          <a:prstGeom prst="roundRect">
            <a:avLst>
              <a:gd name="adj" fmla="val 6000"/>
            </a:avLst>
          </a:prstGeom>
          <a:solidFill>
            <a:srgbClr val="FBF3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79" name="Oval 2078"/>
          <p:cNvSpPr/>
          <p:nvPr/>
        </p:nvSpPr>
        <p:spPr>
          <a:xfrm>
            <a:off x="685800" y="5143500"/>
            <a:ext cx="431800" cy="431800"/>
          </a:xfrm>
          <a:prstGeom prst="ellipse">
            <a:avLst/>
          </a:prstGeom>
          <a:solidFill>
            <a:srgbClr val="A86B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80" name="Picture 2079" descr="partial.png"/>
          <p:cNvPicPr>
            <a:picLocks noChangeAspect="1"/>
          </p:cNvPicPr>
          <p:nvPr/>
        </p:nvPicPr>
        <p:blipFill>
          <a:blip r:embed="rId7"/>
          <a:stretch>
            <a:fillRect/>
          </a:stretch>
        </p:blipFill>
        <p:spPr>
          <a:xfrm>
            <a:off x="780796" y="5238496"/>
            <a:ext cx="241808" cy="241808"/>
          </a:xfrm>
          <a:prstGeom prst="rect">
            <a:avLst/>
          </a:prstGeom>
        </p:spPr>
      </p:pic>
      <p:sp>
        <p:nvSpPr>
          <p:cNvPr id="2081" name="TextBox 2080"/>
          <p:cNvSpPr txBox="1"/>
          <p:nvPr/>
        </p:nvSpPr>
        <p:spPr>
          <a:xfrm>
            <a:off x="1295400" y="5029200"/>
            <a:ext cx="3683000" cy="254000"/>
          </a:xfrm>
          <a:prstGeom prst="rect">
            <a:avLst/>
          </a:prstGeom>
          <a:noFill/>
        </p:spPr>
        <p:txBody>
          <a:bodyPr wrap="square" lIns="0" rIns="0" tIns="0" bIns="0" anchor="t">
            <a:spAutoFit/>
          </a:bodyPr>
          <a:lstStyle/>
          <a:p>
            <a:pPr algn="l">
              <a:spcAft>
                <a:spcPts val="0"/>
              </a:spcAft>
            </a:pPr>
            <a:r>
              <a:rPr sz="1450" b="1" i="0">
                <a:solidFill>
                  <a:srgbClr val="17324D"/>
                </a:solidFill>
                <a:latin typeface="Calibri"/>
              </a:rPr>
              <a:t>Does it find known 'exercise pills'?</a:t>
            </a:r>
          </a:p>
        </p:txBody>
      </p:sp>
      <p:sp>
        <p:nvSpPr>
          <p:cNvPr id="2082" name="Rounded Rectangle 2081"/>
          <p:cNvSpPr/>
          <p:nvPr/>
        </p:nvSpPr>
        <p:spPr>
          <a:xfrm>
            <a:off x="5156200" y="5041900"/>
            <a:ext cx="787400" cy="228600"/>
          </a:xfrm>
          <a:prstGeom prst="roundRect">
            <a:avLst>
              <a:gd name="adj" fmla="val 50000"/>
            </a:avLst>
          </a:prstGeom>
          <a:solidFill>
            <a:srgbClr val="A86B1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83" name="TextBox 2082"/>
          <p:cNvSpPr txBox="1"/>
          <p:nvPr/>
        </p:nvSpPr>
        <p:spPr>
          <a:xfrm>
            <a:off x="5156200" y="5041900"/>
            <a:ext cx="787400" cy="228600"/>
          </a:xfrm>
          <a:prstGeom prst="rect">
            <a:avLst/>
          </a:prstGeom>
          <a:noFill/>
        </p:spPr>
        <p:txBody>
          <a:bodyPr wrap="square" lIns="0" rIns="0" tIns="0" bIns="0" anchor="ctr">
            <a:spAutoFit/>
          </a:bodyPr>
          <a:lstStyle/>
          <a:p>
            <a:pPr algn="ctr">
              <a:spcAft>
                <a:spcPts val="0"/>
              </a:spcAft>
            </a:pPr>
            <a:r>
              <a:rPr sz="950" b="1" i="0">
                <a:solidFill>
                  <a:srgbClr val="FFFFFF"/>
                </a:solidFill>
                <a:latin typeface="Calibri"/>
              </a:rPr>
              <a:t>PARTLY</a:t>
            </a:r>
          </a:p>
        </p:txBody>
      </p:sp>
      <p:sp>
        <p:nvSpPr>
          <p:cNvPr id="2084" name="TextBox 2083"/>
          <p:cNvSpPr txBox="1"/>
          <p:nvPr/>
        </p:nvSpPr>
        <p:spPr>
          <a:xfrm>
            <a:off x="1295400" y="5295900"/>
            <a:ext cx="4648200" cy="482600"/>
          </a:xfrm>
          <a:prstGeom prst="rect">
            <a:avLst/>
          </a:prstGeom>
          <a:noFill/>
        </p:spPr>
        <p:txBody>
          <a:bodyPr wrap="square" lIns="0" rIns="0" tIns="0" bIns="0" anchor="t">
            <a:spAutoFit/>
          </a:bodyPr>
          <a:lstStyle/>
          <a:p>
            <a:pPr algn="l">
              <a:spcAft>
                <a:spcPts val="0"/>
              </a:spcAft>
            </a:pPr>
            <a:r>
              <a:rPr sz="1200" b="0" i="0">
                <a:solidFill>
                  <a:srgbClr val="1F2A36"/>
                </a:solidFill>
                <a:latin typeface="Calibri"/>
              </a:rPr>
              <a:t>β2-agonists return for weight training; GW-501516 reaches the top 9–12% in muscle; metformin and AICAR do not.</a:t>
            </a:r>
          </a:p>
        </p:txBody>
      </p:sp>
      <p:sp>
        <p:nvSpPr>
          <p:cNvPr id="2085" name="TextBox 2084"/>
          <p:cNvSpPr txBox="1"/>
          <p:nvPr/>
        </p:nvSpPr>
        <p:spPr>
          <a:xfrm>
            <a:off x="6413500" y="1905000"/>
            <a:ext cx="4381500" cy="254000"/>
          </a:xfrm>
          <a:prstGeom prst="rect">
            <a:avLst/>
          </a:prstGeom>
          <a:noFill/>
        </p:spPr>
        <p:txBody>
          <a:bodyPr wrap="square" lIns="0" rIns="0" tIns="0" bIns="0" anchor="t">
            <a:spAutoFit/>
          </a:bodyPr>
          <a:lstStyle/>
          <a:p>
            <a:pPr algn="l">
              <a:spcAft>
                <a:spcPts val="0"/>
              </a:spcAft>
            </a:pPr>
            <a:r>
              <a:rPr sz="1500" b="1" i="0">
                <a:solidFill>
                  <a:srgbClr val="17324D"/>
                </a:solidFill>
                <a:latin typeface="Calibri"/>
              </a:rPr>
              <a:t>Test 2 in detail: the list holds steady</a:t>
            </a:r>
          </a:p>
        </p:txBody>
      </p:sp>
      <p:sp>
        <p:nvSpPr>
          <p:cNvPr id="2086" name="TextBox 2085"/>
          <p:cNvSpPr txBox="1"/>
          <p:nvPr/>
        </p:nvSpPr>
        <p:spPr>
          <a:xfrm>
            <a:off x="6413500" y="2171700"/>
            <a:ext cx="4381500" cy="203200"/>
          </a:xfrm>
          <a:prstGeom prst="rect">
            <a:avLst/>
          </a:prstGeom>
          <a:noFill/>
        </p:spPr>
        <p:txBody>
          <a:bodyPr wrap="square" lIns="0" rIns="0" tIns="0" bIns="0" anchor="t">
            <a:spAutoFit/>
          </a:bodyPr>
          <a:lstStyle/>
          <a:p>
            <a:pPr algn="l">
              <a:spcAft>
                <a:spcPts val="0"/>
              </a:spcAft>
            </a:pPr>
            <a:r>
              <a:rPr sz="1100" b="0" i="0">
                <a:solidFill>
                  <a:srgbClr val="5B6B7A"/>
                </a:solidFill>
                <a:latin typeface="Calibri"/>
              </a:rPr>
              <a:t>Top-50 overlap with the original · 20% of data scrambled, 30 reruns</a:t>
            </a:r>
          </a:p>
        </p:txBody>
      </p:sp>
      <p:graphicFrame>
        <p:nvGraphicFramePr>
          <p:cNvPr id="2087" name="Noise test chart"/>
          <p:cNvGraphicFramePr>
            <a:graphicFrameLocks noGrp="1"/>
          </p:cNvGraphicFramePr>
          <p:nvPr/>
        </p:nvGraphicFramePr>
        <p:xfrm>
          <a:off x="6299200" y="2438400"/>
          <a:ext cx="4521200" cy="3403600"/>
        </p:xfrm>
        <a:graphic>
          <a:graphicData uri="http://schemas.openxmlformats.org/drawingml/2006/chart">
            <c:chart xmlns:c="http://schemas.openxmlformats.org/drawingml/2006/chart" r:id="rId8"/>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8000" y="914400"/>
            <a:ext cx="10160000" cy="558800"/>
          </a:xfrm>
        </p:spPr>
        <p:txBody>
          <a:bodyPr lIns="0" rIns="0" tIns="0" bIns="0" anchor="ctr" wrap="square"/>
          <a:lstStyle/>
          <a:p>
            <a:pPr algn="l"/>
            <a:r>
              <a:rPr sz="3000" b="1" i="0">
                <a:solidFill>
                  <a:srgbClr val="17324D"/>
                </a:solidFill>
                <a:latin typeface="Calibri"/>
              </a:rPr>
              <a:t>Working prototype: every result, live and explorable</a:t>
            </a:r>
          </a:p>
        </p:txBody>
      </p:sp>
      <p:pic>
        <p:nvPicPr>
          <p:cNvPr id="2052" name="Picture 3">
            <a:extLst>
              <a:ext uri="{FF2B5EF4-FFF2-40B4-BE49-F238E27FC236}">
                <a16:creationId xmlns:a16="http://schemas.microsoft.com/office/drawing/2014/main" id="{378F6D54-6499-75C5-2592-C5AB0BDD5E46}"/>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8847138" y="-542925"/>
            <a:ext cx="3848100" cy="2165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53" name="Picture 5">
            <a:extLst>
              <a:ext uri="{FF2B5EF4-FFF2-40B4-BE49-F238E27FC236}">
                <a16:creationId xmlns:a16="http://schemas.microsoft.com/office/drawing/2014/main" id="{9A04B610-E394-4B99-2A07-DD2268AD1720}"/>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0975975" y="5761038"/>
            <a:ext cx="1096963" cy="1096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54" name="Picture 6">
            <a:extLst>
              <a:ext uri="{FF2B5EF4-FFF2-40B4-BE49-F238E27FC236}">
                <a16:creationId xmlns:a16="http://schemas.microsoft.com/office/drawing/2014/main" id="{1CDC6573-5491-7E9F-218F-A7B51A6D63C6}"/>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85738" y="211138"/>
            <a:ext cx="2352675" cy="611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55" name="Footer"/>
          <p:cNvSpPr txBox="1"/>
          <p:nvPr/>
        </p:nvSpPr>
        <p:spPr>
          <a:xfrm>
            <a:off x="508000" y="6515100"/>
            <a:ext cx="3810000" cy="177800"/>
          </a:xfrm>
          <a:prstGeom prst="rect">
            <a:avLst/>
          </a:prstGeom>
          <a:noFill/>
        </p:spPr>
        <p:txBody>
          <a:bodyPr wrap="square" lIns="0" rIns="0" tIns="0" bIns="0" anchor="t">
            <a:spAutoFit/>
          </a:bodyPr>
          <a:lstStyle/>
          <a:p>
            <a:pPr algn="l">
              <a:spcAft>
                <a:spcPts val="0"/>
              </a:spcAft>
            </a:pPr>
            <a:r>
              <a:rPr sz="1000" b="1" i="0">
                <a:solidFill>
                  <a:srgbClr val="17324D"/>
                </a:solidFill>
                <a:latin typeface="Calibri"/>
              </a:rPr>
              <a:t>TEAM TEJAS019 · SynThera</a:t>
            </a:r>
            <a:r>
              <a:rPr sz="1000" b="0" i="0">
                <a:solidFill>
                  <a:srgbClr val="5B6B7A"/>
                </a:solidFill>
                <a:latin typeface="Calibri"/>
              </a:rPr>
              <a:t>    9 / 10</a:t>
            </a:r>
          </a:p>
        </p:txBody>
      </p:sp>
      <p:pic>
        <p:nvPicPr>
          <p:cNvPr id="2056" name="Picture 2055" descr="explorer.png"/>
          <p:cNvPicPr>
            <a:picLocks noChangeAspect="1"/>
          </p:cNvPicPr>
          <p:nvPr/>
        </p:nvPicPr>
        <p:blipFill>
          <a:blip r:embed="rId6"/>
          <a:stretch>
            <a:fillRect/>
          </a:stretch>
        </p:blipFill>
        <p:spPr>
          <a:xfrm>
            <a:off x="508000" y="1625600"/>
            <a:ext cx="6223000" cy="4199885"/>
          </a:xfrm>
          <a:prstGeom prst="roundRect">
            <a:avLst>
              <a:gd name="adj" fmla="val 4000"/>
            </a:avLst>
          </a:prstGeom>
          <a:ln w="12700">
            <a:solidFill>
              <a:srgbClr val="D8E0E7"/>
            </a:solidFill>
          </a:ln>
        </p:spPr>
      </p:pic>
      <p:sp>
        <p:nvSpPr>
          <p:cNvPr id="2057" name="Rounded Rectangle 2056"/>
          <p:cNvSpPr/>
          <p:nvPr/>
        </p:nvSpPr>
        <p:spPr>
          <a:xfrm>
            <a:off x="508000" y="5918200"/>
            <a:ext cx="1168400" cy="279400"/>
          </a:xfrm>
          <a:prstGeom prst="roundRect">
            <a:avLst>
              <a:gd name="adj" fmla="val 50000"/>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58" name="TextBox 2057"/>
          <p:cNvSpPr txBox="1"/>
          <p:nvPr/>
        </p:nvSpPr>
        <p:spPr>
          <a:xfrm>
            <a:off x="508000" y="5918200"/>
            <a:ext cx="1168400" cy="279400"/>
          </a:xfrm>
          <a:prstGeom prst="rect">
            <a:avLst/>
          </a:prstGeom>
          <a:noFill/>
        </p:spPr>
        <p:txBody>
          <a:bodyPr wrap="square" lIns="0" rIns="0" tIns="0" bIns="0" anchor="ctr">
            <a:spAutoFit/>
          </a:bodyPr>
          <a:lstStyle/>
          <a:p>
            <a:pPr algn="ctr">
              <a:spcAft>
                <a:spcPts val="0"/>
              </a:spcAft>
            </a:pPr>
            <a:r>
              <a:rPr sz="1100" b="1" i="0">
                <a:solidFill>
                  <a:srgbClr val="FFFFFF"/>
                </a:solidFill>
                <a:latin typeface="Calibri"/>
              </a:rPr>
              <a:t>LIVE DEMO</a:t>
            </a:r>
          </a:p>
        </p:txBody>
      </p:sp>
      <p:sp>
        <p:nvSpPr>
          <p:cNvPr id="2059" name="TextBox 2058"/>
          <p:cNvSpPr txBox="1"/>
          <p:nvPr/>
        </p:nvSpPr>
        <p:spPr>
          <a:xfrm>
            <a:off x="1803400" y="5918200"/>
            <a:ext cx="5080000" cy="279400"/>
          </a:xfrm>
          <a:prstGeom prst="rect">
            <a:avLst/>
          </a:prstGeom>
          <a:noFill/>
        </p:spPr>
        <p:txBody>
          <a:bodyPr wrap="square" lIns="0" rIns="0" tIns="0" bIns="0" anchor="ctr">
            <a:spAutoFit/>
          </a:bodyPr>
          <a:lstStyle/>
          <a:p>
            <a:pPr algn="l">
              <a:spcAft>
                <a:spcPts val="0"/>
              </a:spcAft>
            </a:pPr>
            <a:r>
              <a:rPr sz="1200" b="1" i="0">
                <a:solidFill>
                  <a:srgbClr val="17324D"/>
                </a:solidFill>
                <a:latin typeface="Calibri"/>
              </a:rPr>
              <a:t>Explorer  </a:t>
            </a:r>
            <a:r>
              <a:rPr sz="1200" b="0" i="0">
                <a:solidFill>
                  <a:srgbClr val="1F2A36"/>
                </a:solidFill>
                <a:latin typeface="Calibri"/>
              </a:rPr>
              <a:t>sitagliptin in all 18 fingerprints  ·  localhost:8000, works offline</a:t>
            </a:r>
          </a:p>
        </p:txBody>
      </p:sp>
      <p:pic>
        <p:nvPicPr>
          <p:cNvPr id="2060" name="Picture 2059" descr="cards_two.png"/>
          <p:cNvPicPr>
            <a:picLocks noChangeAspect="1"/>
          </p:cNvPicPr>
          <p:nvPr/>
        </p:nvPicPr>
        <p:blipFill>
          <a:blip r:embed="rId7"/>
          <a:stretch>
            <a:fillRect/>
          </a:stretch>
        </p:blipFill>
        <p:spPr>
          <a:xfrm>
            <a:off x="7010400" y="1625600"/>
            <a:ext cx="3784600" cy="1952183"/>
          </a:xfrm>
          <a:prstGeom prst="roundRect">
            <a:avLst>
              <a:gd name="adj" fmla="val 4000"/>
            </a:avLst>
          </a:prstGeom>
          <a:ln w="12700">
            <a:solidFill>
              <a:srgbClr val="D8E0E7"/>
            </a:solidFill>
          </a:ln>
        </p:spPr>
      </p:pic>
      <p:sp>
        <p:nvSpPr>
          <p:cNvPr id="2061" name="TextBox 2060"/>
          <p:cNvSpPr txBox="1"/>
          <p:nvPr/>
        </p:nvSpPr>
        <p:spPr>
          <a:xfrm>
            <a:off x="7010400" y="3644900"/>
            <a:ext cx="3784600" cy="228600"/>
          </a:xfrm>
          <a:prstGeom prst="rect">
            <a:avLst/>
          </a:prstGeom>
          <a:noFill/>
        </p:spPr>
        <p:txBody>
          <a:bodyPr wrap="square" lIns="0" rIns="0" tIns="0" bIns="0" anchor="t">
            <a:spAutoFit/>
          </a:bodyPr>
          <a:lstStyle/>
          <a:p>
            <a:pPr algn="l">
              <a:spcAft>
                <a:spcPts val="0"/>
              </a:spcAft>
            </a:pPr>
            <a:r>
              <a:rPr sz="1200" b="1" i="0">
                <a:solidFill>
                  <a:srgbClr val="17324D"/>
                </a:solidFill>
                <a:latin typeface="Calibri"/>
              </a:rPr>
              <a:t>Shortlist  </a:t>
            </a:r>
            <a:r>
              <a:rPr sz="1200" b="0" i="0">
                <a:solidFill>
                  <a:srgbClr val="1F2A36"/>
                </a:solidFill>
                <a:latin typeface="Calibri"/>
              </a:rPr>
              <a:t>each candidate's good vs stress balance</a:t>
            </a:r>
          </a:p>
        </p:txBody>
      </p:sp>
      <p:pic>
        <p:nvPicPr>
          <p:cNvPr id="2062" name="Picture 2061" descr="map_canvas.png"/>
          <p:cNvPicPr>
            <a:picLocks noChangeAspect="1"/>
          </p:cNvPicPr>
          <p:nvPr/>
        </p:nvPicPr>
        <p:blipFill>
          <a:blip r:embed="rId8"/>
          <a:stretch>
            <a:fillRect/>
          </a:stretch>
        </p:blipFill>
        <p:spPr>
          <a:xfrm>
            <a:off x="7010400" y="3987800"/>
            <a:ext cx="3784600" cy="2382506"/>
          </a:xfrm>
          <a:prstGeom prst="roundRect">
            <a:avLst>
              <a:gd name="adj" fmla="val 4000"/>
            </a:avLst>
          </a:prstGeom>
          <a:ln w="12700">
            <a:solidFill>
              <a:srgbClr val="D8E0E7"/>
            </a:solidFill>
          </a:ln>
        </p:spPr>
      </p:pic>
      <p:sp>
        <p:nvSpPr>
          <p:cNvPr id="2063" name="Rounded Rectangle 2062"/>
          <p:cNvSpPr/>
          <p:nvPr/>
        </p:nvSpPr>
        <p:spPr>
          <a:xfrm>
            <a:off x="7137400" y="4089400"/>
            <a:ext cx="2235200" cy="254000"/>
          </a:xfrm>
          <a:prstGeom prst="roundRect">
            <a:avLst>
              <a:gd name="adj" fmla="val 50000"/>
            </a:avLst>
          </a:prstGeom>
          <a:solidFill>
            <a:srgbClr val="1732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64" name="TextBox 2063"/>
          <p:cNvSpPr txBox="1"/>
          <p:nvPr/>
        </p:nvSpPr>
        <p:spPr>
          <a:xfrm>
            <a:off x="7137400" y="4089400"/>
            <a:ext cx="2235200" cy="254000"/>
          </a:xfrm>
          <a:prstGeom prst="rect">
            <a:avLst/>
          </a:prstGeom>
          <a:noFill/>
        </p:spPr>
        <p:txBody>
          <a:bodyPr wrap="square" lIns="0" rIns="0" tIns="0" bIns="0" anchor="ctr">
            <a:spAutoFit/>
          </a:bodyPr>
          <a:lstStyle/>
          <a:p>
            <a:pPr algn="ctr">
              <a:spcAft>
                <a:spcPts val="0"/>
              </a:spcAft>
            </a:pPr>
            <a:r>
              <a:rPr sz="1000" b="1" i="0">
                <a:solidFill>
                  <a:srgbClr val="FFFFFF"/>
                </a:solidFill>
                <a:latin typeface="Calibri"/>
              </a:rPr>
              <a:t>Drug map · 29,680 compounds by AI</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08000" y="914400"/>
            <a:ext cx="10160000" cy="558800"/>
          </a:xfrm>
        </p:spPr>
        <p:txBody>
          <a:bodyPr lIns="0" rIns="0" tIns="0" bIns="0" anchor="ctr" wrap="square"/>
          <a:lstStyle/>
          <a:p>
            <a:pPr algn="l"/>
            <a:r>
              <a:rPr sz="3000" b="1" i="0">
                <a:solidFill>
                  <a:srgbClr val="17324D"/>
                </a:solidFill>
                <a:latin typeface="Calibri"/>
              </a:rPr>
              <a:t>Impact today, and how SynThera scales</a:t>
            </a:r>
          </a:p>
        </p:txBody>
      </p:sp>
      <p:pic>
        <p:nvPicPr>
          <p:cNvPr id="2052" name="Picture 3">
            <a:extLst>
              <a:ext uri="{FF2B5EF4-FFF2-40B4-BE49-F238E27FC236}">
                <a16:creationId xmlns:a16="http://schemas.microsoft.com/office/drawing/2014/main" id="{378F6D54-6499-75C5-2592-C5AB0BDD5E46}"/>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8847138" y="-542925"/>
            <a:ext cx="3848100" cy="2165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53" name="Picture 5">
            <a:extLst>
              <a:ext uri="{FF2B5EF4-FFF2-40B4-BE49-F238E27FC236}">
                <a16:creationId xmlns:a16="http://schemas.microsoft.com/office/drawing/2014/main" id="{9A04B610-E394-4B99-2A07-DD2268AD1720}"/>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0975975" y="5761038"/>
            <a:ext cx="1096963" cy="1096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54" name="Picture 6">
            <a:extLst>
              <a:ext uri="{FF2B5EF4-FFF2-40B4-BE49-F238E27FC236}">
                <a16:creationId xmlns:a16="http://schemas.microsoft.com/office/drawing/2014/main" id="{1CDC6573-5491-7E9F-218F-A7B51A6D63C6}"/>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85738" y="211138"/>
            <a:ext cx="2352675" cy="611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55" name="Footer"/>
          <p:cNvSpPr txBox="1"/>
          <p:nvPr/>
        </p:nvSpPr>
        <p:spPr>
          <a:xfrm>
            <a:off x="508000" y="6515100"/>
            <a:ext cx="3810000" cy="177800"/>
          </a:xfrm>
          <a:prstGeom prst="rect">
            <a:avLst/>
          </a:prstGeom>
          <a:noFill/>
        </p:spPr>
        <p:txBody>
          <a:bodyPr wrap="square" lIns="0" rIns="0" tIns="0" bIns="0" anchor="t">
            <a:spAutoFit/>
          </a:bodyPr>
          <a:lstStyle/>
          <a:p>
            <a:pPr algn="l">
              <a:spcAft>
                <a:spcPts val="0"/>
              </a:spcAft>
            </a:pPr>
            <a:r>
              <a:rPr sz="1000" b="1" i="0">
                <a:solidFill>
                  <a:srgbClr val="17324D"/>
                </a:solidFill>
                <a:latin typeface="Calibri"/>
              </a:rPr>
              <a:t>TEAM TEJAS019 · SynThera</a:t>
            </a:r>
            <a:r>
              <a:rPr sz="1000" b="0" i="0">
                <a:solidFill>
                  <a:srgbClr val="5B6B7A"/>
                </a:solidFill>
                <a:latin typeface="Calibri"/>
              </a:rPr>
              <a:t>    10 / 10</a:t>
            </a:r>
          </a:p>
        </p:txBody>
      </p:sp>
      <p:sp>
        <p:nvSpPr>
          <p:cNvPr id="2056" name="Rounded Rectangle 2055"/>
          <p:cNvSpPr/>
          <p:nvPr/>
        </p:nvSpPr>
        <p:spPr>
          <a:xfrm>
            <a:off x="508000" y="1651000"/>
            <a:ext cx="3251200" cy="3175000"/>
          </a:xfrm>
          <a:prstGeom prst="roundRect">
            <a:avLst>
              <a:gd name="adj" fmla="val 6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57" name="Oval 2056"/>
          <p:cNvSpPr/>
          <p:nvPr/>
        </p:nvSpPr>
        <p:spPr>
          <a:xfrm>
            <a:off x="736600" y="1828800"/>
            <a:ext cx="406400" cy="406400"/>
          </a:xfrm>
          <a:prstGeom prst="ellipse">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58" name="Picture 2057" descr="heart.png"/>
          <p:cNvPicPr>
            <a:picLocks noChangeAspect="1"/>
          </p:cNvPicPr>
          <p:nvPr/>
        </p:nvPicPr>
        <p:blipFill>
          <a:blip r:embed="rId6"/>
          <a:stretch>
            <a:fillRect/>
          </a:stretch>
        </p:blipFill>
        <p:spPr>
          <a:xfrm>
            <a:off x="826008" y="1918208"/>
            <a:ext cx="227584" cy="227584"/>
          </a:xfrm>
          <a:prstGeom prst="rect">
            <a:avLst/>
          </a:prstGeom>
        </p:spPr>
      </p:pic>
      <p:sp>
        <p:nvSpPr>
          <p:cNvPr id="2059" name="TextBox 2058"/>
          <p:cNvSpPr txBox="1"/>
          <p:nvPr/>
        </p:nvSpPr>
        <p:spPr>
          <a:xfrm>
            <a:off x="1270000" y="1828800"/>
            <a:ext cx="2286000" cy="406400"/>
          </a:xfrm>
          <a:prstGeom prst="rect">
            <a:avLst/>
          </a:prstGeom>
          <a:noFill/>
        </p:spPr>
        <p:txBody>
          <a:bodyPr wrap="square" lIns="0" rIns="0" tIns="0" bIns="0" anchor="ctr">
            <a:spAutoFit/>
          </a:bodyPr>
          <a:lstStyle/>
          <a:p>
            <a:pPr algn="l">
              <a:spcAft>
                <a:spcPts val="0"/>
              </a:spcAft>
            </a:pPr>
            <a:r>
              <a:rPr sz="1900" b="1" i="0">
                <a:solidFill>
                  <a:srgbClr val="C2603F"/>
                </a:solidFill>
                <a:latin typeface="Calibri"/>
              </a:rPr>
              <a:t>Impact</a:t>
            </a:r>
          </a:p>
        </p:txBody>
      </p:sp>
      <p:sp>
        <p:nvSpPr>
          <p:cNvPr id="2060" name="Oval 2059"/>
          <p:cNvSpPr/>
          <p:nvPr/>
        </p:nvSpPr>
        <p:spPr>
          <a:xfrm>
            <a:off x="787400" y="2489200"/>
            <a:ext cx="101600" cy="101600"/>
          </a:xfrm>
          <a:prstGeom prst="ellipse">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61" name="TextBox 2060"/>
          <p:cNvSpPr txBox="1"/>
          <p:nvPr/>
        </p:nvSpPr>
        <p:spPr>
          <a:xfrm>
            <a:off x="1016000" y="2413000"/>
            <a:ext cx="2540000" cy="762000"/>
          </a:xfrm>
          <a:prstGeom prst="rect">
            <a:avLst/>
          </a:prstGeom>
          <a:noFill/>
        </p:spPr>
        <p:txBody>
          <a:bodyPr wrap="square" lIns="0" rIns="0" tIns="0" bIns="0" anchor="t">
            <a:spAutoFit/>
          </a:bodyPr>
          <a:lstStyle/>
          <a:p>
            <a:pPr algn="l">
              <a:spcAft>
                <a:spcPts val="0"/>
              </a:spcAft>
            </a:pPr>
            <a:r>
              <a:rPr sz="1400" b="0" i="0">
                <a:solidFill>
                  <a:srgbClr val="1F2A36"/>
                </a:solidFill>
                <a:latin typeface="Calibri"/>
              </a:rPr>
              <a:t>Patients who cannot exercise get candidates already approved, with known safety records</a:t>
            </a:r>
          </a:p>
        </p:txBody>
      </p:sp>
      <p:sp>
        <p:nvSpPr>
          <p:cNvPr id="2062" name="Oval 2061"/>
          <p:cNvSpPr/>
          <p:nvPr/>
        </p:nvSpPr>
        <p:spPr>
          <a:xfrm>
            <a:off x="787400" y="3276600"/>
            <a:ext cx="101600" cy="101600"/>
          </a:xfrm>
          <a:prstGeom prst="ellipse">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63" name="TextBox 2062"/>
          <p:cNvSpPr txBox="1"/>
          <p:nvPr/>
        </p:nvSpPr>
        <p:spPr>
          <a:xfrm>
            <a:off x="1016000" y="3200400"/>
            <a:ext cx="2540000" cy="762000"/>
          </a:xfrm>
          <a:prstGeom prst="rect">
            <a:avLst/>
          </a:prstGeom>
          <a:noFill/>
        </p:spPr>
        <p:txBody>
          <a:bodyPr wrap="square" lIns="0" rIns="0" tIns="0" bIns="0" anchor="t">
            <a:spAutoFit/>
          </a:bodyPr>
          <a:lstStyle/>
          <a:p>
            <a:pPr algn="l">
              <a:spcAft>
                <a:spcPts val="0"/>
              </a:spcAft>
            </a:pPr>
            <a:r>
              <a:rPr sz="1400" b="0" i="0">
                <a:solidFill>
                  <a:srgbClr val="1F2A36"/>
                </a:solidFill>
                <a:latin typeface="Calibri"/>
              </a:rPr>
              <a:t>Researchers get an open FAIR atlas of 29,680 compounds</a:t>
            </a:r>
          </a:p>
        </p:txBody>
      </p:sp>
      <p:sp>
        <p:nvSpPr>
          <p:cNvPr id="2064" name="Oval 2063"/>
          <p:cNvSpPr/>
          <p:nvPr/>
        </p:nvSpPr>
        <p:spPr>
          <a:xfrm>
            <a:off x="787400" y="4064000"/>
            <a:ext cx="101600" cy="101600"/>
          </a:xfrm>
          <a:prstGeom prst="ellipse">
            <a:avLst/>
          </a:prstGeom>
          <a:solidFill>
            <a:srgbClr val="C260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65" name="TextBox 2064"/>
          <p:cNvSpPr txBox="1"/>
          <p:nvPr/>
        </p:nvSpPr>
        <p:spPr>
          <a:xfrm>
            <a:off x="1016000" y="3987800"/>
            <a:ext cx="2540000" cy="762000"/>
          </a:xfrm>
          <a:prstGeom prst="rect">
            <a:avLst/>
          </a:prstGeom>
          <a:noFill/>
        </p:spPr>
        <p:txBody>
          <a:bodyPr wrap="square" lIns="0" rIns="0" tIns="0" bIns="0" anchor="t">
            <a:spAutoFit/>
          </a:bodyPr>
          <a:lstStyle/>
          <a:p>
            <a:pPr algn="l">
              <a:spcAft>
                <a:spcPts val="0"/>
              </a:spcAft>
            </a:pPr>
            <a:r>
              <a:rPr sz="1400" b="0" i="0">
                <a:solidFill>
                  <a:srgbClr val="1F2A36"/>
                </a:solidFill>
                <a:latin typeface="Calibri"/>
              </a:rPr>
              <a:t>A plain-language website anyone can explore</a:t>
            </a:r>
          </a:p>
        </p:txBody>
      </p:sp>
      <p:sp>
        <p:nvSpPr>
          <p:cNvPr id="2066" name="Rounded Rectangle 2065"/>
          <p:cNvSpPr/>
          <p:nvPr/>
        </p:nvSpPr>
        <p:spPr>
          <a:xfrm>
            <a:off x="3962400" y="1651000"/>
            <a:ext cx="3251200" cy="3175000"/>
          </a:xfrm>
          <a:prstGeom prst="roundRect">
            <a:avLst>
              <a:gd name="adj" fmla="val 6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67" name="Oval 2066"/>
          <p:cNvSpPr/>
          <p:nvPr/>
        </p:nvSpPr>
        <p:spPr>
          <a:xfrm>
            <a:off x="4191000" y="1828800"/>
            <a:ext cx="406400" cy="406400"/>
          </a:xfrm>
          <a:prstGeom prst="ellipse">
            <a:avLst/>
          </a:prstGeom>
          <a:solidFill>
            <a:srgbClr val="2D64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68" name="Picture 2067" descr="trend.png"/>
          <p:cNvPicPr>
            <a:picLocks noChangeAspect="1"/>
          </p:cNvPicPr>
          <p:nvPr/>
        </p:nvPicPr>
        <p:blipFill>
          <a:blip r:embed="rId7"/>
          <a:stretch>
            <a:fillRect/>
          </a:stretch>
        </p:blipFill>
        <p:spPr>
          <a:xfrm>
            <a:off x="4280408" y="1918208"/>
            <a:ext cx="227584" cy="227584"/>
          </a:xfrm>
          <a:prstGeom prst="rect">
            <a:avLst/>
          </a:prstGeom>
        </p:spPr>
      </p:pic>
      <p:sp>
        <p:nvSpPr>
          <p:cNvPr id="2069" name="TextBox 2068"/>
          <p:cNvSpPr txBox="1"/>
          <p:nvPr/>
        </p:nvSpPr>
        <p:spPr>
          <a:xfrm>
            <a:off x="4724400" y="1828800"/>
            <a:ext cx="2286000" cy="406400"/>
          </a:xfrm>
          <a:prstGeom prst="rect">
            <a:avLst/>
          </a:prstGeom>
          <a:noFill/>
        </p:spPr>
        <p:txBody>
          <a:bodyPr wrap="square" lIns="0" rIns="0" tIns="0" bIns="0" anchor="ctr">
            <a:spAutoFit/>
          </a:bodyPr>
          <a:lstStyle/>
          <a:p>
            <a:pPr algn="l">
              <a:spcAft>
                <a:spcPts val="0"/>
              </a:spcAft>
            </a:pPr>
            <a:r>
              <a:rPr sz="1900" b="1" i="0">
                <a:solidFill>
                  <a:srgbClr val="2D6485"/>
                </a:solidFill>
                <a:latin typeface="Calibri"/>
              </a:rPr>
              <a:t>Scalability</a:t>
            </a:r>
          </a:p>
        </p:txBody>
      </p:sp>
      <p:sp>
        <p:nvSpPr>
          <p:cNvPr id="2070" name="Oval 2069"/>
          <p:cNvSpPr/>
          <p:nvPr/>
        </p:nvSpPr>
        <p:spPr>
          <a:xfrm>
            <a:off x="4241800" y="2489200"/>
            <a:ext cx="101600" cy="101600"/>
          </a:xfrm>
          <a:prstGeom prst="ellipse">
            <a:avLst/>
          </a:prstGeom>
          <a:solidFill>
            <a:srgbClr val="2D64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71" name="TextBox 2070"/>
          <p:cNvSpPr txBox="1"/>
          <p:nvPr/>
        </p:nvSpPr>
        <p:spPr>
          <a:xfrm>
            <a:off x="4470400" y="2413000"/>
            <a:ext cx="2540000" cy="762000"/>
          </a:xfrm>
          <a:prstGeom prst="rect">
            <a:avLst/>
          </a:prstGeom>
          <a:noFill/>
        </p:spPr>
        <p:txBody>
          <a:bodyPr wrap="square" lIns="0" rIns="0" tIns="0" bIns="0" anchor="t">
            <a:spAutoFit/>
          </a:bodyPr>
          <a:lstStyle/>
          <a:p>
            <a:pPr algn="l">
              <a:spcAft>
                <a:spcPts val="0"/>
              </a:spcAft>
            </a:pPr>
            <a:r>
              <a:rPr sz="1400" b="0" i="0">
                <a:solidFill>
                  <a:srgbClr val="1F2A36"/>
                </a:solidFill>
                <a:latin typeface="Calibri"/>
              </a:rPr>
              <a:t>Any human gene signature plugs in: new tissues, diseases, long-term training data</a:t>
            </a:r>
          </a:p>
        </p:txBody>
      </p:sp>
      <p:sp>
        <p:nvSpPr>
          <p:cNvPr id="2072" name="Oval 2071"/>
          <p:cNvSpPr/>
          <p:nvPr/>
        </p:nvSpPr>
        <p:spPr>
          <a:xfrm>
            <a:off x="4241800" y="3276600"/>
            <a:ext cx="101600" cy="101600"/>
          </a:xfrm>
          <a:prstGeom prst="ellipse">
            <a:avLst/>
          </a:prstGeom>
          <a:solidFill>
            <a:srgbClr val="2D64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73" name="TextBox 2072"/>
          <p:cNvSpPr txBox="1"/>
          <p:nvPr/>
        </p:nvSpPr>
        <p:spPr>
          <a:xfrm>
            <a:off x="4470400" y="3200400"/>
            <a:ext cx="2540000" cy="762000"/>
          </a:xfrm>
          <a:prstGeom prst="rect">
            <a:avLst/>
          </a:prstGeom>
          <a:noFill/>
        </p:spPr>
        <p:txBody>
          <a:bodyPr wrap="square" lIns="0" rIns="0" tIns="0" bIns="0" anchor="t">
            <a:spAutoFit/>
          </a:bodyPr>
          <a:lstStyle/>
          <a:p>
            <a:pPr algn="l">
              <a:spcAft>
                <a:spcPts val="0"/>
              </a:spcAft>
            </a:pPr>
            <a:r>
              <a:rPr sz="1400" b="0" i="0">
                <a:solidFill>
                  <a:srgbClr val="1F2A36"/>
                </a:solidFill>
                <a:latin typeface="Calibri"/>
              </a:rPr>
              <a:t>Each fingerprint scores independently; 29 min on a laptop today</a:t>
            </a:r>
          </a:p>
        </p:txBody>
      </p:sp>
      <p:sp>
        <p:nvSpPr>
          <p:cNvPr id="2074" name="Oval 2073"/>
          <p:cNvSpPr/>
          <p:nvPr/>
        </p:nvSpPr>
        <p:spPr>
          <a:xfrm>
            <a:off x="4241800" y="4064000"/>
            <a:ext cx="101600" cy="101600"/>
          </a:xfrm>
          <a:prstGeom prst="ellipse">
            <a:avLst/>
          </a:prstGeom>
          <a:solidFill>
            <a:srgbClr val="2D648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75" name="TextBox 2074"/>
          <p:cNvSpPr txBox="1"/>
          <p:nvPr/>
        </p:nvSpPr>
        <p:spPr>
          <a:xfrm>
            <a:off x="4470400" y="3987800"/>
            <a:ext cx="2540000" cy="762000"/>
          </a:xfrm>
          <a:prstGeom prst="rect">
            <a:avLst/>
          </a:prstGeom>
          <a:noFill/>
        </p:spPr>
        <p:txBody>
          <a:bodyPr wrap="square" lIns="0" rIns="0" tIns="0" bIns="0" anchor="t">
            <a:spAutoFit/>
          </a:bodyPr>
          <a:lstStyle/>
          <a:p>
            <a:pPr algn="l">
              <a:spcAft>
                <a:spcPts val="0"/>
              </a:spcAft>
            </a:pPr>
            <a:r>
              <a:rPr sz="1400" b="0" i="0">
                <a:solidFill>
                  <a:srgbClr val="1F2A36"/>
                </a:solidFill>
                <a:latin typeface="Calibri"/>
              </a:rPr>
              <a:t>Static website: free to host anywhere</a:t>
            </a:r>
          </a:p>
        </p:txBody>
      </p:sp>
      <p:sp>
        <p:nvSpPr>
          <p:cNvPr id="2076" name="Rounded Rectangle 2075"/>
          <p:cNvSpPr/>
          <p:nvPr/>
        </p:nvSpPr>
        <p:spPr>
          <a:xfrm>
            <a:off x="7416800" y="1651000"/>
            <a:ext cx="3251200" cy="3175000"/>
          </a:xfrm>
          <a:prstGeom prst="roundRect">
            <a:avLst>
              <a:gd name="adj" fmla="val 6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77" name="Oval 2076"/>
          <p:cNvSpPr/>
          <p:nvPr/>
        </p:nvSpPr>
        <p:spPr>
          <a:xfrm>
            <a:off x="7645400" y="1828800"/>
            <a:ext cx="406400" cy="406400"/>
          </a:xfrm>
          <a:prstGeom prst="ellipse">
            <a:avLst/>
          </a:prstGeom>
          <a:solidFill>
            <a:srgbClr val="1C78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078" name="Picture 2077" descr="flag.png"/>
          <p:cNvPicPr>
            <a:picLocks noChangeAspect="1"/>
          </p:cNvPicPr>
          <p:nvPr/>
        </p:nvPicPr>
        <p:blipFill>
          <a:blip r:embed="rId8"/>
          <a:stretch>
            <a:fillRect/>
          </a:stretch>
        </p:blipFill>
        <p:spPr>
          <a:xfrm>
            <a:off x="7734808" y="1918208"/>
            <a:ext cx="227584" cy="227584"/>
          </a:xfrm>
          <a:prstGeom prst="rect">
            <a:avLst/>
          </a:prstGeom>
        </p:spPr>
      </p:pic>
      <p:sp>
        <p:nvSpPr>
          <p:cNvPr id="2079" name="TextBox 2078"/>
          <p:cNvSpPr txBox="1"/>
          <p:nvPr/>
        </p:nvSpPr>
        <p:spPr>
          <a:xfrm>
            <a:off x="8178800" y="1828800"/>
            <a:ext cx="2286000" cy="406400"/>
          </a:xfrm>
          <a:prstGeom prst="rect">
            <a:avLst/>
          </a:prstGeom>
          <a:noFill/>
        </p:spPr>
        <p:txBody>
          <a:bodyPr wrap="square" lIns="0" rIns="0" tIns="0" bIns="0" anchor="ctr">
            <a:spAutoFit/>
          </a:bodyPr>
          <a:lstStyle/>
          <a:p>
            <a:pPr algn="l">
              <a:spcAft>
                <a:spcPts val="0"/>
              </a:spcAft>
            </a:pPr>
            <a:r>
              <a:rPr sz="1900" b="1" i="0">
                <a:solidFill>
                  <a:srgbClr val="1C786D"/>
                </a:solidFill>
                <a:latin typeface="Calibri"/>
              </a:rPr>
              <a:t>Next steps</a:t>
            </a:r>
          </a:p>
        </p:txBody>
      </p:sp>
      <p:sp>
        <p:nvSpPr>
          <p:cNvPr id="2080" name="Oval 2079"/>
          <p:cNvSpPr/>
          <p:nvPr/>
        </p:nvSpPr>
        <p:spPr>
          <a:xfrm>
            <a:off x="7696200" y="2489200"/>
            <a:ext cx="101600" cy="101600"/>
          </a:xfrm>
          <a:prstGeom prst="ellipse">
            <a:avLst/>
          </a:prstGeom>
          <a:solidFill>
            <a:srgbClr val="1C78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81" name="TextBox 2080"/>
          <p:cNvSpPr txBox="1"/>
          <p:nvPr/>
        </p:nvSpPr>
        <p:spPr>
          <a:xfrm>
            <a:off x="7924800" y="2413000"/>
            <a:ext cx="2540000" cy="762000"/>
          </a:xfrm>
          <a:prstGeom prst="rect">
            <a:avLst/>
          </a:prstGeom>
          <a:noFill/>
        </p:spPr>
        <p:txBody>
          <a:bodyPr wrap="square" lIns="0" rIns="0" tIns="0" bIns="0" anchor="t">
            <a:spAutoFit/>
          </a:bodyPr>
          <a:lstStyle/>
          <a:p>
            <a:pPr algn="l">
              <a:spcAft>
                <a:spcPts val="0"/>
              </a:spcAft>
            </a:pPr>
            <a:r>
              <a:rPr sz="1400" b="0" i="0">
                <a:solidFill>
                  <a:srgbClr val="1F2A36"/>
                </a:solidFill>
                <a:latin typeface="Calibri"/>
              </a:rPr>
              <a:t>Test top candidates in human muscle cells</a:t>
            </a:r>
          </a:p>
        </p:txBody>
      </p:sp>
      <p:sp>
        <p:nvSpPr>
          <p:cNvPr id="2082" name="Oval 2081"/>
          <p:cNvSpPr/>
          <p:nvPr/>
        </p:nvSpPr>
        <p:spPr>
          <a:xfrm>
            <a:off x="7696200" y="3276600"/>
            <a:ext cx="101600" cy="101600"/>
          </a:xfrm>
          <a:prstGeom prst="ellipse">
            <a:avLst/>
          </a:prstGeom>
          <a:solidFill>
            <a:srgbClr val="1C78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83" name="TextBox 2082"/>
          <p:cNvSpPr txBox="1"/>
          <p:nvPr/>
        </p:nvSpPr>
        <p:spPr>
          <a:xfrm>
            <a:off x="7924800" y="3200400"/>
            <a:ext cx="2540000" cy="762000"/>
          </a:xfrm>
          <a:prstGeom prst="rect">
            <a:avLst/>
          </a:prstGeom>
          <a:noFill/>
        </p:spPr>
        <p:txBody>
          <a:bodyPr wrap="square" lIns="0" rIns="0" tIns="0" bIns="0" anchor="t">
            <a:spAutoFit/>
          </a:bodyPr>
          <a:lstStyle/>
          <a:p>
            <a:pPr algn="l">
              <a:spcAft>
                <a:spcPts val="0"/>
              </a:spcAft>
            </a:pPr>
            <a:r>
              <a:rPr sz="1400" b="0" i="0">
                <a:solidFill>
                  <a:srgbClr val="1F2A36"/>
                </a:solidFill>
                <a:latin typeface="Calibri"/>
              </a:rPr>
              <a:t>Add protein and metabolite layers</a:t>
            </a:r>
          </a:p>
        </p:txBody>
      </p:sp>
      <p:sp>
        <p:nvSpPr>
          <p:cNvPr id="2084" name="Oval 2083"/>
          <p:cNvSpPr/>
          <p:nvPr/>
        </p:nvSpPr>
        <p:spPr>
          <a:xfrm>
            <a:off x="7696200" y="4064000"/>
            <a:ext cx="101600" cy="101600"/>
          </a:xfrm>
          <a:prstGeom prst="ellipse">
            <a:avLst/>
          </a:prstGeom>
          <a:solidFill>
            <a:srgbClr val="1C78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85" name="TextBox 2084"/>
          <p:cNvSpPr txBox="1"/>
          <p:nvPr/>
        </p:nvSpPr>
        <p:spPr>
          <a:xfrm>
            <a:off x="7924800" y="3987800"/>
            <a:ext cx="2540000" cy="762000"/>
          </a:xfrm>
          <a:prstGeom prst="rect">
            <a:avLst/>
          </a:prstGeom>
          <a:noFill/>
        </p:spPr>
        <p:txBody>
          <a:bodyPr wrap="square" lIns="0" rIns="0" tIns="0" bIns="0" anchor="t">
            <a:spAutoFit/>
          </a:bodyPr>
          <a:lstStyle/>
          <a:p>
            <a:pPr algn="l">
              <a:spcAft>
                <a:spcPts val="0"/>
              </a:spcAft>
            </a:pPr>
            <a:r>
              <a:rPr sz="1400" b="0" i="0">
                <a:solidFill>
                  <a:srgbClr val="1F2A36"/>
                </a:solidFill>
                <a:latin typeface="Calibri"/>
              </a:rPr>
              <a:t>Partner with clinicians for patient groups</a:t>
            </a:r>
          </a:p>
        </p:txBody>
      </p:sp>
      <p:sp>
        <p:nvSpPr>
          <p:cNvPr id="2086" name="Rounded Rectangle 2085"/>
          <p:cNvSpPr/>
          <p:nvPr/>
        </p:nvSpPr>
        <p:spPr>
          <a:xfrm>
            <a:off x="508000" y="4978400"/>
            <a:ext cx="10160000" cy="431800"/>
          </a:xfrm>
          <a:prstGeom prst="roundRect">
            <a:avLst>
              <a:gd name="adj" fmla="val 6000"/>
            </a:avLst>
          </a:prstGeom>
          <a:solidFill>
            <a:srgbClr val="FFFFFF"/>
          </a:solidFill>
          <a:ln w="15875">
            <a:solidFill>
              <a:srgbClr val="D8E0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87" name="Rounded Rectangle 2086"/>
          <p:cNvSpPr/>
          <p:nvPr/>
        </p:nvSpPr>
        <p:spPr>
          <a:xfrm>
            <a:off x="635000" y="5067300"/>
            <a:ext cx="736600" cy="254000"/>
          </a:xfrm>
          <a:prstGeom prst="roundRect">
            <a:avLst>
              <a:gd name="adj" fmla="val 50000"/>
            </a:avLst>
          </a:prstGeom>
          <a:solidFill>
            <a:srgbClr val="FD69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88" name="TextBox 2087"/>
          <p:cNvSpPr txBox="1"/>
          <p:nvPr/>
        </p:nvSpPr>
        <p:spPr>
          <a:xfrm>
            <a:off x="635000" y="5067300"/>
            <a:ext cx="736600" cy="254000"/>
          </a:xfrm>
          <a:prstGeom prst="rect">
            <a:avLst/>
          </a:prstGeom>
          <a:noFill/>
        </p:spPr>
        <p:txBody>
          <a:bodyPr wrap="square" lIns="0" rIns="0" tIns="0" bIns="0" anchor="ctr">
            <a:spAutoFit/>
          </a:bodyPr>
          <a:lstStyle/>
          <a:p>
            <a:pPr algn="ctr">
              <a:spcAft>
                <a:spcPts val="0"/>
              </a:spcAft>
            </a:pPr>
            <a:r>
              <a:rPr sz="1100" b="1" i="0">
                <a:solidFill>
                  <a:srgbClr val="FFFFFF"/>
                </a:solidFill>
                <a:latin typeface="Calibri"/>
              </a:rPr>
              <a:t>SDG 9</a:t>
            </a:r>
          </a:p>
        </p:txBody>
      </p:sp>
      <p:sp>
        <p:nvSpPr>
          <p:cNvPr id="2089" name="TextBox 2088"/>
          <p:cNvSpPr txBox="1"/>
          <p:nvPr/>
        </p:nvSpPr>
        <p:spPr>
          <a:xfrm>
            <a:off x="1498600" y="4978400"/>
            <a:ext cx="9144000" cy="431800"/>
          </a:xfrm>
          <a:prstGeom prst="rect">
            <a:avLst/>
          </a:prstGeom>
          <a:noFill/>
        </p:spPr>
        <p:txBody>
          <a:bodyPr wrap="square" lIns="0" rIns="0" tIns="0" bIns="0" anchor="ctr">
            <a:spAutoFit/>
          </a:bodyPr>
          <a:lstStyle/>
          <a:p>
            <a:pPr algn="l">
              <a:spcAft>
                <a:spcPts val="0"/>
              </a:spcAft>
            </a:pPr>
            <a:r>
              <a:rPr sz="1300" b="1" i="0">
                <a:solidFill>
                  <a:srgbClr val="17324D"/>
                </a:solidFill>
                <a:latin typeface="Calibri"/>
              </a:rPr>
              <a:t>Industry, Innovation &amp; Infrastructure</a:t>
            </a:r>
            <a:r>
              <a:rPr sz="1300" b="0" i="0">
                <a:solidFill>
                  <a:srgbClr val="5B6B7A"/>
                </a:solidFill>
                <a:latin typeface="Calibri"/>
              </a:rPr>
              <a:t>     Sub-theme: AI for Drug Discovery &amp; Personalized Medicine</a:t>
            </a:r>
          </a:p>
        </p:txBody>
      </p:sp>
      <p:sp>
        <p:nvSpPr>
          <p:cNvPr id="2090" name="TextBox 2089"/>
          <p:cNvSpPr txBox="1"/>
          <p:nvPr/>
        </p:nvSpPr>
        <p:spPr>
          <a:xfrm>
            <a:off x="508000" y="5537200"/>
            <a:ext cx="10160000" cy="254000"/>
          </a:xfrm>
          <a:prstGeom prst="rect">
            <a:avLst/>
          </a:prstGeom>
          <a:noFill/>
        </p:spPr>
        <p:txBody>
          <a:bodyPr wrap="square" lIns="0" rIns="0" tIns="0" bIns="0" anchor="t">
            <a:spAutoFit/>
          </a:bodyPr>
          <a:lstStyle/>
          <a:p>
            <a:pPr algn="l">
              <a:spcAft>
                <a:spcPts val="0"/>
              </a:spcAft>
            </a:pPr>
            <a:r>
              <a:rPr sz="1300" b="1" i="0">
                <a:solidFill>
                  <a:srgbClr val="A86B12"/>
                </a:solidFill>
                <a:latin typeface="Calibri"/>
              </a:rPr>
              <a:t>Honest limits  </a:t>
            </a:r>
            <a:r>
              <a:rPr sz="1300" b="0" i="0">
                <a:solidFill>
                  <a:srgbClr val="5B6B7A"/>
                </a:solidFill>
                <a:latin typeface="Calibri"/>
              </a:rPr>
              <a:t>one exercise session, not months of training  ·  drug data from cancer cell lines  ·  predictions to test, not treatments</a:t>
            </a:r>
          </a:p>
        </p:txBody>
      </p:sp>
      <p:sp>
        <p:nvSpPr>
          <p:cNvPr id="2091" name="TextBox 2090"/>
          <p:cNvSpPr txBox="1"/>
          <p:nvPr/>
        </p:nvSpPr>
        <p:spPr>
          <a:xfrm>
            <a:off x="508000" y="5892800"/>
            <a:ext cx="7620000" cy="431800"/>
          </a:xfrm>
          <a:prstGeom prst="rect">
            <a:avLst/>
          </a:prstGeom>
          <a:noFill/>
        </p:spPr>
        <p:txBody>
          <a:bodyPr wrap="square" lIns="0" rIns="0" tIns="0" bIns="0" anchor="t">
            <a:spAutoFit/>
          </a:bodyPr>
          <a:lstStyle/>
          <a:p>
            <a:pPr algn="l">
              <a:spcAft>
                <a:spcPts val="0"/>
              </a:spcAft>
            </a:pPr>
            <a:r>
              <a:rPr sz="2200" b="1" i="0">
                <a:solidFill>
                  <a:srgbClr val="17324D"/>
                </a:solidFill>
                <a:latin typeface="Calibri"/>
              </a:rPr>
              <a:t>Thank you. Questions welcome.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4</TotalTime>
  <Words>0</Words>
  <Application>Microsoft Office PowerPoint</Application>
  <PresentationFormat>Widescreen</PresentationFormat>
  <Paragraphs>0</Paragraphs>
  <Slides>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Calibri</vt:lpstr>
      <vt:lpstr>Arial</vt:lpstr>
      <vt:lpstr>Calibri Light</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Prince kumar</cp:lastModifiedBy>
  <cp:revision>1</cp:revision>
  <dcterms:created xsi:type="dcterms:W3CDTF">2026-10-20T11:42:37Z</dcterms:created>
  <dcterms:modified xsi:type="dcterms:W3CDTF">2026-10-21T15:31:52Z</dcterms:modified>
</cp:coreProperties>
</file>